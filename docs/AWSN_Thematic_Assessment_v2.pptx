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t>F1 score by method</a:t>
            </a:r>
          </a:p>
        </c:rich>
      </c:tx>
      <c:layout/>
      <c:overlay val="0"/>
    </c:title>
    <c:autoTitleDeleted val="0"/>
    <c:plotArea>
      <c:barChart>
        <c:barDir val="col"/>
        <c:grouping val="clustered"/>
        <c:ser>
          <c:idx val="0"/>
          <c:order val="0"/>
          <c:tx>
            <c:strRef>
              <c:f>Sheet1!$B$1</c:f>
              <c:strCache>
                <c:ptCount val="1"/>
                <c:pt idx="0">
                  <c:v>F1 score</c:v>
                </c:pt>
              </c:strCache>
            </c:strRef>
          </c:tx>
          <c:spPr>
            <a:solidFill>
              <a:srgbClr val="0FA3A3"/>
            </a:solidFill>
          </c:spPr>
          <c:cat>
            <c:strRef>
              <c:f>Sheet1!$A$2:$A$5</c:f>
              <c:strCache>
                <c:ptCount val="4"/>
                <c:pt idx="0">
                  <c:v>Threshold</c:v>
                </c:pt>
                <c:pt idx="1">
                  <c:v>IF v1</c:v>
                </c:pt>
                <c:pt idx="2">
                  <c:v>IF v2</c:v>
                </c:pt>
                <c:pt idx="3">
                  <c:v>RF</c:v>
                </c:pt>
              </c:strCache>
            </c:strRef>
          </c:cat>
          <c:val>
            <c:numRef>
              <c:f>Sheet1!$B$2:$B$5</c:f>
              <c:numCache>
                <c:formatCode>General</c:formatCode>
                <c:ptCount val="4"/>
                <c:pt idx="0">
                  <c:v>0.12</c:v>
                </c:pt>
                <c:pt idx="1">
                  <c:v>0.267</c:v>
                </c:pt>
                <c:pt idx="2">
                  <c:v>0.778</c:v>
                </c:pt>
                <c:pt idx="3">
                  <c:v>0.753</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1.0"/>
          <c:min val="0.0"/>
        </c:scaling>
        <c:delete val="0"/>
        <c:axPos val="l"/>
        <c:majorGridlines>
          <c:spPr>
            <a:ln>
              <a:solidFill>
                <a:srgbClr val="D5DCE4"/>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t>Recall by fault type</a:t>
            </a:r>
          </a:p>
        </c:rich>
      </c:tx>
      <c:layout/>
      <c:overlay val="0"/>
    </c:title>
    <c:autoTitleDeleted val="0"/>
    <c:plotArea>
      <c:barChart>
        <c:barDir val="col"/>
        <c:grouping val="clustered"/>
        <c:ser>
          <c:idx val="0"/>
          <c:order val="0"/>
          <c:tx>
            <c:strRef>
              <c:f>Sheet1!$B$1</c:f>
              <c:strCache>
                <c:ptCount val="1"/>
                <c:pt idx="0">
                  <c:v>Classical</c:v>
                </c:pt>
              </c:strCache>
            </c:strRef>
          </c:tx>
          <c:spPr>
            <a:solidFill>
              <a:srgbClr val="9AA8B6"/>
            </a:solidFill>
          </c:spPr>
          <c:cat>
            <c:strRef>
              <c:f>Sheet1!$A$2:$A$4</c:f>
              <c:strCache>
                <c:ptCount val="3"/>
                <c:pt idx="0">
                  <c:v>stuck</c:v>
                </c:pt>
                <c:pt idx="1">
                  <c:v>spike</c:v>
                </c:pt>
                <c:pt idx="2">
                  <c:v>drift</c:v>
                </c:pt>
              </c:strCache>
            </c:strRef>
          </c:cat>
          <c:val>
            <c:numRef>
              <c:f>Sheet1!$B$2:$B$4</c:f>
              <c:numCache>
                <c:formatCode>General</c:formatCode>
                <c:ptCount val="3"/>
                <c:pt idx="0">
                  <c:v>0.0</c:v>
                </c:pt>
                <c:pt idx="1">
                  <c:v>0.571</c:v>
                </c:pt>
                <c:pt idx="2">
                  <c:v>0.01</c:v>
                </c:pt>
              </c:numCache>
            </c:numRef>
          </c:val>
        </c:ser>
        <c:ser>
          <c:idx val="1"/>
          <c:order val="1"/>
          <c:tx>
            <c:strRef>
              <c:f>Sheet1!$C$1</c:f>
              <c:strCache>
                <c:ptCount val="1"/>
                <c:pt idx="0">
                  <c:v>Classical + IF</c:v>
                </c:pt>
              </c:strCache>
            </c:strRef>
          </c:tx>
          <c:spPr>
            <a:solidFill>
              <a:srgbClr val="0FA3A3"/>
            </a:solidFill>
          </c:spPr>
          <c:cat>
            <c:strRef>
              <c:f>Sheet1!$A$2:$A$4</c:f>
              <c:strCache>
                <c:ptCount val="3"/>
                <c:pt idx="0">
                  <c:v>stuck</c:v>
                </c:pt>
                <c:pt idx="1">
                  <c:v>spike</c:v>
                </c:pt>
                <c:pt idx="2">
                  <c:v>drift</c:v>
                </c:pt>
              </c:strCache>
            </c:strRef>
          </c:cat>
          <c:val>
            <c:numRef>
              <c:f>Sheet1!$C$2:$C$4</c:f>
              <c:numCache>
                <c:formatCode>General</c:formatCode>
                <c:ptCount val="3"/>
                <c:pt idx="0">
                  <c:v>0.718</c:v>
                </c:pt>
                <c:pt idx="1">
                  <c:v>1.0</c:v>
                </c:pt>
                <c:pt idx="2">
                  <c:v>0.748</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1.15"/>
          <c:min val="0.0"/>
        </c:scaling>
        <c:delete val="0"/>
        <c:axPos val="l"/>
        <c:majorGridlines>
          <c:spPr>
            <a:ln>
              <a:solidFill>
                <a:srgbClr val="D5DCE4"/>
              </a:solidFill>
            </a:ln>
          </c:spPr>
        </c:majorGridlines>
        <c:majorTickMark val="out"/>
        <c:minorTickMark val="none"/>
        <c:tickLblPos val="nextTo"/>
        <c:txPr>
          <a:bodyPr/>
          <a:lstStyle/>
          <a:p>
            <a:pPr>
              <a:defRPr sz="1100"/>
            </a:pPr>
          </a:p>
        </c:txPr>
        <c:crossAx val="-2068027336"/>
        <c:crosses val="autoZero"/>
      </c:valAx>
    </c:plotArea>
    <c:legend>
      <c:legendPos val="b"/>
      <c:overlay val="0"/>
    </c:legend>
    <c:dispBlanksAs val="gap"/>
  </c:chart>
  <c:txPr>
    <a:bodyPr/>
    <a:lstStyle/>
    <a:p>
      <a:pPr>
        <a:defRPr sz="11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t>Noise sweep: extra sensor noise (sd, °C)</a:t>
            </a:r>
          </a:p>
        </c:rich>
      </c:tx>
      <c:layout/>
      <c:overlay val="0"/>
    </c:title>
    <c:autoTitleDeleted val="0"/>
    <c:plotArea>
      <c:lineChart>
        <c:grouping val="standard"/>
        <c:varyColors val="0"/>
        <c:ser>
          <c:idx val="0"/>
          <c:order val="0"/>
          <c:tx>
            <c:strRef>
              <c:f>Sheet1!$B$1</c:f>
              <c:strCache>
                <c:ptCount val="1"/>
                <c:pt idx="0">
                  <c:v>Precision</c:v>
                </c:pt>
              </c:strCache>
            </c:strRef>
          </c:tx>
          <c:spPr>
            <a:solidFill>
              <a:srgbClr val="12304F"/>
            </a:solidFill>
            <a:ln w="31750">
              <a:solidFill>
                <a:srgbClr val="12304F"/>
              </a:solidFill>
            </a:ln>
          </c:spPr>
          <c:cat>
            <c:strRef>
              <c:f>Sheet1!$A$2:$A$6</c:f>
              <c:strCache>
                <c:ptCount val="5"/>
                <c:pt idx="0">
                  <c:v>0</c:v>
                </c:pt>
                <c:pt idx="1">
                  <c:v>0.3</c:v>
                </c:pt>
                <c:pt idx="2">
                  <c:v>0.6</c:v>
                </c:pt>
                <c:pt idx="3">
                  <c:v>1.0</c:v>
                </c:pt>
                <c:pt idx="4">
                  <c:v>1.5</c:v>
                </c:pt>
              </c:strCache>
            </c:strRef>
          </c:cat>
          <c:val>
            <c:numRef>
              <c:f>Sheet1!$B$2:$B$6</c:f>
              <c:numCache>
                <c:formatCode>General</c:formatCode>
                <c:ptCount val="5"/>
                <c:pt idx="0">
                  <c:v>0.819</c:v>
                </c:pt>
                <c:pt idx="1">
                  <c:v>0.806</c:v>
                </c:pt>
                <c:pt idx="2">
                  <c:v>0.788</c:v>
                </c:pt>
                <c:pt idx="3">
                  <c:v>0.756</c:v>
                </c:pt>
                <c:pt idx="4">
                  <c:v>0.681</c:v>
                </c:pt>
              </c:numCache>
            </c:numRef>
          </c:val>
          <c:smooth val="0"/>
        </c:ser>
        <c:ser>
          <c:idx val="1"/>
          <c:order val="1"/>
          <c:tx>
            <c:strRef>
              <c:f>Sheet1!$C$1</c:f>
              <c:strCache>
                <c:ptCount val="1"/>
                <c:pt idx="0">
                  <c:v>Recall</c:v>
                </c:pt>
              </c:strCache>
            </c:strRef>
          </c:tx>
          <c:spPr>
            <a:solidFill>
              <a:srgbClr val="0FA3A3"/>
            </a:solidFill>
            <a:ln w="31750">
              <a:solidFill>
                <a:srgbClr val="0FA3A3"/>
              </a:solidFill>
            </a:ln>
          </c:spPr>
          <c:cat>
            <c:strRef>
              <c:f>Sheet1!$A$2:$A$6</c:f>
              <c:strCache>
                <c:ptCount val="5"/>
                <c:pt idx="0">
                  <c:v>0</c:v>
                </c:pt>
                <c:pt idx="1">
                  <c:v>0.3</c:v>
                </c:pt>
                <c:pt idx="2">
                  <c:v>0.6</c:v>
                </c:pt>
                <c:pt idx="3">
                  <c:v>1.0</c:v>
                </c:pt>
                <c:pt idx="4">
                  <c:v>1.5</c:v>
                </c:pt>
              </c:strCache>
            </c:strRef>
          </c:cat>
          <c:val>
            <c:numRef>
              <c:f>Sheet1!$C$2:$C$6</c:f>
              <c:numCache>
                <c:formatCode>General</c:formatCode>
                <c:ptCount val="5"/>
                <c:pt idx="0">
                  <c:v>0.748</c:v>
                </c:pt>
                <c:pt idx="1">
                  <c:v>0.669</c:v>
                </c:pt>
                <c:pt idx="2">
                  <c:v>0.624</c:v>
                </c:pt>
                <c:pt idx="3">
                  <c:v>0.516</c:v>
                </c:pt>
                <c:pt idx="4">
                  <c:v>0.359</c:v>
                </c:pt>
              </c:numCache>
            </c:numRef>
          </c:val>
          <c:smooth val="0"/>
        </c:ser>
        <c:ser>
          <c:idx val="2"/>
          <c:order val="2"/>
          <c:tx>
            <c:strRef>
              <c:f>Sheet1!$D$1</c:f>
              <c:strCache>
                <c:ptCount val="1"/>
                <c:pt idx="0">
                  <c:v>F1</c:v>
                </c:pt>
              </c:strCache>
            </c:strRef>
          </c:tx>
          <c:spPr>
            <a:solidFill>
              <a:srgbClr val="F2A900"/>
            </a:solidFill>
            <a:ln w="31750">
              <a:solidFill>
                <a:srgbClr val="F2A900"/>
              </a:solidFill>
            </a:ln>
          </c:spPr>
          <c:cat>
            <c:strRef>
              <c:f>Sheet1!$A$2:$A$6</c:f>
              <c:strCache>
                <c:ptCount val="5"/>
                <c:pt idx="0">
                  <c:v>0</c:v>
                </c:pt>
                <c:pt idx="1">
                  <c:v>0.3</c:v>
                </c:pt>
                <c:pt idx="2">
                  <c:v>0.6</c:v>
                </c:pt>
                <c:pt idx="3">
                  <c:v>1.0</c:v>
                </c:pt>
                <c:pt idx="4">
                  <c:v>1.5</c:v>
                </c:pt>
              </c:strCache>
            </c:strRef>
          </c:cat>
          <c:val>
            <c:numRef>
              <c:f>Sheet1!$D$2:$D$6</c:f>
              <c:numCache>
                <c:formatCode>General</c:formatCode>
                <c:ptCount val="5"/>
                <c:pt idx="0">
                  <c:v>0.782</c:v>
                </c:pt>
                <c:pt idx="1">
                  <c:v>0.731</c:v>
                </c:pt>
                <c:pt idx="2">
                  <c:v>0.696</c:v>
                </c:pt>
                <c:pt idx="3">
                  <c:v>0.614</c:v>
                </c:pt>
                <c:pt idx="4">
                  <c:v>0.47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max val="1.0"/>
          <c:min val="0.0"/>
        </c:scaling>
        <c:delete val="0"/>
        <c:axPos val="l"/>
        <c:majorGridlines>
          <c:spPr>
            <a:ln>
              <a:solidFill>
                <a:srgbClr val="D5DCE4"/>
              </a:solidFill>
            </a:ln>
          </c:spPr>
        </c:majorGridlines>
        <c:majorTickMark val="out"/>
        <c:minorTickMark val="none"/>
        <c:tickLblPos val="nextTo"/>
        <c:txPr>
          <a:bodyPr/>
          <a:lstStyle/>
          <a:p>
            <a:pPr>
              <a:defRPr sz="1100"/>
            </a:pPr>
          </a:p>
        </c:txPr>
        <c:crossAx val="2118791784"/>
        <c:crosses val="autoZero"/>
      </c:valAx>
    </c:plotArea>
    <c:legend>
      <c:legendPos val="b"/>
      <c:layout/>
      <c:overlay val="0"/>
    </c:legend>
    <c:plotVisOnly val="1"/>
    <c:dispBlanksAs val="gap"/>
    <c:showDLblsOverMax val="0"/>
  </c:chart>
  <c:txPr>
    <a:bodyPr/>
    <a:lstStyle/>
    <a:p>
      <a:pPr>
        <a:defRPr sz="11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t>Cutoff sweep: alarm percentile</a:t>
            </a:r>
          </a:p>
        </c:rich>
      </c:tx>
      <c:layout/>
      <c:overlay val="0"/>
    </c:title>
    <c:autoTitleDeleted val="0"/>
    <c:plotArea>
      <c:lineChart>
        <c:grouping val="standard"/>
        <c:varyColors val="0"/>
        <c:ser>
          <c:idx val="0"/>
          <c:order val="0"/>
          <c:tx>
            <c:strRef>
              <c:f>Sheet1!$B$1</c:f>
              <c:strCache>
                <c:ptCount val="1"/>
                <c:pt idx="0">
                  <c:v>Precision</c:v>
                </c:pt>
              </c:strCache>
            </c:strRef>
          </c:tx>
          <c:spPr>
            <a:solidFill>
              <a:srgbClr val="12304F"/>
            </a:solidFill>
            <a:ln w="31750">
              <a:solidFill>
                <a:srgbClr val="12304F"/>
              </a:solidFill>
            </a:ln>
          </c:spPr>
          <c:cat>
            <c:strRef>
              <c:f>Sheet1!$A$2:$A$5</c:f>
              <c:strCache>
                <c:ptCount val="4"/>
                <c:pt idx="0">
                  <c:v>0.5%</c:v>
                </c:pt>
                <c:pt idx="1">
                  <c:v>1%</c:v>
                </c:pt>
                <c:pt idx="2">
                  <c:v>2%</c:v>
                </c:pt>
                <c:pt idx="3">
                  <c:v>5%</c:v>
                </c:pt>
              </c:strCache>
            </c:strRef>
          </c:cat>
          <c:val>
            <c:numRef>
              <c:f>Sheet1!$B$2:$B$5</c:f>
              <c:numCache>
                <c:formatCode>General</c:formatCode>
                <c:ptCount val="4"/>
                <c:pt idx="0">
                  <c:v>0.647</c:v>
                </c:pt>
                <c:pt idx="1">
                  <c:v>0.819</c:v>
                </c:pt>
                <c:pt idx="2">
                  <c:v>0.689</c:v>
                </c:pt>
                <c:pt idx="3">
                  <c:v>0.474</c:v>
                </c:pt>
              </c:numCache>
            </c:numRef>
          </c:val>
          <c:smooth val="0"/>
        </c:ser>
        <c:ser>
          <c:idx val="1"/>
          <c:order val="1"/>
          <c:tx>
            <c:strRef>
              <c:f>Sheet1!$C$1</c:f>
              <c:strCache>
                <c:ptCount val="1"/>
                <c:pt idx="0">
                  <c:v>Recall</c:v>
                </c:pt>
              </c:strCache>
            </c:strRef>
          </c:tx>
          <c:spPr>
            <a:solidFill>
              <a:srgbClr val="0FA3A3"/>
            </a:solidFill>
            <a:ln w="31750">
              <a:solidFill>
                <a:srgbClr val="0FA3A3"/>
              </a:solidFill>
            </a:ln>
          </c:spPr>
          <c:cat>
            <c:strRef>
              <c:f>Sheet1!$A$2:$A$5</c:f>
              <c:strCache>
                <c:ptCount val="4"/>
                <c:pt idx="0">
                  <c:v>0.5%</c:v>
                </c:pt>
                <c:pt idx="1">
                  <c:v>1%</c:v>
                </c:pt>
                <c:pt idx="2">
                  <c:v>2%</c:v>
                </c:pt>
                <c:pt idx="3">
                  <c:v>5%</c:v>
                </c:pt>
              </c:strCache>
            </c:strRef>
          </c:cat>
          <c:val>
            <c:numRef>
              <c:f>Sheet1!$C$2:$C$5</c:f>
              <c:numCache>
                <c:formatCode>General</c:formatCode>
                <c:ptCount val="4"/>
                <c:pt idx="0">
                  <c:v>0.098</c:v>
                </c:pt>
                <c:pt idx="1">
                  <c:v>0.748</c:v>
                </c:pt>
                <c:pt idx="2">
                  <c:v>0.849</c:v>
                </c:pt>
                <c:pt idx="3">
                  <c:v>0.902</c:v>
                </c:pt>
              </c:numCache>
            </c:numRef>
          </c:val>
          <c:smooth val="0"/>
        </c:ser>
        <c:ser>
          <c:idx val="2"/>
          <c:order val="2"/>
          <c:tx>
            <c:strRef>
              <c:f>Sheet1!$D$1</c:f>
              <c:strCache>
                <c:ptCount val="1"/>
                <c:pt idx="0">
                  <c:v>F1</c:v>
                </c:pt>
              </c:strCache>
            </c:strRef>
          </c:tx>
          <c:spPr>
            <a:solidFill>
              <a:srgbClr val="F2A900"/>
            </a:solidFill>
            <a:ln w="31750">
              <a:solidFill>
                <a:srgbClr val="F2A900"/>
              </a:solidFill>
            </a:ln>
          </c:spPr>
          <c:cat>
            <c:strRef>
              <c:f>Sheet1!$A$2:$A$5</c:f>
              <c:strCache>
                <c:ptCount val="4"/>
                <c:pt idx="0">
                  <c:v>0.5%</c:v>
                </c:pt>
                <c:pt idx="1">
                  <c:v>1%</c:v>
                </c:pt>
                <c:pt idx="2">
                  <c:v>2%</c:v>
                </c:pt>
                <c:pt idx="3">
                  <c:v>5%</c:v>
                </c:pt>
              </c:strCache>
            </c:strRef>
          </c:cat>
          <c:val>
            <c:numRef>
              <c:f>Sheet1!$D$2:$D$5</c:f>
              <c:numCache>
                <c:formatCode>General</c:formatCode>
                <c:ptCount val="4"/>
                <c:pt idx="0">
                  <c:v>0.17</c:v>
                </c:pt>
                <c:pt idx="1">
                  <c:v>0.782</c:v>
                </c:pt>
                <c:pt idx="2">
                  <c:v>0.761</c:v>
                </c:pt>
                <c:pt idx="3">
                  <c:v>0.622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max val="1.0"/>
          <c:min val="0.0"/>
        </c:scaling>
        <c:delete val="0"/>
        <c:axPos val="l"/>
        <c:majorGridlines>
          <c:spPr>
            <a:ln>
              <a:solidFill>
                <a:srgbClr val="D5DCE4"/>
              </a:solidFill>
            </a:ln>
          </c:spPr>
        </c:majorGridlines>
        <c:majorTickMark val="out"/>
        <c:minorTickMark val="none"/>
        <c:tickLblPos val="nextTo"/>
        <c:txPr>
          <a:bodyPr/>
          <a:lstStyle/>
          <a:p>
            <a:pPr>
              <a:defRPr sz="1100"/>
            </a:pPr>
          </a:p>
        </c:txPr>
        <c:crossAx val="2118791784"/>
        <c:crosses val="autoZero"/>
      </c:valAx>
    </c:plotArea>
    <c:legend>
      <c:legendPos val="b"/>
      <c:layout/>
      <c:overlay val="0"/>
    </c:legend>
    <c:plotVisOnly val="1"/>
    <c:dispBlanksAs val="gap"/>
    <c:showDLblsOverMax val="0"/>
  </c:chart>
  <c:txPr>
    <a:bodyPr/>
    <a:lstStyle/>
    <a:p>
      <a:pPr>
        <a:defRPr sz="11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in one line: a wireless sensor network that detects silent faults with ML, validated in simulation because hardware procurement slipped.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AC example. The threshold never fires because 28.3 C is under 30 C, but the room has been drifting for two hours.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objective maps to a module we built and tested. Hardware deployment is the one item deliberately moved to Phase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the ESP32 boards were not ordered in time. We chose to validate the entire software pipeline in simulation. The same pipeline accepts real nodes by swapping the data source.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Wokwi node at the bottom shows the real firmware speaking the same schema, so only the data source changes in Phase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why it is realistic: daily periodicity, per-node offsets, sensor noise, and temperature and humidity moving in opposite directions, like real DHT22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log is_fault for every reading. Drift dominates because its episodes are long. Spike and corrupt are small samples, so we headline overall metrics.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networking content: energy, multi-hop routing, packet loss and latency. Relays die first, which is the classic energy-hole problem.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Threshold is rigid. Isolation Forest needs no labels, which is the real-world advantage. Random Forest needs labels. The hybrid combines rules for loud faults and ML for quiet ones.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Threshold is perfectly precise but catches only 6.4% of faults. Our first Isolation Forest was weak (F1 0.267); we diagnosed the daily cycle and forced contamination, fixed it with residual features, and report both.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sensor-fault-only numbers. Battery death and link loss are long runs of empty readings that any watchdog catches, so they inflate the overall F1. Sample sizes are small, so say in our test run.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Relays N2 and N3 die near day 5.9; at that moment N4 and N5 drop to zero delivery. The low-battery warning fires about 14 hours before death, based on a linear drain model in simulation.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flow: pick a drift-heavy node, show Threshold with many orange missed-fault marks, flip to Isolation Forest and the marks turn red. Then show the battery and latency tabs.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proofs: the simulated pipeline delivered 15,000 of 15,000 messages, and a Wokwi ESP32 with DHT22, PIR and LDR published the same JSON over MQTT. A Python subscriber received the injected 35 C fault.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F1 degrades gracefully with noise and false alarms stay flat near 2 percent because the cutoff is calibrated on healthy data. We did not retrain at higher noise, so this is a worst-case. The cutoff is a tunable operating 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runs on free tools: Python, scikit-learn, Mosquitto and Wokwi.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message: the software side is complete and validated; the only remaining piece is physical deployment. State limitations yourselves before they are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3.xml"/><Relationship Id="rId4" Type="http://schemas.openxmlformats.org/officeDocument/2006/relationships/chart" Target="../charts/char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cxnSp>
        <p:nvCxnSpPr>
          <p:cNvPr id="2" name="Connector 1"/>
          <p:cNvCxnSpPr/>
          <p:nvPr/>
        </p:nvCxnSpPr>
        <p:spPr>
          <a:xfrm flipV="1">
            <a:off x="9326880" y="914400"/>
            <a:ext cx="1554480" cy="365760"/>
          </a:xfrm>
          <a:prstGeom prst="line">
            <a:avLst/>
          </a:prstGeom>
          <a:ln w="19050">
            <a:solidFill>
              <a:srgbClr val="2B5A7E"/>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326880" y="1280160"/>
            <a:ext cx="914400" cy="1188720"/>
          </a:xfrm>
          <a:prstGeom prst="line">
            <a:avLst/>
          </a:prstGeom>
          <a:ln w="19050">
            <a:solidFill>
              <a:srgbClr val="2B5A7E"/>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881360" y="914400"/>
            <a:ext cx="457200" cy="1920240"/>
          </a:xfrm>
          <a:prstGeom prst="line">
            <a:avLst/>
          </a:prstGeom>
          <a:ln w="19050">
            <a:solidFill>
              <a:srgbClr val="2B5A7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241280" y="2468880"/>
            <a:ext cx="1097280" cy="365760"/>
          </a:xfrm>
          <a:prstGeom prst="line">
            <a:avLst/>
          </a:prstGeom>
          <a:ln w="19050">
            <a:solidFill>
              <a:srgbClr val="2B5A7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8778240" y="2468880"/>
            <a:ext cx="1463040" cy="640080"/>
          </a:xfrm>
          <a:prstGeom prst="line">
            <a:avLst/>
          </a:prstGeom>
          <a:ln w="19050">
            <a:solidFill>
              <a:srgbClr val="2B5A7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058400" y="2468880"/>
            <a:ext cx="182880" cy="1371600"/>
          </a:xfrm>
          <a:prstGeom prst="line">
            <a:avLst/>
          </a:prstGeom>
          <a:ln w="19050">
            <a:solidFill>
              <a:srgbClr val="2B5A7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778240" y="3108960"/>
            <a:ext cx="1280160" cy="731520"/>
          </a:xfrm>
          <a:prstGeom prst="line">
            <a:avLst/>
          </a:prstGeom>
          <a:ln w="19050">
            <a:solidFill>
              <a:srgbClr val="2B5A7E"/>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171432" y="1124712"/>
            <a:ext cx="310896" cy="310896"/>
          </a:xfrm>
          <a:prstGeom prst="ellipse">
            <a:avLst/>
          </a:prstGeom>
          <a:solidFill>
            <a:srgbClr val="0B1F33"/>
          </a:solidFill>
          <a:ln w="25400">
            <a:solidFill>
              <a:srgbClr val="0FA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725912" y="758952"/>
            <a:ext cx="310896" cy="310896"/>
          </a:xfrm>
          <a:prstGeom prst="ellipse">
            <a:avLst/>
          </a:prstGeom>
          <a:solidFill>
            <a:srgbClr val="0B1F33"/>
          </a:solidFill>
          <a:ln w="25400">
            <a:solidFill>
              <a:srgbClr val="0FA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85832" y="2313432"/>
            <a:ext cx="310896" cy="310896"/>
          </a:xfrm>
          <a:prstGeom prst="ellipse">
            <a:avLst/>
          </a:prstGeom>
          <a:solidFill>
            <a:srgbClr val="0B1F33"/>
          </a:solidFill>
          <a:ln w="25400">
            <a:solidFill>
              <a:srgbClr val="0FA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183112" y="2679192"/>
            <a:ext cx="310896" cy="310896"/>
          </a:xfrm>
          <a:prstGeom prst="ellipse">
            <a:avLst/>
          </a:prstGeom>
          <a:solidFill>
            <a:srgbClr val="0B1F33"/>
          </a:solidFill>
          <a:ln w="25400">
            <a:solidFill>
              <a:srgbClr val="0FA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22792" y="2953512"/>
            <a:ext cx="310896" cy="310896"/>
          </a:xfrm>
          <a:prstGeom prst="ellipse">
            <a:avLst/>
          </a:prstGeom>
          <a:solidFill>
            <a:srgbClr val="0B1F33"/>
          </a:solidFill>
          <a:ln w="25400">
            <a:solidFill>
              <a:srgbClr val="0FA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902952" y="3685032"/>
            <a:ext cx="310896" cy="310896"/>
          </a:xfrm>
          <a:prstGeom prst="ellipse">
            <a:avLst/>
          </a:prstGeom>
          <a:solidFill>
            <a:srgbClr val="F2A900"/>
          </a:solidFill>
          <a:ln w="25400">
            <a:solidFill>
              <a:srgbClr val="F2A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640080"/>
            <a:ext cx="2286000" cy="411480"/>
          </a:xfrm>
          <a:prstGeom prst="rect">
            <a:avLst/>
          </a:prstGeom>
          <a:noFill/>
          <a:ln w="12700">
            <a:solidFill>
              <a:srgbClr val="0FA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67512"/>
            <a:ext cx="2286000" cy="365760"/>
          </a:xfrm>
          <a:prstGeom prst="rect">
            <a:avLst/>
          </a:prstGeom>
          <a:noFill/>
        </p:spPr>
        <p:txBody>
          <a:bodyPr wrap="square" lIns="45720" rIns="45720" tIns="27432" bIns="27432" anchor="t">
            <a:spAutoFit/>
          </a:bodyPr>
          <a:lstStyle/>
          <a:p>
            <a:pPr algn="ctr"/>
            <a:r>
              <a:rPr sz="1300" b="1" i="0">
                <a:solidFill>
                  <a:srgbClr val="0FA3A3"/>
                </a:solidFill>
                <a:latin typeface="Calibri"/>
              </a:rPr>
              <a:t>THEMATIC ASSESSMENT</a:t>
            </a:r>
          </a:p>
        </p:txBody>
      </p:sp>
      <p:sp>
        <p:nvSpPr>
          <p:cNvPr id="17" name="TextBox 16"/>
          <p:cNvSpPr txBox="1"/>
          <p:nvPr/>
        </p:nvSpPr>
        <p:spPr>
          <a:xfrm>
            <a:off x="548640" y="1371600"/>
            <a:ext cx="8229600" cy="365760"/>
          </a:xfrm>
          <a:prstGeom prst="rect">
            <a:avLst/>
          </a:prstGeom>
          <a:noFill/>
        </p:spPr>
        <p:txBody>
          <a:bodyPr wrap="square" lIns="45720" rIns="45720" tIns="27432" bIns="27432" anchor="t">
            <a:spAutoFit/>
          </a:bodyPr>
          <a:lstStyle/>
          <a:p>
            <a:pPr algn="l"/>
            <a:r>
              <a:rPr sz="1400" b="1" i="0">
                <a:solidFill>
                  <a:srgbClr val="9FB4C8"/>
                </a:solidFill>
                <a:latin typeface="Calibri"/>
              </a:rPr>
              <a:t>ADHOC &amp; WIRELESS SENSOR NETWORKS</a:t>
            </a:r>
          </a:p>
        </p:txBody>
      </p:sp>
      <p:sp>
        <p:nvSpPr>
          <p:cNvPr id="18" name="TextBox 17"/>
          <p:cNvSpPr txBox="1"/>
          <p:nvPr/>
        </p:nvSpPr>
        <p:spPr>
          <a:xfrm>
            <a:off x="548640" y="1828800"/>
            <a:ext cx="8412480" cy="2011680"/>
          </a:xfrm>
          <a:prstGeom prst="rect">
            <a:avLst/>
          </a:prstGeom>
          <a:noFill/>
        </p:spPr>
        <p:txBody>
          <a:bodyPr wrap="square" lIns="45720" rIns="45720" tIns="27432" bIns="27432" anchor="t">
            <a:spAutoFit/>
          </a:bodyPr>
          <a:lstStyle/>
          <a:p>
            <a:pPr algn="l"/>
            <a:r>
              <a:rPr sz="4600" b="1" i="0">
                <a:solidFill>
                  <a:srgbClr val="FFFFFF"/>
                </a:solidFill>
                <a:latin typeface="Calibri"/>
              </a:rPr>
              <a:t>Real-Time Anomaly &amp;</a:t>
            </a:r>
          </a:p>
          <a:p>
            <a:pPr algn="l"/>
            <a:r>
              <a:rPr sz="4600" b="1" i="0">
                <a:solidFill>
                  <a:srgbClr val="FFFFFF"/>
                </a:solidFill>
                <a:latin typeface="Calibri"/>
              </a:rPr>
              <a:t>Fault Detection in a WSN</a:t>
            </a:r>
          </a:p>
        </p:txBody>
      </p:sp>
      <p:sp>
        <p:nvSpPr>
          <p:cNvPr id="19" name="TextBox 18"/>
          <p:cNvSpPr txBox="1"/>
          <p:nvPr/>
        </p:nvSpPr>
        <p:spPr>
          <a:xfrm>
            <a:off x="548640" y="3611880"/>
            <a:ext cx="8229600" cy="548640"/>
          </a:xfrm>
          <a:prstGeom prst="rect">
            <a:avLst/>
          </a:prstGeom>
          <a:noFill/>
        </p:spPr>
        <p:txBody>
          <a:bodyPr wrap="square" lIns="45720" rIns="45720" tIns="27432" bIns="27432" anchor="t">
            <a:spAutoFit/>
          </a:bodyPr>
          <a:lstStyle/>
          <a:p>
            <a:pPr algn="l"/>
            <a:r>
              <a:rPr sz="2200" b="0" i="0">
                <a:solidFill>
                  <a:srgbClr val="9FB4C8"/>
                </a:solidFill>
                <a:latin typeface="Calibri"/>
              </a:rPr>
              <a:t>using </a:t>
            </a:r>
            <a:r>
              <a:rPr sz="2200" b="1" i="0">
                <a:solidFill>
                  <a:srgbClr val="F2A900"/>
                </a:solidFill>
                <a:latin typeface="Calibri"/>
              </a:rPr>
              <a:t>Machine Learning</a:t>
            </a:r>
            <a:r>
              <a:rPr sz="2200" b="0" i="0">
                <a:solidFill>
                  <a:srgbClr val="9FB4C8"/>
                </a:solidFill>
                <a:latin typeface="Calibri"/>
              </a:rPr>
              <a:t> · simulation-validated</a:t>
            </a:r>
          </a:p>
        </p:txBody>
      </p:sp>
      <p:sp>
        <p:nvSpPr>
          <p:cNvPr id="20" name="Rectangle 19"/>
          <p:cNvSpPr/>
          <p:nvPr/>
        </p:nvSpPr>
        <p:spPr>
          <a:xfrm>
            <a:off x="548640" y="4754880"/>
            <a:ext cx="11064240" cy="1417320"/>
          </a:xfrm>
          <a:prstGeom prst="rect">
            <a:avLst/>
          </a:prstGeom>
          <a:solidFill>
            <a:srgbClr val="12304F"/>
          </a:solidFill>
          <a:ln w="12700">
            <a:solidFill>
              <a:srgbClr val="0FA3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864608"/>
            <a:ext cx="2743200" cy="274320"/>
          </a:xfrm>
          <a:prstGeom prst="rect">
            <a:avLst/>
          </a:prstGeom>
          <a:noFill/>
        </p:spPr>
        <p:txBody>
          <a:bodyPr wrap="square" lIns="45720" rIns="45720" tIns="27432" bIns="27432" anchor="t">
            <a:spAutoFit/>
          </a:bodyPr>
          <a:lstStyle/>
          <a:p>
            <a:pPr algn="l"/>
            <a:r>
              <a:rPr sz="1100" b="1" i="0">
                <a:solidFill>
                  <a:srgbClr val="0FA3A3"/>
                </a:solidFill>
                <a:latin typeface="Calibri"/>
              </a:rPr>
              <a:t>TEAM MEMBERS</a:t>
            </a:r>
          </a:p>
        </p:txBody>
      </p:sp>
      <p:sp>
        <p:nvSpPr>
          <p:cNvPr id="22" name="TextBox 21"/>
          <p:cNvSpPr txBox="1"/>
          <p:nvPr/>
        </p:nvSpPr>
        <p:spPr>
          <a:xfrm>
            <a:off x="777240" y="5212080"/>
            <a:ext cx="3566160" cy="411480"/>
          </a:xfrm>
          <a:prstGeom prst="rect">
            <a:avLst/>
          </a:prstGeom>
          <a:noFill/>
        </p:spPr>
        <p:txBody>
          <a:bodyPr wrap="square" lIns="45720" rIns="45720" tIns="27432" bIns="27432" anchor="t">
            <a:spAutoFit/>
          </a:bodyPr>
          <a:lstStyle/>
          <a:p>
            <a:pPr algn="l"/>
            <a:r>
              <a:rPr sz="2000" b="1" i="0">
                <a:solidFill>
                  <a:srgbClr val="FFFFFF"/>
                </a:solidFill>
                <a:latin typeface="Calibri"/>
              </a:rPr>
              <a:t>Angel Suri</a:t>
            </a:r>
          </a:p>
        </p:txBody>
      </p:sp>
      <p:sp>
        <p:nvSpPr>
          <p:cNvPr id="23" name="TextBox 22"/>
          <p:cNvSpPr txBox="1"/>
          <p:nvPr/>
        </p:nvSpPr>
        <p:spPr>
          <a:xfrm>
            <a:off x="777240" y="5623560"/>
            <a:ext cx="3566160" cy="320040"/>
          </a:xfrm>
          <a:prstGeom prst="rect">
            <a:avLst/>
          </a:prstGeom>
          <a:noFill/>
        </p:spPr>
        <p:txBody>
          <a:bodyPr wrap="square" lIns="45720" rIns="45720" tIns="27432" bIns="27432" anchor="t">
            <a:spAutoFit/>
          </a:bodyPr>
          <a:lstStyle/>
          <a:p>
            <a:pPr algn="l"/>
            <a:r>
              <a:rPr sz="1300" b="0" i="0">
                <a:solidFill>
                  <a:srgbClr val="9FB4C8"/>
                </a:solidFill>
                <a:latin typeface="Calibri"/>
              </a:rPr>
              <a:t>Roll no. 231302156</a:t>
            </a:r>
          </a:p>
        </p:txBody>
      </p:sp>
      <p:sp>
        <p:nvSpPr>
          <p:cNvPr id="24" name="TextBox 23"/>
          <p:cNvSpPr txBox="1"/>
          <p:nvPr/>
        </p:nvSpPr>
        <p:spPr>
          <a:xfrm>
            <a:off x="4434840" y="5212080"/>
            <a:ext cx="3566160" cy="411480"/>
          </a:xfrm>
          <a:prstGeom prst="rect">
            <a:avLst/>
          </a:prstGeom>
          <a:noFill/>
        </p:spPr>
        <p:txBody>
          <a:bodyPr wrap="square" lIns="45720" rIns="45720" tIns="27432" bIns="27432" anchor="t">
            <a:spAutoFit/>
          </a:bodyPr>
          <a:lstStyle/>
          <a:p>
            <a:pPr algn="l"/>
            <a:r>
              <a:rPr sz="2000" b="1" i="0">
                <a:solidFill>
                  <a:srgbClr val="FFFFFF"/>
                </a:solidFill>
                <a:latin typeface="Calibri"/>
              </a:rPr>
              <a:t>Pratishtha</a:t>
            </a:r>
          </a:p>
        </p:txBody>
      </p:sp>
      <p:sp>
        <p:nvSpPr>
          <p:cNvPr id="25" name="TextBox 24"/>
          <p:cNvSpPr txBox="1"/>
          <p:nvPr/>
        </p:nvSpPr>
        <p:spPr>
          <a:xfrm>
            <a:off x="4434840" y="5623560"/>
            <a:ext cx="3566160" cy="320040"/>
          </a:xfrm>
          <a:prstGeom prst="rect">
            <a:avLst/>
          </a:prstGeom>
          <a:noFill/>
        </p:spPr>
        <p:txBody>
          <a:bodyPr wrap="square" lIns="45720" rIns="45720" tIns="27432" bIns="27432" anchor="t">
            <a:spAutoFit/>
          </a:bodyPr>
          <a:lstStyle/>
          <a:p>
            <a:pPr algn="l"/>
            <a:r>
              <a:rPr sz="1300" b="0" i="0">
                <a:solidFill>
                  <a:srgbClr val="9FB4C8"/>
                </a:solidFill>
                <a:latin typeface="Calibri"/>
              </a:rPr>
              <a:t>Roll no. 231302058</a:t>
            </a:r>
          </a:p>
        </p:txBody>
      </p:sp>
      <p:sp>
        <p:nvSpPr>
          <p:cNvPr id="26" name="TextBox 25"/>
          <p:cNvSpPr txBox="1"/>
          <p:nvPr/>
        </p:nvSpPr>
        <p:spPr>
          <a:xfrm>
            <a:off x="8092440" y="5212080"/>
            <a:ext cx="3566160" cy="411480"/>
          </a:xfrm>
          <a:prstGeom prst="rect">
            <a:avLst/>
          </a:prstGeom>
          <a:noFill/>
        </p:spPr>
        <p:txBody>
          <a:bodyPr wrap="square" lIns="45720" rIns="45720" tIns="27432" bIns="27432" anchor="t">
            <a:spAutoFit/>
          </a:bodyPr>
          <a:lstStyle/>
          <a:p>
            <a:pPr algn="l"/>
            <a:r>
              <a:rPr sz="2000" b="1" i="0">
                <a:solidFill>
                  <a:srgbClr val="FFFFFF"/>
                </a:solidFill>
                <a:latin typeface="Calibri"/>
              </a:rPr>
              <a:t>Himanshu Singh</a:t>
            </a:r>
          </a:p>
        </p:txBody>
      </p:sp>
      <p:sp>
        <p:nvSpPr>
          <p:cNvPr id="27" name="TextBox 26"/>
          <p:cNvSpPr txBox="1"/>
          <p:nvPr/>
        </p:nvSpPr>
        <p:spPr>
          <a:xfrm>
            <a:off x="8092440" y="5623560"/>
            <a:ext cx="3566160" cy="320040"/>
          </a:xfrm>
          <a:prstGeom prst="rect">
            <a:avLst/>
          </a:prstGeom>
          <a:noFill/>
        </p:spPr>
        <p:txBody>
          <a:bodyPr wrap="square" lIns="45720" rIns="45720" tIns="27432" bIns="27432" anchor="t">
            <a:spAutoFit/>
          </a:bodyPr>
          <a:lstStyle/>
          <a:p>
            <a:pPr algn="l"/>
            <a:r>
              <a:rPr sz="1300" b="0" i="0">
                <a:solidFill>
                  <a:srgbClr val="9FB4C8"/>
                </a:solidFill>
                <a:latin typeface="Calibri"/>
              </a:rPr>
              <a:t>Roll no. 231302024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INTRODUCTION &amp; MOTIVATION</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The problem: WSNs fail silently</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2 / 17</a:t>
            </a:r>
          </a:p>
        </p:txBody>
      </p:sp>
      <p:sp>
        <p:nvSpPr>
          <p:cNvPr id="8" name="Rectangle 7"/>
          <p:cNvSpPr/>
          <p:nvPr/>
        </p:nvSpPr>
        <p:spPr>
          <a:xfrm>
            <a:off x="548640" y="1463040"/>
            <a:ext cx="5486400" cy="214884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63040"/>
            <a:ext cx="64008" cy="2148840"/>
          </a:xfrm>
          <a:prstGeom prst="rect">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54480"/>
            <a:ext cx="5212080" cy="365760"/>
          </a:xfrm>
          <a:prstGeom prst="rect">
            <a:avLst/>
          </a:prstGeom>
          <a:noFill/>
        </p:spPr>
        <p:txBody>
          <a:bodyPr wrap="square" lIns="45720" rIns="45720" tIns="27432" bIns="27432" anchor="t">
            <a:spAutoFit/>
          </a:bodyPr>
          <a:lstStyle/>
          <a:p>
            <a:pPr algn="l"/>
            <a:r>
              <a:rPr sz="1700" b="1" i="0">
                <a:solidFill>
                  <a:srgbClr val="0B1F33"/>
                </a:solidFill>
                <a:latin typeface="Calibri"/>
              </a:rPr>
              <a:t>What goes wrong</a:t>
            </a:r>
          </a:p>
        </p:txBody>
      </p:sp>
      <p:sp>
        <p:nvSpPr>
          <p:cNvPr id="11" name="TextBox 10"/>
          <p:cNvSpPr txBox="1"/>
          <p:nvPr/>
        </p:nvSpPr>
        <p:spPr>
          <a:xfrm>
            <a:off x="731520" y="1965960"/>
            <a:ext cx="5166360" cy="1600200"/>
          </a:xfrm>
          <a:prstGeom prst="rect">
            <a:avLst/>
          </a:prstGeom>
          <a:noFill/>
        </p:spPr>
        <p:txBody>
          <a:bodyPr wrap="square" lIns="45720">
            <a:spAutoFit/>
          </a:bodyPr>
          <a:lstStyle/>
          <a:p>
            <a:pPr>
              <a:spcAft>
                <a:spcPts val="700"/>
              </a:spcAft>
            </a:pPr>
            <a:r>
              <a:rPr sz="1500">
                <a:solidFill>
                  <a:srgbClr val="0FA3A3"/>
                </a:solidFill>
                <a:latin typeface="Calibri"/>
              </a:rPr>
              <a:t>▪  </a:t>
            </a:r>
            <a:r>
              <a:rPr sz="1500" b="0">
                <a:solidFill>
                  <a:srgbClr val="1B2733"/>
                </a:solidFill>
                <a:latin typeface="Calibri"/>
              </a:rPr>
              <a:t>A sensor sticks on one value, drifts, spikes or returns garbage</a:t>
            </a:r>
          </a:p>
          <a:p>
            <a:pPr>
              <a:spcAft>
                <a:spcPts val="700"/>
              </a:spcAft>
            </a:pPr>
            <a:r>
              <a:rPr sz="1500">
                <a:solidFill>
                  <a:srgbClr val="0FA3A3"/>
                </a:solidFill>
                <a:latin typeface="Calibri"/>
              </a:rPr>
              <a:t>▪  </a:t>
            </a:r>
            <a:r>
              <a:rPr sz="1500" b="0">
                <a:solidFill>
                  <a:srgbClr val="1B2733"/>
                </a:solidFill>
                <a:latin typeface="Calibri"/>
              </a:rPr>
              <a:t>A node runs out of battery, or its relay dies and it is cut off</a:t>
            </a:r>
          </a:p>
          <a:p>
            <a:pPr>
              <a:spcAft>
                <a:spcPts val="700"/>
              </a:spcAft>
            </a:pPr>
            <a:r>
              <a:rPr sz="1500">
                <a:solidFill>
                  <a:srgbClr val="0FA3A3"/>
                </a:solidFill>
                <a:latin typeface="Calibri"/>
              </a:rPr>
              <a:t>▪  </a:t>
            </a:r>
            <a:r>
              <a:rPr sz="1500" b="0">
                <a:solidFill>
                  <a:srgbClr val="1B2733"/>
                </a:solidFill>
                <a:latin typeface="Calibri"/>
              </a:rPr>
              <a:t>Data is lost or corrupted in transit</a:t>
            </a:r>
          </a:p>
        </p:txBody>
      </p:sp>
      <p:sp>
        <p:nvSpPr>
          <p:cNvPr id="12" name="Rectangle 11"/>
          <p:cNvSpPr/>
          <p:nvPr/>
        </p:nvSpPr>
        <p:spPr>
          <a:xfrm>
            <a:off x="548640" y="3794760"/>
            <a:ext cx="5486400" cy="242316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794760"/>
            <a:ext cx="64008" cy="2423160"/>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886200"/>
            <a:ext cx="5212080" cy="365760"/>
          </a:xfrm>
          <a:prstGeom prst="rect">
            <a:avLst/>
          </a:prstGeom>
          <a:noFill/>
        </p:spPr>
        <p:txBody>
          <a:bodyPr wrap="square" lIns="45720" rIns="45720" tIns="27432" bIns="27432" anchor="t">
            <a:spAutoFit/>
          </a:bodyPr>
          <a:lstStyle/>
          <a:p>
            <a:pPr algn="l"/>
            <a:r>
              <a:rPr sz="1700" b="1" i="0">
                <a:solidFill>
                  <a:srgbClr val="0B1F33"/>
                </a:solidFill>
                <a:latin typeface="Calibri"/>
              </a:rPr>
              <a:t>Why thresholds are not enough</a:t>
            </a:r>
          </a:p>
        </p:txBody>
      </p:sp>
      <p:sp>
        <p:nvSpPr>
          <p:cNvPr id="15" name="TextBox 14"/>
          <p:cNvSpPr txBox="1"/>
          <p:nvPr/>
        </p:nvSpPr>
        <p:spPr>
          <a:xfrm>
            <a:off x="731520" y="4297680"/>
            <a:ext cx="5166360" cy="1874519"/>
          </a:xfrm>
          <a:prstGeom prst="rect">
            <a:avLst/>
          </a:prstGeom>
          <a:noFill/>
        </p:spPr>
        <p:txBody>
          <a:bodyPr wrap="square" lIns="45720">
            <a:spAutoFit/>
          </a:bodyPr>
          <a:lstStyle/>
          <a:p>
            <a:pPr>
              <a:spcAft>
                <a:spcPts val="700"/>
              </a:spcAft>
            </a:pPr>
            <a:r>
              <a:rPr sz="1500">
                <a:solidFill>
                  <a:srgbClr val="0FA3A3"/>
                </a:solidFill>
                <a:latin typeface="Calibri"/>
              </a:rPr>
              <a:t>▪  </a:t>
            </a:r>
            <a:r>
              <a:rPr sz="1500" b="0">
                <a:solidFill>
                  <a:srgbClr val="1B2733"/>
                </a:solidFill>
                <a:latin typeface="Calibri"/>
              </a:rPr>
              <a:t>A fixed rule only fires on obviously wrong numbers</a:t>
            </a:r>
          </a:p>
          <a:p>
            <a:pPr>
              <a:spcAft>
                <a:spcPts val="700"/>
              </a:spcAft>
            </a:pPr>
            <a:r>
              <a:rPr sz="1500">
                <a:solidFill>
                  <a:srgbClr val="0FA3A3"/>
                </a:solidFill>
                <a:latin typeface="Calibri"/>
              </a:rPr>
              <a:t>▪  </a:t>
            </a:r>
            <a:r>
              <a:rPr sz="1500" b="0">
                <a:solidFill>
                  <a:srgbClr val="1B2733"/>
                </a:solidFill>
                <a:latin typeface="Calibri"/>
              </a:rPr>
              <a:t>Drift and stuck values stay inside the “safe” range</a:t>
            </a:r>
          </a:p>
          <a:p>
            <a:pPr>
              <a:spcAft>
                <a:spcPts val="700"/>
              </a:spcAft>
            </a:pPr>
            <a:r>
              <a:rPr sz="1500">
                <a:solidFill>
                  <a:srgbClr val="0FA3A3"/>
                </a:solidFill>
                <a:latin typeface="Calibri"/>
              </a:rPr>
              <a:t>▪  </a:t>
            </a:r>
            <a:r>
              <a:rPr sz="1500" b="0">
                <a:solidFill>
                  <a:srgbClr val="1B2733"/>
                </a:solidFill>
                <a:latin typeface="Calibri"/>
              </a:rPr>
              <a:t>Nobody notices until the damage is done</a:t>
            </a:r>
          </a:p>
        </p:txBody>
      </p:sp>
      <p:sp>
        <p:nvSpPr>
          <p:cNvPr id="16" name="Rectangle 15"/>
          <p:cNvSpPr/>
          <p:nvPr/>
        </p:nvSpPr>
        <p:spPr>
          <a:xfrm>
            <a:off x="6309360" y="1463040"/>
            <a:ext cx="5349240" cy="475488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554480"/>
            <a:ext cx="5029200" cy="320040"/>
          </a:xfrm>
          <a:prstGeom prst="rect">
            <a:avLst/>
          </a:prstGeom>
          <a:noFill/>
        </p:spPr>
        <p:txBody>
          <a:bodyPr wrap="square" lIns="45720" rIns="45720" tIns="27432" bIns="27432" anchor="t">
            <a:spAutoFit/>
          </a:bodyPr>
          <a:lstStyle/>
          <a:p>
            <a:pPr algn="l"/>
            <a:r>
              <a:rPr sz="1100" b="1" i="0">
                <a:solidFill>
                  <a:srgbClr val="0FA3A3"/>
                </a:solidFill>
                <a:latin typeface="Calibri"/>
              </a:rPr>
              <a:t>EXAMPLE: A SERVER ROOM AC FAILING SLOWLY</a:t>
            </a:r>
          </a:p>
        </p:txBody>
      </p:sp>
      <p:sp>
        <p:nvSpPr>
          <p:cNvPr id="18" name="Rectangle 17"/>
          <p:cNvSpPr/>
          <p:nvPr/>
        </p:nvSpPr>
        <p:spPr>
          <a:xfrm>
            <a:off x="6675120" y="3246120"/>
            <a:ext cx="4617720" cy="73152"/>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675120" y="3108960"/>
            <a:ext cx="347472" cy="347472"/>
          </a:xfrm>
          <a:prstGeom prst="ellipse">
            <a:avLst/>
          </a:prstGeom>
          <a:solidFill>
            <a:srgbClr val="5B6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2560320"/>
            <a:ext cx="1188720" cy="274320"/>
          </a:xfrm>
          <a:prstGeom prst="rect">
            <a:avLst/>
          </a:prstGeom>
          <a:noFill/>
        </p:spPr>
        <p:txBody>
          <a:bodyPr wrap="square" lIns="45720" rIns="45720" tIns="27432" bIns="27432" anchor="t">
            <a:spAutoFit/>
          </a:bodyPr>
          <a:lstStyle/>
          <a:p>
            <a:pPr algn="ctr"/>
            <a:r>
              <a:rPr sz="1300" b="1" i="0">
                <a:solidFill>
                  <a:srgbClr val="0B1F33"/>
                </a:solidFill>
                <a:latin typeface="Calibri"/>
              </a:rPr>
              <a:t>10:00</a:t>
            </a:r>
          </a:p>
        </p:txBody>
      </p:sp>
      <p:sp>
        <p:nvSpPr>
          <p:cNvPr id="21" name="TextBox 20"/>
          <p:cNvSpPr txBox="1"/>
          <p:nvPr/>
        </p:nvSpPr>
        <p:spPr>
          <a:xfrm>
            <a:off x="6080759" y="3566160"/>
            <a:ext cx="1554480" cy="457200"/>
          </a:xfrm>
          <a:prstGeom prst="rect">
            <a:avLst/>
          </a:prstGeom>
          <a:noFill/>
        </p:spPr>
        <p:txBody>
          <a:bodyPr wrap="square" lIns="45720" rIns="45720" tIns="27432" bIns="27432" anchor="t">
            <a:spAutoFit/>
          </a:bodyPr>
          <a:lstStyle/>
          <a:p>
            <a:pPr algn="ctr"/>
            <a:r>
              <a:rPr sz="1200" b="1" i="0">
                <a:solidFill>
                  <a:srgbClr val="5B6B7B"/>
                </a:solidFill>
                <a:latin typeface="Calibri"/>
              </a:rPr>
              <a:t>19.8 °C</a:t>
            </a:r>
          </a:p>
        </p:txBody>
      </p:sp>
      <p:sp>
        <p:nvSpPr>
          <p:cNvPr id="22" name="Oval 21"/>
          <p:cNvSpPr/>
          <p:nvPr/>
        </p:nvSpPr>
        <p:spPr>
          <a:xfrm>
            <a:off x="8412480" y="3108960"/>
            <a:ext cx="347472" cy="347472"/>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01000" y="2560320"/>
            <a:ext cx="1188720" cy="274320"/>
          </a:xfrm>
          <a:prstGeom prst="rect">
            <a:avLst/>
          </a:prstGeom>
          <a:noFill/>
        </p:spPr>
        <p:txBody>
          <a:bodyPr wrap="square" lIns="45720" rIns="45720" tIns="27432" bIns="27432" anchor="t">
            <a:spAutoFit/>
          </a:bodyPr>
          <a:lstStyle/>
          <a:p>
            <a:pPr algn="ctr"/>
            <a:r>
              <a:rPr sz="1300" b="1" i="0">
                <a:solidFill>
                  <a:srgbClr val="0B1F33"/>
                </a:solidFill>
                <a:latin typeface="Calibri"/>
              </a:rPr>
              <a:t>11:30</a:t>
            </a:r>
          </a:p>
        </p:txBody>
      </p:sp>
      <p:sp>
        <p:nvSpPr>
          <p:cNvPr id="24" name="TextBox 23"/>
          <p:cNvSpPr txBox="1"/>
          <p:nvPr/>
        </p:nvSpPr>
        <p:spPr>
          <a:xfrm>
            <a:off x="7818119" y="3566160"/>
            <a:ext cx="1554480" cy="457200"/>
          </a:xfrm>
          <a:prstGeom prst="rect">
            <a:avLst/>
          </a:prstGeom>
          <a:noFill/>
        </p:spPr>
        <p:txBody>
          <a:bodyPr wrap="square" lIns="45720" rIns="45720" tIns="27432" bIns="27432" anchor="t">
            <a:spAutoFit/>
          </a:bodyPr>
          <a:lstStyle/>
          <a:p>
            <a:pPr algn="ctr"/>
            <a:r>
              <a:rPr sz="1200" b="1" i="0">
                <a:solidFill>
                  <a:srgbClr val="2E9E6B"/>
                </a:solidFill>
                <a:latin typeface="Calibri"/>
              </a:rPr>
              <a:t>ML flags drift</a:t>
            </a:r>
          </a:p>
        </p:txBody>
      </p:sp>
      <p:sp>
        <p:nvSpPr>
          <p:cNvPr id="25" name="Oval 24"/>
          <p:cNvSpPr/>
          <p:nvPr/>
        </p:nvSpPr>
        <p:spPr>
          <a:xfrm>
            <a:off x="10149840" y="3108960"/>
            <a:ext cx="347472" cy="347472"/>
          </a:xfrm>
          <a:prstGeom prst="ellips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38360" y="2560320"/>
            <a:ext cx="1188720" cy="274320"/>
          </a:xfrm>
          <a:prstGeom prst="rect">
            <a:avLst/>
          </a:prstGeom>
          <a:noFill/>
        </p:spPr>
        <p:txBody>
          <a:bodyPr wrap="square" lIns="45720" rIns="45720" tIns="27432" bIns="27432" anchor="t">
            <a:spAutoFit/>
          </a:bodyPr>
          <a:lstStyle/>
          <a:p>
            <a:pPr algn="ctr"/>
            <a:r>
              <a:rPr sz="1300" b="1" i="0">
                <a:solidFill>
                  <a:srgbClr val="0B1F33"/>
                </a:solidFill>
                <a:latin typeface="Calibri"/>
              </a:rPr>
              <a:t>13:00</a:t>
            </a:r>
          </a:p>
        </p:txBody>
      </p:sp>
      <p:sp>
        <p:nvSpPr>
          <p:cNvPr id="27" name="TextBox 26"/>
          <p:cNvSpPr txBox="1"/>
          <p:nvPr/>
        </p:nvSpPr>
        <p:spPr>
          <a:xfrm>
            <a:off x="9555480" y="3566160"/>
            <a:ext cx="1554480" cy="457200"/>
          </a:xfrm>
          <a:prstGeom prst="rect">
            <a:avLst/>
          </a:prstGeom>
          <a:noFill/>
        </p:spPr>
        <p:txBody>
          <a:bodyPr wrap="square" lIns="45720" rIns="45720" tIns="27432" bIns="27432" anchor="t">
            <a:spAutoFit/>
          </a:bodyPr>
          <a:lstStyle/>
          <a:p>
            <a:pPr algn="ctr"/>
            <a:r>
              <a:rPr sz="1200" b="1" i="0">
                <a:solidFill>
                  <a:srgbClr val="D64545"/>
                </a:solidFill>
                <a:latin typeface="Calibri"/>
              </a:rPr>
              <a:t>Threshold fires</a:t>
            </a:r>
          </a:p>
        </p:txBody>
      </p:sp>
      <p:sp>
        <p:nvSpPr>
          <p:cNvPr id="28" name="TextBox 27"/>
          <p:cNvSpPr txBox="1"/>
          <p:nvPr/>
        </p:nvSpPr>
        <p:spPr>
          <a:xfrm>
            <a:off x="6492240" y="4434840"/>
            <a:ext cx="5029200" cy="822960"/>
          </a:xfrm>
          <a:prstGeom prst="rect">
            <a:avLst/>
          </a:prstGeom>
          <a:noFill/>
        </p:spPr>
        <p:txBody>
          <a:bodyPr wrap="square" lIns="45720" rIns="45720" tIns="27432" bIns="27432" anchor="t">
            <a:spAutoFit/>
          </a:bodyPr>
          <a:lstStyle/>
          <a:p>
            <a:pPr algn="l"/>
            <a:r>
              <a:rPr sz="1400" b="0" i="0">
                <a:solidFill>
                  <a:srgbClr val="1B2733"/>
                </a:solidFill>
                <a:latin typeface="Calibri"/>
              </a:rPr>
              <a:t>Temperature crept from 19.8 °C to 28.3 °C, always under a 30 °C cutoff. </a:t>
            </a:r>
            <a:r>
              <a:rPr sz="1400" b="1" i="0">
                <a:solidFill>
                  <a:srgbClr val="1B2733"/>
                </a:solidFill>
                <a:latin typeface="Calibri"/>
              </a:rPr>
              <a:t>The threshold system stays silent.</a:t>
            </a:r>
          </a:p>
        </p:txBody>
      </p:sp>
      <p:sp>
        <p:nvSpPr>
          <p:cNvPr id="29" name="Rectangle 28"/>
          <p:cNvSpPr/>
          <p:nvPr/>
        </p:nvSpPr>
        <p:spPr>
          <a:xfrm>
            <a:off x="6675120" y="5349240"/>
            <a:ext cx="4617720" cy="68580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12280" y="5394960"/>
            <a:ext cx="4389120" cy="594360"/>
          </a:xfrm>
          <a:prstGeom prst="rect">
            <a:avLst/>
          </a:prstGeom>
          <a:noFill/>
        </p:spPr>
        <p:txBody>
          <a:bodyPr wrap="square" lIns="45720" rIns="45720" tIns="27432" bIns="27432" anchor="ctr">
            <a:spAutoFit/>
          </a:bodyPr>
          <a:lstStyle/>
          <a:p>
            <a:pPr algn="l"/>
            <a:r>
              <a:rPr sz="2000" b="1" i="0">
                <a:solidFill>
                  <a:srgbClr val="F2A900"/>
                </a:solidFill>
                <a:latin typeface="Calibri"/>
              </a:rPr>
              <a:t>≈ 90 minutes earlier</a:t>
            </a:r>
            <a:r>
              <a:rPr sz="1400" b="0" i="0">
                <a:solidFill>
                  <a:srgbClr val="FFFFFF"/>
                </a:solidFill>
                <a:latin typeface="Calibri"/>
              </a:rPr>
              <a:t>  warning from ML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OBJECTIVES</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Objectives and what we delivered</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3 / 17</a:t>
            </a:r>
          </a:p>
        </p:txBody>
      </p:sp>
      <p:sp>
        <p:nvSpPr>
          <p:cNvPr id="8" name="Rectangle 7"/>
          <p:cNvSpPr/>
          <p:nvPr/>
        </p:nvSpPr>
        <p:spPr>
          <a:xfrm>
            <a:off x="548640" y="1417320"/>
            <a:ext cx="11064240" cy="841248"/>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822960" cy="841248"/>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17320"/>
            <a:ext cx="822960" cy="841248"/>
          </a:xfrm>
          <a:prstGeom prst="rect">
            <a:avLst/>
          </a:prstGeom>
          <a:noFill/>
        </p:spPr>
        <p:txBody>
          <a:bodyPr wrap="square" lIns="45720" rIns="45720" tIns="27432" bIns="27432" anchor="ctr">
            <a:spAutoFit/>
          </a:bodyPr>
          <a:lstStyle/>
          <a:p>
            <a:pPr algn="ctr"/>
            <a:r>
              <a:rPr sz="2200" b="1" i="0">
                <a:solidFill>
                  <a:srgbClr val="FFFFFF"/>
                </a:solidFill>
                <a:latin typeface="Calibri"/>
              </a:rPr>
              <a:t>01</a:t>
            </a:r>
          </a:p>
        </p:txBody>
      </p:sp>
      <p:sp>
        <p:nvSpPr>
          <p:cNvPr id="11" name="TextBox 10"/>
          <p:cNvSpPr txBox="1"/>
          <p:nvPr/>
        </p:nvSpPr>
        <p:spPr>
          <a:xfrm>
            <a:off x="1554480" y="1490472"/>
            <a:ext cx="7589520" cy="411480"/>
          </a:xfrm>
          <a:prstGeom prst="rect">
            <a:avLst/>
          </a:prstGeom>
          <a:noFill/>
        </p:spPr>
        <p:txBody>
          <a:bodyPr wrap="square" lIns="45720" rIns="45720" tIns="27432" bIns="27432" anchor="t">
            <a:spAutoFit/>
          </a:bodyPr>
          <a:lstStyle/>
          <a:p>
            <a:pPr algn="l"/>
            <a:r>
              <a:rPr sz="1600" b="1" i="0">
                <a:solidFill>
                  <a:srgbClr val="0B1F33"/>
                </a:solidFill>
                <a:latin typeface="Calibri"/>
              </a:rPr>
              <a:t>Build a 5-node WSN with sink, 2-hop routing and an energy model</a:t>
            </a:r>
          </a:p>
        </p:txBody>
      </p:sp>
      <p:sp>
        <p:nvSpPr>
          <p:cNvPr id="12" name="TextBox 11"/>
          <p:cNvSpPr txBox="1"/>
          <p:nvPr/>
        </p:nvSpPr>
        <p:spPr>
          <a:xfrm>
            <a:off x="1554480" y="1874519"/>
            <a:ext cx="7589520" cy="320040"/>
          </a:xfrm>
          <a:prstGeom prst="rect">
            <a:avLst/>
          </a:prstGeom>
          <a:noFill/>
        </p:spPr>
        <p:txBody>
          <a:bodyPr wrap="square" lIns="45720" rIns="45720" tIns="27432" bIns="27432" anchor="t">
            <a:spAutoFit/>
          </a:bodyPr>
          <a:lstStyle/>
          <a:p>
            <a:pPr algn="l"/>
            <a:r>
              <a:rPr sz="1200" b="0" i="0">
                <a:solidFill>
                  <a:srgbClr val="5B6B7B"/>
                </a:solidFill>
                <a:latin typeface="Calibri"/>
              </a:rPr>
              <a:t>Simulated: DHT22, PIR, LDR data, battery, loss, latency</a:t>
            </a:r>
          </a:p>
        </p:txBody>
      </p:sp>
      <p:sp>
        <p:nvSpPr>
          <p:cNvPr id="13" name="Rounded Rectangle 12"/>
          <p:cNvSpPr/>
          <p:nvPr/>
        </p:nvSpPr>
        <p:spPr>
          <a:xfrm>
            <a:off x="10241280" y="1664208"/>
            <a:ext cx="1188720" cy="347472"/>
          </a:xfrm>
          <a:prstGeom prst="roundRect">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0" y="1664208"/>
            <a:ext cx="1188720" cy="347472"/>
          </a:xfrm>
          <a:prstGeom prst="rect">
            <a:avLst/>
          </a:prstGeom>
          <a:noFill/>
        </p:spPr>
        <p:txBody>
          <a:bodyPr wrap="square" lIns="45720" rIns="45720" tIns="27432" bIns="27432" anchor="ctr">
            <a:spAutoFit/>
          </a:bodyPr>
          <a:lstStyle/>
          <a:p>
            <a:pPr algn="ctr"/>
            <a:r>
              <a:rPr sz="1200" b="1" i="0">
                <a:solidFill>
                  <a:srgbClr val="2E9E6B"/>
                </a:solidFill>
                <a:latin typeface="Calibri"/>
              </a:rPr>
              <a:t>✓ Done (sim)</a:t>
            </a:r>
          </a:p>
        </p:txBody>
      </p:sp>
      <p:sp>
        <p:nvSpPr>
          <p:cNvPr id="15" name="Rectangle 14"/>
          <p:cNvSpPr/>
          <p:nvPr/>
        </p:nvSpPr>
        <p:spPr>
          <a:xfrm>
            <a:off x="548640" y="2368296"/>
            <a:ext cx="11064240" cy="841248"/>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368296"/>
            <a:ext cx="822960" cy="841248"/>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368296"/>
            <a:ext cx="822960" cy="841248"/>
          </a:xfrm>
          <a:prstGeom prst="rect">
            <a:avLst/>
          </a:prstGeom>
          <a:noFill/>
        </p:spPr>
        <p:txBody>
          <a:bodyPr wrap="square" lIns="45720" rIns="45720" tIns="27432" bIns="27432" anchor="ctr">
            <a:spAutoFit/>
          </a:bodyPr>
          <a:lstStyle/>
          <a:p>
            <a:pPr algn="ctr"/>
            <a:r>
              <a:rPr sz="2200" b="1" i="0">
                <a:solidFill>
                  <a:srgbClr val="0B1F33"/>
                </a:solidFill>
                <a:latin typeface="Calibri"/>
              </a:rPr>
              <a:t>02</a:t>
            </a:r>
          </a:p>
        </p:txBody>
      </p:sp>
      <p:sp>
        <p:nvSpPr>
          <p:cNvPr id="18" name="TextBox 17"/>
          <p:cNvSpPr txBox="1"/>
          <p:nvPr/>
        </p:nvSpPr>
        <p:spPr>
          <a:xfrm>
            <a:off x="1554480" y="2441448"/>
            <a:ext cx="7589520" cy="411480"/>
          </a:xfrm>
          <a:prstGeom prst="rect">
            <a:avLst/>
          </a:prstGeom>
          <a:noFill/>
        </p:spPr>
        <p:txBody>
          <a:bodyPr wrap="square" lIns="45720" rIns="45720" tIns="27432" bIns="27432" anchor="t">
            <a:spAutoFit/>
          </a:bodyPr>
          <a:lstStyle/>
          <a:p>
            <a:pPr algn="l"/>
            <a:r>
              <a:rPr sz="1600" b="1" i="0">
                <a:solidFill>
                  <a:srgbClr val="0B1F33"/>
                </a:solidFill>
                <a:latin typeface="Calibri"/>
              </a:rPr>
              <a:t>Collect, clean and store sensor readings through MQTT</a:t>
            </a:r>
          </a:p>
        </p:txBody>
      </p:sp>
      <p:sp>
        <p:nvSpPr>
          <p:cNvPr id="19" name="TextBox 18"/>
          <p:cNvSpPr txBox="1"/>
          <p:nvPr/>
        </p:nvSpPr>
        <p:spPr>
          <a:xfrm>
            <a:off x="1554480" y="2825496"/>
            <a:ext cx="7589520" cy="320040"/>
          </a:xfrm>
          <a:prstGeom prst="rect">
            <a:avLst/>
          </a:prstGeom>
          <a:noFill/>
        </p:spPr>
        <p:txBody>
          <a:bodyPr wrap="square" lIns="45720" rIns="45720" tIns="27432" bIns="27432" anchor="t">
            <a:spAutoFit/>
          </a:bodyPr>
          <a:lstStyle/>
          <a:p>
            <a:pPr algn="l"/>
            <a:r>
              <a:rPr sz="1200" b="0" i="0">
                <a:solidFill>
                  <a:srgbClr val="5B6B7B"/>
                </a:solidFill>
                <a:latin typeface="Calibri"/>
              </a:rPr>
              <a:t>Publisher → Mosquitto broker → collector, 15,000 / 15,000 messages</a:t>
            </a:r>
          </a:p>
        </p:txBody>
      </p:sp>
      <p:sp>
        <p:nvSpPr>
          <p:cNvPr id="20" name="Rounded Rectangle 19"/>
          <p:cNvSpPr/>
          <p:nvPr/>
        </p:nvSpPr>
        <p:spPr>
          <a:xfrm>
            <a:off x="10241280" y="2615184"/>
            <a:ext cx="1188720" cy="347472"/>
          </a:xfrm>
          <a:prstGeom prst="roundRect">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0" y="2615184"/>
            <a:ext cx="1188720" cy="347472"/>
          </a:xfrm>
          <a:prstGeom prst="rect">
            <a:avLst/>
          </a:prstGeom>
          <a:noFill/>
        </p:spPr>
        <p:txBody>
          <a:bodyPr wrap="square" lIns="45720" rIns="45720" tIns="27432" bIns="27432" anchor="ctr">
            <a:spAutoFit/>
          </a:bodyPr>
          <a:lstStyle/>
          <a:p>
            <a:pPr algn="ctr"/>
            <a:r>
              <a:rPr sz="1200" b="1" i="0">
                <a:solidFill>
                  <a:srgbClr val="2E9E6B"/>
                </a:solidFill>
                <a:latin typeface="Calibri"/>
              </a:rPr>
              <a:t>✓ Done (sim)</a:t>
            </a:r>
          </a:p>
        </p:txBody>
      </p:sp>
      <p:sp>
        <p:nvSpPr>
          <p:cNvPr id="22" name="Rectangle 21"/>
          <p:cNvSpPr/>
          <p:nvPr/>
        </p:nvSpPr>
        <p:spPr>
          <a:xfrm>
            <a:off x="548640" y="3319272"/>
            <a:ext cx="11064240" cy="841248"/>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319272"/>
            <a:ext cx="822960" cy="841248"/>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319272"/>
            <a:ext cx="822960" cy="841248"/>
          </a:xfrm>
          <a:prstGeom prst="rect">
            <a:avLst/>
          </a:prstGeom>
          <a:noFill/>
        </p:spPr>
        <p:txBody>
          <a:bodyPr wrap="square" lIns="45720" rIns="45720" tIns="27432" bIns="27432" anchor="ctr">
            <a:spAutoFit/>
          </a:bodyPr>
          <a:lstStyle/>
          <a:p>
            <a:pPr algn="ctr"/>
            <a:r>
              <a:rPr sz="2200" b="1" i="0">
                <a:solidFill>
                  <a:srgbClr val="FFFFFF"/>
                </a:solidFill>
                <a:latin typeface="Calibri"/>
              </a:rPr>
              <a:t>03</a:t>
            </a:r>
          </a:p>
        </p:txBody>
      </p:sp>
      <p:sp>
        <p:nvSpPr>
          <p:cNvPr id="25" name="TextBox 24"/>
          <p:cNvSpPr txBox="1"/>
          <p:nvPr/>
        </p:nvSpPr>
        <p:spPr>
          <a:xfrm>
            <a:off x="1554480" y="3392424"/>
            <a:ext cx="7589520" cy="411480"/>
          </a:xfrm>
          <a:prstGeom prst="rect">
            <a:avLst/>
          </a:prstGeom>
          <a:noFill/>
        </p:spPr>
        <p:txBody>
          <a:bodyPr wrap="square" lIns="45720" rIns="45720" tIns="27432" bIns="27432" anchor="t">
            <a:spAutoFit/>
          </a:bodyPr>
          <a:lstStyle/>
          <a:p>
            <a:pPr algn="l"/>
            <a:r>
              <a:rPr sz="1600" b="1" i="0">
                <a:solidFill>
                  <a:srgbClr val="0B1F33"/>
                </a:solidFill>
                <a:latin typeface="Calibri"/>
              </a:rPr>
              <a:t>Detect sensor and network faults with machine learning</a:t>
            </a:r>
          </a:p>
        </p:txBody>
      </p:sp>
      <p:sp>
        <p:nvSpPr>
          <p:cNvPr id="26" name="TextBox 25"/>
          <p:cNvSpPr txBox="1"/>
          <p:nvPr/>
        </p:nvSpPr>
        <p:spPr>
          <a:xfrm>
            <a:off x="1554480" y="3776472"/>
            <a:ext cx="7589520" cy="320040"/>
          </a:xfrm>
          <a:prstGeom prst="rect">
            <a:avLst/>
          </a:prstGeom>
          <a:noFill/>
        </p:spPr>
        <p:txBody>
          <a:bodyPr wrap="square" lIns="45720" rIns="45720" tIns="27432" bIns="27432" anchor="t">
            <a:spAutoFit/>
          </a:bodyPr>
          <a:lstStyle/>
          <a:p>
            <a:pPr algn="l"/>
            <a:r>
              <a:rPr sz="1200" b="0" i="0">
                <a:solidFill>
                  <a:srgbClr val="5B6B7B"/>
                </a:solidFill>
                <a:latin typeface="Calibri"/>
              </a:rPr>
              <a:t>Isolation Forest + Random Forest + rule / watchdog layer</a:t>
            </a:r>
          </a:p>
        </p:txBody>
      </p:sp>
      <p:sp>
        <p:nvSpPr>
          <p:cNvPr id="27" name="Rounded Rectangle 26"/>
          <p:cNvSpPr/>
          <p:nvPr/>
        </p:nvSpPr>
        <p:spPr>
          <a:xfrm>
            <a:off x="10241280" y="3566160"/>
            <a:ext cx="1188720" cy="347472"/>
          </a:xfrm>
          <a:prstGeom prst="roundRect">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41280" y="3566160"/>
            <a:ext cx="1188720" cy="347472"/>
          </a:xfrm>
          <a:prstGeom prst="rect">
            <a:avLst/>
          </a:prstGeom>
          <a:noFill/>
        </p:spPr>
        <p:txBody>
          <a:bodyPr wrap="square" lIns="45720" rIns="45720" tIns="27432" bIns="27432" anchor="ctr">
            <a:spAutoFit/>
          </a:bodyPr>
          <a:lstStyle/>
          <a:p>
            <a:pPr algn="ctr"/>
            <a:r>
              <a:rPr sz="1200" b="1" i="0">
                <a:solidFill>
                  <a:srgbClr val="2E9E6B"/>
                </a:solidFill>
                <a:latin typeface="Calibri"/>
              </a:rPr>
              <a:t>✓ Done (sim)</a:t>
            </a:r>
          </a:p>
        </p:txBody>
      </p:sp>
      <p:sp>
        <p:nvSpPr>
          <p:cNvPr id="29" name="Rectangle 28"/>
          <p:cNvSpPr/>
          <p:nvPr/>
        </p:nvSpPr>
        <p:spPr>
          <a:xfrm>
            <a:off x="548640" y="4270248"/>
            <a:ext cx="11064240" cy="841248"/>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70248"/>
            <a:ext cx="822960" cy="841248"/>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270248"/>
            <a:ext cx="822960" cy="841248"/>
          </a:xfrm>
          <a:prstGeom prst="rect">
            <a:avLst/>
          </a:prstGeom>
          <a:noFill/>
        </p:spPr>
        <p:txBody>
          <a:bodyPr wrap="square" lIns="45720" rIns="45720" tIns="27432" bIns="27432" anchor="ctr">
            <a:spAutoFit/>
          </a:bodyPr>
          <a:lstStyle/>
          <a:p>
            <a:pPr algn="ctr"/>
            <a:r>
              <a:rPr sz="2200" b="1" i="0">
                <a:solidFill>
                  <a:srgbClr val="0B1F33"/>
                </a:solidFill>
                <a:latin typeface="Calibri"/>
              </a:rPr>
              <a:t>04</a:t>
            </a:r>
          </a:p>
        </p:txBody>
      </p:sp>
      <p:sp>
        <p:nvSpPr>
          <p:cNvPr id="32" name="TextBox 31"/>
          <p:cNvSpPr txBox="1"/>
          <p:nvPr/>
        </p:nvSpPr>
        <p:spPr>
          <a:xfrm>
            <a:off x="1554480" y="4343400"/>
            <a:ext cx="7589520" cy="411480"/>
          </a:xfrm>
          <a:prstGeom prst="rect">
            <a:avLst/>
          </a:prstGeom>
          <a:noFill/>
        </p:spPr>
        <p:txBody>
          <a:bodyPr wrap="square" lIns="45720" rIns="45720" tIns="27432" bIns="27432" anchor="t">
            <a:spAutoFit/>
          </a:bodyPr>
          <a:lstStyle/>
          <a:p>
            <a:pPr algn="l"/>
            <a:r>
              <a:rPr sz="1600" b="1" i="0">
                <a:solidFill>
                  <a:srgbClr val="0B1F33"/>
                </a:solidFill>
                <a:latin typeface="Calibri"/>
              </a:rPr>
              <a:t>Compare ML against threshold detection</a:t>
            </a:r>
          </a:p>
        </p:txBody>
      </p:sp>
      <p:sp>
        <p:nvSpPr>
          <p:cNvPr id="33" name="TextBox 32"/>
          <p:cNvSpPr txBox="1"/>
          <p:nvPr/>
        </p:nvSpPr>
        <p:spPr>
          <a:xfrm>
            <a:off x="1554480" y="4727448"/>
            <a:ext cx="7589520" cy="320040"/>
          </a:xfrm>
          <a:prstGeom prst="rect">
            <a:avLst/>
          </a:prstGeom>
          <a:noFill/>
        </p:spPr>
        <p:txBody>
          <a:bodyPr wrap="square" lIns="45720" rIns="45720" tIns="27432" bIns="27432" anchor="t">
            <a:spAutoFit/>
          </a:bodyPr>
          <a:lstStyle/>
          <a:p>
            <a:pPr algn="l"/>
            <a:r>
              <a:rPr sz="1200" b="0" i="0">
                <a:solidFill>
                  <a:srgbClr val="5B6B7B"/>
                </a:solidFill>
                <a:latin typeface="Calibri"/>
              </a:rPr>
              <a:t>Precision, Recall, F1, FPR, per-fault recall and detection latency</a:t>
            </a:r>
          </a:p>
        </p:txBody>
      </p:sp>
      <p:sp>
        <p:nvSpPr>
          <p:cNvPr id="34" name="Rounded Rectangle 33"/>
          <p:cNvSpPr/>
          <p:nvPr/>
        </p:nvSpPr>
        <p:spPr>
          <a:xfrm>
            <a:off x="10241280" y="4517136"/>
            <a:ext cx="1188720" cy="347472"/>
          </a:xfrm>
          <a:prstGeom prst="roundRect">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41280" y="4517136"/>
            <a:ext cx="1188720" cy="347472"/>
          </a:xfrm>
          <a:prstGeom prst="rect">
            <a:avLst/>
          </a:prstGeom>
          <a:noFill/>
        </p:spPr>
        <p:txBody>
          <a:bodyPr wrap="square" lIns="45720" rIns="45720" tIns="27432" bIns="27432" anchor="ctr">
            <a:spAutoFit/>
          </a:bodyPr>
          <a:lstStyle/>
          <a:p>
            <a:pPr algn="ctr"/>
            <a:r>
              <a:rPr sz="1200" b="1" i="0">
                <a:solidFill>
                  <a:srgbClr val="2E9E6B"/>
                </a:solidFill>
                <a:latin typeface="Calibri"/>
              </a:rPr>
              <a:t>✓ Done (sim)</a:t>
            </a:r>
          </a:p>
        </p:txBody>
      </p:sp>
      <p:sp>
        <p:nvSpPr>
          <p:cNvPr id="36" name="Rectangle 35"/>
          <p:cNvSpPr/>
          <p:nvPr/>
        </p:nvSpPr>
        <p:spPr>
          <a:xfrm>
            <a:off x="548640" y="5221224"/>
            <a:ext cx="11064240" cy="841248"/>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5221224"/>
            <a:ext cx="822960" cy="841248"/>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5221224"/>
            <a:ext cx="822960" cy="841248"/>
          </a:xfrm>
          <a:prstGeom prst="rect">
            <a:avLst/>
          </a:prstGeom>
          <a:noFill/>
        </p:spPr>
        <p:txBody>
          <a:bodyPr wrap="square" lIns="45720" rIns="45720" tIns="27432" bIns="27432" anchor="ctr">
            <a:spAutoFit/>
          </a:bodyPr>
          <a:lstStyle/>
          <a:p>
            <a:pPr algn="ctr"/>
            <a:r>
              <a:rPr sz="2200" b="1" i="0">
                <a:solidFill>
                  <a:srgbClr val="FFFFFF"/>
                </a:solidFill>
                <a:latin typeface="Calibri"/>
              </a:rPr>
              <a:t>05</a:t>
            </a:r>
          </a:p>
        </p:txBody>
      </p:sp>
      <p:sp>
        <p:nvSpPr>
          <p:cNvPr id="39" name="TextBox 38"/>
          <p:cNvSpPr txBox="1"/>
          <p:nvPr/>
        </p:nvSpPr>
        <p:spPr>
          <a:xfrm>
            <a:off x="1554480" y="5294376"/>
            <a:ext cx="7589520" cy="411480"/>
          </a:xfrm>
          <a:prstGeom prst="rect">
            <a:avLst/>
          </a:prstGeom>
          <a:noFill/>
        </p:spPr>
        <p:txBody>
          <a:bodyPr wrap="square" lIns="45720" rIns="45720" tIns="27432" bIns="27432" anchor="t">
            <a:spAutoFit/>
          </a:bodyPr>
          <a:lstStyle/>
          <a:p>
            <a:pPr algn="l"/>
            <a:r>
              <a:rPr sz="1600" b="1" i="0">
                <a:solidFill>
                  <a:srgbClr val="0B1F33"/>
                </a:solidFill>
                <a:latin typeface="Calibri"/>
              </a:rPr>
              <a:t>Live dashboard for fault status, battery and network health</a:t>
            </a:r>
          </a:p>
        </p:txBody>
      </p:sp>
      <p:sp>
        <p:nvSpPr>
          <p:cNvPr id="40" name="TextBox 39"/>
          <p:cNvSpPr txBox="1"/>
          <p:nvPr/>
        </p:nvSpPr>
        <p:spPr>
          <a:xfrm>
            <a:off x="1554480" y="5678424"/>
            <a:ext cx="7589520" cy="320040"/>
          </a:xfrm>
          <a:prstGeom prst="rect">
            <a:avLst/>
          </a:prstGeom>
          <a:noFill/>
        </p:spPr>
        <p:txBody>
          <a:bodyPr wrap="square" lIns="45720" rIns="45720" tIns="27432" bIns="27432" anchor="t">
            <a:spAutoFit/>
          </a:bodyPr>
          <a:lstStyle/>
          <a:p>
            <a:pPr algn="l"/>
            <a:r>
              <a:rPr sz="1200" b="0" i="0">
                <a:solidFill>
                  <a:srgbClr val="5B6B7B"/>
                </a:solidFill>
                <a:latin typeface="Calibri"/>
              </a:rPr>
              <a:t>Streamlit, 3 tabs: faults, battery and delivery, latency</a:t>
            </a:r>
          </a:p>
        </p:txBody>
      </p:sp>
      <p:sp>
        <p:nvSpPr>
          <p:cNvPr id="41" name="Rounded Rectangle 40"/>
          <p:cNvSpPr/>
          <p:nvPr/>
        </p:nvSpPr>
        <p:spPr>
          <a:xfrm>
            <a:off x="10241280" y="5468112"/>
            <a:ext cx="1188720" cy="347472"/>
          </a:xfrm>
          <a:prstGeom prst="roundRect">
            <a:avLst/>
          </a:prstGeom>
          <a:solidFill>
            <a:srgbClr val="E3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241280" y="5468112"/>
            <a:ext cx="1188720" cy="347472"/>
          </a:xfrm>
          <a:prstGeom prst="rect">
            <a:avLst/>
          </a:prstGeom>
          <a:noFill/>
        </p:spPr>
        <p:txBody>
          <a:bodyPr wrap="square" lIns="45720" rIns="45720" tIns="27432" bIns="27432" anchor="ctr">
            <a:spAutoFit/>
          </a:bodyPr>
          <a:lstStyle/>
          <a:p>
            <a:pPr algn="ctr"/>
            <a:r>
              <a:rPr sz="1200" b="1" i="0">
                <a:solidFill>
                  <a:srgbClr val="2E9E6B"/>
                </a:solidFill>
                <a:latin typeface="Calibri"/>
              </a:rPr>
              <a:t>✓ Done (sim)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METHODOLOGY</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Approach: simulation first, hardware next</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4 / 17</a:t>
            </a:r>
          </a:p>
        </p:txBody>
      </p:sp>
      <p:sp>
        <p:nvSpPr>
          <p:cNvPr id="8" name="Rectangle 7"/>
          <p:cNvSpPr/>
          <p:nvPr/>
        </p:nvSpPr>
        <p:spPr>
          <a:xfrm>
            <a:off x="548640" y="1417320"/>
            <a:ext cx="11064240" cy="105156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607040" cy="868680"/>
          </a:xfrm>
          <a:prstGeom prst="rect">
            <a:avLst/>
          </a:prstGeom>
          <a:noFill/>
        </p:spPr>
        <p:txBody>
          <a:bodyPr wrap="square" lIns="45720" rIns="45720" tIns="27432" bIns="27432" anchor="ctr">
            <a:spAutoFit/>
          </a:bodyPr>
          <a:lstStyle/>
          <a:p>
            <a:pPr algn="l"/>
            <a:r>
              <a:rPr sz="1600" b="1" i="0">
                <a:solidFill>
                  <a:srgbClr val="F2A900"/>
                </a:solidFill>
                <a:latin typeface="Calibri"/>
              </a:rPr>
              <a:t>Why simulate? </a:t>
            </a:r>
            <a:r>
              <a:rPr sz="1600" b="0" i="0">
                <a:solidFill>
                  <a:srgbClr val="FFFFFF"/>
                </a:solidFill>
                <a:latin typeface="Calibri"/>
              </a:rPr>
              <a:t>Hardware procurement slipped, so we validated the full pipeline in software. Simulation also gives perfect fault labels and thousands of faults in minutes. Real ESP32 nodes only replace the data source.</a:t>
            </a:r>
          </a:p>
        </p:txBody>
      </p:sp>
      <p:sp>
        <p:nvSpPr>
          <p:cNvPr id="10" name="Rectangle 9"/>
          <p:cNvSpPr/>
          <p:nvPr/>
        </p:nvSpPr>
        <p:spPr>
          <a:xfrm>
            <a:off x="548640" y="2743200"/>
            <a:ext cx="2606040" cy="123444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743200"/>
            <a:ext cx="2606040" cy="347472"/>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761488"/>
            <a:ext cx="2377440" cy="310896"/>
          </a:xfrm>
          <a:prstGeom prst="rect">
            <a:avLst/>
          </a:prstGeom>
          <a:noFill/>
        </p:spPr>
        <p:txBody>
          <a:bodyPr wrap="square" lIns="45720" rIns="45720" tIns="27432" bIns="27432" anchor="t">
            <a:spAutoFit/>
          </a:bodyPr>
          <a:lstStyle/>
          <a:p>
            <a:pPr algn="l"/>
            <a:r>
              <a:rPr sz="1300" b="1" i="0">
                <a:solidFill>
                  <a:srgbClr val="FFFFFF"/>
                </a:solidFill>
                <a:latin typeface="Calibri"/>
              </a:rPr>
              <a:t>M1</a:t>
            </a:r>
          </a:p>
        </p:txBody>
      </p:sp>
      <p:sp>
        <p:nvSpPr>
          <p:cNvPr id="13" name="TextBox 12"/>
          <p:cNvSpPr txBox="1"/>
          <p:nvPr/>
        </p:nvSpPr>
        <p:spPr>
          <a:xfrm>
            <a:off x="640080" y="3154680"/>
            <a:ext cx="2423160" cy="365760"/>
          </a:xfrm>
          <a:prstGeom prst="rect">
            <a:avLst/>
          </a:prstGeom>
          <a:noFill/>
        </p:spPr>
        <p:txBody>
          <a:bodyPr wrap="square" lIns="45720" rIns="45720" tIns="27432" bIns="27432" anchor="t">
            <a:spAutoFit/>
          </a:bodyPr>
          <a:lstStyle/>
          <a:p>
            <a:pPr algn="l"/>
            <a:r>
              <a:rPr sz="1600" b="1" i="0">
                <a:solidFill>
                  <a:srgbClr val="0B1F33"/>
                </a:solidFill>
                <a:latin typeface="Calibri"/>
              </a:rPr>
              <a:t>Normal data</a:t>
            </a:r>
          </a:p>
        </p:txBody>
      </p:sp>
      <p:sp>
        <p:nvSpPr>
          <p:cNvPr id="14" name="TextBox 13"/>
          <p:cNvSpPr txBox="1"/>
          <p:nvPr/>
        </p:nvSpPr>
        <p:spPr>
          <a:xfrm>
            <a:off x="640080" y="3538728"/>
            <a:ext cx="2423160" cy="365760"/>
          </a:xfrm>
          <a:prstGeom prst="rect">
            <a:avLst/>
          </a:prstGeom>
          <a:noFill/>
        </p:spPr>
        <p:txBody>
          <a:bodyPr wrap="square" lIns="45720" rIns="45720" tIns="27432" bIns="27432" anchor="t">
            <a:spAutoFit/>
          </a:bodyPr>
          <a:lstStyle/>
          <a:p>
            <a:pPr algn="l"/>
            <a:r>
              <a:rPr sz="1200" b="0" i="0">
                <a:solidFill>
                  <a:srgbClr val="5B6B7B"/>
                </a:solidFill>
                <a:latin typeface="Calibri"/>
              </a:rPr>
              <a:t>5 nodes, daily patterns</a:t>
            </a:r>
          </a:p>
        </p:txBody>
      </p:sp>
      <p:sp>
        <p:nvSpPr>
          <p:cNvPr id="15" name="Rectangle 14"/>
          <p:cNvSpPr/>
          <p:nvPr/>
        </p:nvSpPr>
        <p:spPr>
          <a:xfrm>
            <a:off x="3337560" y="2743200"/>
            <a:ext cx="2606040" cy="123444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7560" y="2743200"/>
            <a:ext cx="2606040" cy="347472"/>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29000" y="2761488"/>
            <a:ext cx="2377440" cy="310896"/>
          </a:xfrm>
          <a:prstGeom prst="rect">
            <a:avLst/>
          </a:prstGeom>
          <a:noFill/>
        </p:spPr>
        <p:txBody>
          <a:bodyPr wrap="square" lIns="45720" rIns="45720" tIns="27432" bIns="27432" anchor="t">
            <a:spAutoFit/>
          </a:bodyPr>
          <a:lstStyle/>
          <a:p>
            <a:pPr algn="l"/>
            <a:r>
              <a:rPr sz="1300" b="1" i="0">
                <a:solidFill>
                  <a:srgbClr val="FFFFFF"/>
                </a:solidFill>
                <a:latin typeface="Calibri"/>
              </a:rPr>
              <a:t>M2</a:t>
            </a:r>
          </a:p>
        </p:txBody>
      </p:sp>
      <p:sp>
        <p:nvSpPr>
          <p:cNvPr id="18" name="TextBox 17"/>
          <p:cNvSpPr txBox="1"/>
          <p:nvPr/>
        </p:nvSpPr>
        <p:spPr>
          <a:xfrm>
            <a:off x="3429000" y="3154680"/>
            <a:ext cx="2423160" cy="365760"/>
          </a:xfrm>
          <a:prstGeom prst="rect">
            <a:avLst/>
          </a:prstGeom>
          <a:noFill/>
        </p:spPr>
        <p:txBody>
          <a:bodyPr wrap="square" lIns="45720" rIns="45720" tIns="27432" bIns="27432" anchor="t">
            <a:spAutoFit/>
          </a:bodyPr>
          <a:lstStyle/>
          <a:p>
            <a:pPr algn="l"/>
            <a:r>
              <a:rPr sz="1600" b="1" i="0">
                <a:solidFill>
                  <a:srgbClr val="0B1F33"/>
                </a:solidFill>
                <a:latin typeface="Calibri"/>
              </a:rPr>
              <a:t>Fault injection</a:t>
            </a:r>
          </a:p>
        </p:txBody>
      </p:sp>
      <p:sp>
        <p:nvSpPr>
          <p:cNvPr id="19" name="TextBox 18"/>
          <p:cNvSpPr txBox="1"/>
          <p:nvPr/>
        </p:nvSpPr>
        <p:spPr>
          <a:xfrm>
            <a:off x="3429000" y="3538728"/>
            <a:ext cx="2423160" cy="365760"/>
          </a:xfrm>
          <a:prstGeom prst="rect">
            <a:avLst/>
          </a:prstGeom>
          <a:noFill/>
        </p:spPr>
        <p:txBody>
          <a:bodyPr wrap="square" lIns="45720" rIns="45720" tIns="27432" bIns="27432" anchor="t">
            <a:spAutoFit/>
          </a:bodyPr>
          <a:lstStyle/>
          <a:p>
            <a:pPr algn="l"/>
            <a:r>
              <a:rPr sz="1200" b="0" i="0">
                <a:solidFill>
                  <a:srgbClr val="5B6B7B"/>
                </a:solidFill>
                <a:latin typeface="Calibri"/>
              </a:rPr>
              <a:t>5 fault types, labels</a:t>
            </a:r>
          </a:p>
        </p:txBody>
      </p:sp>
      <p:sp>
        <p:nvSpPr>
          <p:cNvPr id="20" name="Rectangle 19"/>
          <p:cNvSpPr/>
          <p:nvPr/>
        </p:nvSpPr>
        <p:spPr>
          <a:xfrm>
            <a:off x="6126479" y="2743200"/>
            <a:ext cx="2606040" cy="123444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79" y="2743200"/>
            <a:ext cx="2606040" cy="347472"/>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19" y="2761488"/>
            <a:ext cx="2377440" cy="310896"/>
          </a:xfrm>
          <a:prstGeom prst="rect">
            <a:avLst/>
          </a:prstGeom>
          <a:noFill/>
        </p:spPr>
        <p:txBody>
          <a:bodyPr wrap="square" lIns="45720" rIns="45720" tIns="27432" bIns="27432" anchor="t">
            <a:spAutoFit/>
          </a:bodyPr>
          <a:lstStyle/>
          <a:p>
            <a:pPr algn="l"/>
            <a:r>
              <a:rPr sz="1300" b="1" i="0">
                <a:solidFill>
                  <a:srgbClr val="FFFFFF"/>
                </a:solidFill>
                <a:latin typeface="Calibri"/>
              </a:rPr>
              <a:t>M3</a:t>
            </a:r>
          </a:p>
        </p:txBody>
      </p:sp>
      <p:sp>
        <p:nvSpPr>
          <p:cNvPr id="23" name="TextBox 22"/>
          <p:cNvSpPr txBox="1"/>
          <p:nvPr/>
        </p:nvSpPr>
        <p:spPr>
          <a:xfrm>
            <a:off x="6217919" y="3154680"/>
            <a:ext cx="2423160" cy="365760"/>
          </a:xfrm>
          <a:prstGeom prst="rect">
            <a:avLst/>
          </a:prstGeom>
          <a:noFill/>
        </p:spPr>
        <p:txBody>
          <a:bodyPr wrap="square" lIns="45720" rIns="45720" tIns="27432" bIns="27432" anchor="t">
            <a:spAutoFit/>
          </a:bodyPr>
          <a:lstStyle/>
          <a:p>
            <a:pPr algn="l"/>
            <a:r>
              <a:rPr sz="1600" b="1" i="0">
                <a:solidFill>
                  <a:srgbClr val="0B1F33"/>
                </a:solidFill>
                <a:latin typeface="Calibri"/>
              </a:rPr>
              <a:t>Detectors</a:t>
            </a:r>
          </a:p>
        </p:txBody>
      </p:sp>
      <p:sp>
        <p:nvSpPr>
          <p:cNvPr id="24" name="TextBox 23"/>
          <p:cNvSpPr txBox="1"/>
          <p:nvPr/>
        </p:nvSpPr>
        <p:spPr>
          <a:xfrm>
            <a:off x="6217919" y="3538728"/>
            <a:ext cx="2423160" cy="365760"/>
          </a:xfrm>
          <a:prstGeom prst="rect">
            <a:avLst/>
          </a:prstGeom>
          <a:noFill/>
        </p:spPr>
        <p:txBody>
          <a:bodyPr wrap="square" lIns="45720" rIns="45720" tIns="27432" bIns="27432" anchor="t">
            <a:spAutoFit/>
          </a:bodyPr>
          <a:lstStyle/>
          <a:p>
            <a:pPr algn="l"/>
            <a:r>
              <a:rPr sz="1200" b="0" i="0">
                <a:solidFill>
                  <a:srgbClr val="5B6B7B"/>
                </a:solidFill>
                <a:latin typeface="Calibri"/>
              </a:rPr>
              <a:t>Threshold, IF, RF</a:t>
            </a:r>
          </a:p>
        </p:txBody>
      </p:sp>
      <p:sp>
        <p:nvSpPr>
          <p:cNvPr id="25" name="Rectangle 24"/>
          <p:cNvSpPr/>
          <p:nvPr/>
        </p:nvSpPr>
        <p:spPr>
          <a:xfrm>
            <a:off x="8915399" y="2743200"/>
            <a:ext cx="2606040" cy="123444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15399" y="2743200"/>
            <a:ext cx="2606040" cy="347472"/>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06839" y="2761488"/>
            <a:ext cx="2377440" cy="310896"/>
          </a:xfrm>
          <a:prstGeom prst="rect">
            <a:avLst/>
          </a:prstGeom>
          <a:noFill/>
        </p:spPr>
        <p:txBody>
          <a:bodyPr wrap="square" lIns="45720" rIns="45720" tIns="27432" bIns="27432" anchor="t">
            <a:spAutoFit/>
          </a:bodyPr>
          <a:lstStyle/>
          <a:p>
            <a:pPr algn="l"/>
            <a:r>
              <a:rPr sz="1300" b="1" i="0">
                <a:solidFill>
                  <a:srgbClr val="FFFFFF"/>
                </a:solidFill>
                <a:latin typeface="Calibri"/>
              </a:rPr>
              <a:t>M4</a:t>
            </a:r>
          </a:p>
        </p:txBody>
      </p:sp>
      <p:sp>
        <p:nvSpPr>
          <p:cNvPr id="28" name="TextBox 27"/>
          <p:cNvSpPr txBox="1"/>
          <p:nvPr/>
        </p:nvSpPr>
        <p:spPr>
          <a:xfrm>
            <a:off x="9006839" y="3154680"/>
            <a:ext cx="2423160" cy="365760"/>
          </a:xfrm>
          <a:prstGeom prst="rect">
            <a:avLst/>
          </a:prstGeom>
          <a:noFill/>
        </p:spPr>
        <p:txBody>
          <a:bodyPr wrap="square" lIns="45720" rIns="45720" tIns="27432" bIns="27432" anchor="t">
            <a:spAutoFit/>
          </a:bodyPr>
          <a:lstStyle/>
          <a:p>
            <a:pPr algn="l"/>
            <a:r>
              <a:rPr sz="1600" b="1" i="0">
                <a:solidFill>
                  <a:srgbClr val="0B1F33"/>
                </a:solidFill>
                <a:latin typeface="Calibri"/>
              </a:rPr>
              <a:t>Dashboard</a:t>
            </a:r>
          </a:p>
        </p:txBody>
      </p:sp>
      <p:sp>
        <p:nvSpPr>
          <p:cNvPr id="29" name="TextBox 28"/>
          <p:cNvSpPr txBox="1"/>
          <p:nvPr/>
        </p:nvSpPr>
        <p:spPr>
          <a:xfrm>
            <a:off x="9006839" y="3538728"/>
            <a:ext cx="2423160" cy="365760"/>
          </a:xfrm>
          <a:prstGeom prst="rect">
            <a:avLst/>
          </a:prstGeom>
          <a:noFill/>
        </p:spPr>
        <p:txBody>
          <a:bodyPr wrap="square" lIns="45720" rIns="45720" tIns="27432" bIns="27432" anchor="t">
            <a:spAutoFit/>
          </a:bodyPr>
          <a:lstStyle/>
          <a:p>
            <a:pPr algn="l"/>
            <a:r>
              <a:rPr sz="1200" b="0" i="0">
                <a:solidFill>
                  <a:srgbClr val="5B6B7B"/>
                </a:solidFill>
                <a:latin typeface="Calibri"/>
              </a:rPr>
              <a:t>Streamlit</a:t>
            </a:r>
          </a:p>
        </p:txBody>
      </p:sp>
      <p:sp>
        <p:nvSpPr>
          <p:cNvPr id="30" name="Rectangle 29"/>
          <p:cNvSpPr/>
          <p:nvPr/>
        </p:nvSpPr>
        <p:spPr>
          <a:xfrm>
            <a:off x="548640" y="4160520"/>
            <a:ext cx="2606040" cy="123444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160520"/>
            <a:ext cx="2606040" cy="347472"/>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4178807"/>
            <a:ext cx="2377440" cy="310896"/>
          </a:xfrm>
          <a:prstGeom prst="rect">
            <a:avLst/>
          </a:prstGeom>
          <a:noFill/>
        </p:spPr>
        <p:txBody>
          <a:bodyPr wrap="square" lIns="45720" rIns="45720" tIns="27432" bIns="27432" anchor="t">
            <a:spAutoFit/>
          </a:bodyPr>
          <a:lstStyle/>
          <a:p>
            <a:pPr algn="l"/>
            <a:r>
              <a:rPr sz="1300" b="1" i="0">
                <a:solidFill>
                  <a:srgbClr val="FFFFFF"/>
                </a:solidFill>
                <a:latin typeface="Calibri"/>
              </a:rPr>
              <a:t>M5</a:t>
            </a:r>
          </a:p>
        </p:txBody>
      </p:sp>
      <p:sp>
        <p:nvSpPr>
          <p:cNvPr id="33" name="TextBox 32"/>
          <p:cNvSpPr txBox="1"/>
          <p:nvPr/>
        </p:nvSpPr>
        <p:spPr>
          <a:xfrm>
            <a:off x="640080" y="4572000"/>
            <a:ext cx="2423160" cy="365760"/>
          </a:xfrm>
          <a:prstGeom prst="rect">
            <a:avLst/>
          </a:prstGeom>
          <a:noFill/>
        </p:spPr>
        <p:txBody>
          <a:bodyPr wrap="square" lIns="45720" rIns="45720" tIns="27432" bIns="27432" anchor="t">
            <a:spAutoFit/>
          </a:bodyPr>
          <a:lstStyle/>
          <a:p>
            <a:pPr algn="l"/>
            <a:r>
              <a:rPr sz="1600" b="1" i="0">
                <a:solidFill>
                  <a:srgbClr val="0B1F33"/>
                </a:solidFill>
                <a:latin typeface="Calibri"/>
              </a:rPr>
              <a:t>MQTT layer</a:t>
            </a:r>
          </a:p>
        </p:txBody>
      </p:sp>
      <p:sp>
        <p:nvSpPr>
          <p:cNvPr id="34" name="TextBox 33"/>
          <p:cNvSpPr txBox="1"/>
          <p:nvPr/>
        </p:nvSpPr>
        <p:spPr>
          <a:xfrm>
            <a:off x="640080" y="4956048"/>
            <a:ext cx="2423160" cy="365760"/>
          </a:xfrm>
          <a:prstGeom prst="rect">
            <a:avLst/>
          </a:prstGeom>
          <a:noFill/>
        </p:spPr>
        <p:txBody>
          <a:bodyPr wrap="square" lIns="45720" rIns="45720" tIns="27432" bIns="27432" anchor="t">
            <a:spAutoFit/>
          </a:bodyPr>
          <a:lstStyle/>
          <a:p>
            <a:pPr algn="l"/>
            <a:r>
              <a:rPr sz="1200" b="0" i="0">
                <a:solidFill>
                  <a:srgbClr val="5B6B7B"/>
                </a:solidFill>
                <a:latin typeface="Calibri"/>
              </a:rPr>
              <a:t>Broker + collector</a:t>
            </a:r>
          </a:p>
        </p:txBody>
      </p:sp>
      <p:sp>
        <p:nvSpPr>
          <p:cNvPr id="35" name="Rectangle 34"/>
          <p:cNvSpPr/>
          <p:nvPr/>
        </p:nvSpPr>
        <p:spPr>
          <a:xfrm>
            <a:off x="3337560" y="4160520"/>
            <a:ext cx="2606040" cy="123444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37560" y="4160520"/>
            <a:ext cx="2606040" cy="347472"/>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29000" y="4178807"/>
            <a:ext cx="2377440" cy="310896"/>
          </a:xfrm>
          <a:prstGeom prst="rect">
            <a:avLst/>
          </a:prstGeom>
          <a:noFill/>
        </p:spPr>
        <p:txBody>
          <a:bodyPr wrap="square" lIns="45720" rIns="45720" tIns="27432" bIns="27432" anchor="t">
            <a:spAutoFit/>
          </a:bodyPr>
          <a:lstStyle/>
          <a:p>
            <a:pPr algn="l"/>
            <a:r>
              <a:rPr sz="1300" b="1" i="0">
                <a:solidFill>
                  <a:srgbClr val="FFFFFF"/>
                </a:solidFill>
                <a:latin typeface="Calibri"/>
              </a:rPr>
              <a:t>M7</a:t>
            </a:r>
          </a:p>
        </p:txBody>
      </p:sp>
      <p:sp>
        <p:nvSpPr>
          <p:cNvPr id="38" name="TextBox 37"/>
          <p:cNvSpPr txBox="1"/>
          <p:nvPr/>
        </p:nvSpPr>
        <p:spPr>
          <a:xfrm>
            <a:off x="3429000" y="4572000"/>
            <a:ext cx="2423160" cy="365760"/>
          </a:xfrm>
          <a:prstGeom prst="rect">
            <a:avLst/>
          </a:prstGeom>
          <a:noFill/>
        </p:spPr>
        <p:txBody>
          <a:bodyPr wrap="square" lIns="45720" rIns="45720" tIns="27432" bIns="27432" anchor="t">
            <a:spAutoFit/>
          </a:bodyPr>
          <a:lstStyle/>
          <a:p>
            <a:pPr algn="l"/>
            <a:r>
              <a:rPr sz="1600" b="1" i="0">
                <a:solidFill>
                  <a:srgbClr val="0B1F33"/>
                </a:solidFill>
                <a:latin typeface="Calibri"/>
              </a:rPr>
              <a:t>Network layer</a:t>
            </a:r>
          </a:p>
        </p:txBody>
      </p:sp>
      <p:sp>
        <p:nvSpPr>
          <p:cNvPr id="39" name="TextBox 38"/>
          <p:cNvSpPr txBox="1"/>
          <p:nvPr/>
        </p:nvSpPr>
        <p:spPr>
          <a:xfrm>
            <a:off x="3429000" y="4956048"/>
            <a:ext cx="2423160" cy="365760"/>
          </a:xfrm>
          <a:prstGeom prst="rect">
            <a:avLst/>
          </a:prstGeom>
          <a:noFill/>
        </p:spPr>
        <p:txBody>
          <a:bodyPr wrap="square" lIns="45720" rIns="45720" tIns="27432" bIns="27432" anchor="t">
            <a:spAutoFit/>
          </a:bodyPr>
          <a:lstStyle/>
          <a:p>
            <a:pPr algn="l"/>
            <a:r>
              <a:rPr sz="1200" b="0" i="0">
                <a:solidFill>
                  <a:srgbClr val="5B6B7B"/>
                </a:solidFill>
                <a:latin typeface="Calibri"/>
              </a:rPr>
              <a:t>Energy, relays, loss</a:t>
            </a:r>
          </a:p>
        </p:txBody>
      </p:sp>
      <p:sp>
        <p:nvSpPr>
          <p:cNvPr id="40" name="Rectangle 39"/>
          <p:cNvSpPr/>
          <p:nvPr/>
        </p:nvSpPr>
        <p:spPr>
          <a:xfrm>
            <a:off x="6126479" y="4160520"/>
            <a:ext cx="2606040" cy="123444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26479" y="4160520"/>
            <a:ext cx="2606040" cy="347472"/>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19" y="4178807"/>
            <a:ext cx="2377440" cy="310896"/>
          </a:xfrm>
          <a:prstGeom prst="rect">
            <a:avLst/>
          </a:prstGeom>
          <a:noFill/>
        </p:spPr>
        <p:txBody>
          <a:bodyPr wrap="square" lIns="45720" rIns="45720" tIns="27432" bIns="27432" anchor="t">
            <a:spAutoFit/>
          </a:bodyPr>
          <a:lstStyle/>
          <a:p>
            <a:pPr algn="l"/>
            <a:r>
              <a:rPr sz="1300" b="1" i="0">
                <a:solidFill>
                  <a:srgbClr val="FFFFFF"/>
                </a:solidFill>
                <a:latin typeface="Calibri"/>
              </a:rPr>
              <a:t>M8</a:t>
            </a:r>
          </a:p>
        </p:txBody>
      </p:sp>
      <p:sp>
        <p:nvSpPr>
          <p:cNvPr id="43" name="TextBox 42"/>
          <p:cNvSpPr txBox="1"/>
          <p:nvPr/>
        </p:nvSpPr>
        <p:spPr>
          <a:xfrm>
            <a:off x="6217919" y="4572000"/>
            <a:ext cx="2423160" cy="365760"/>
          </a:xfrm>
          <a:prstGeom prst="rect">
            <a:avLst/>
          </a:prstGeom>
          <a:noFill/>
        </p:spPr>
        <p:txBody>
          <a:bodyPr wrap="square" lIns="45720" rIns="45720" tIns="27432" bIns="27432" anchor="t">
            <a:spAutoFit/>
          </a:bodyPr>
          <a:lstStyle/>
          <a:p>
            <a:pPr algn="l"/>
            <a:r>
              <a:rPr sz="1600" b="1" i="0">
                <a:solidFill>
                  <a:srgbClr val="0B1F33"/>
                </a:solidFill>
                <a:latin typeface="Calibri"/>
              </a:rPr>
              <a:t>Hybrid + latency</a:t>
            </a:r>
          </a:p>
        </p:txBody>
      </p:sp>
      <p:sp>
        <p:nvSpPr>
          <p:cNvPr id="44" name="TextBox 43"/>
          <p:cNvSpPr txBox="1"/>
          <p:nvPr/>
        </p:nvSpPr>
        <p:spPr>
          <a:xfrm>
            <a:off x="6217919" y="4956048"/>
            <a:ext cx="2423160" cy="365760"/>
          </a:xfrm>
          <a:prstGeom prst="rect">
            <a:avLst/>
          </a:prstGeom>
          <a:noFill/>
        </p:spPr>
        <p:txBody>
          <a:bodyPr wrap="square" lIns="45720" rIns="45720" tIns="27432" bIns="27432" anchor="t">
            <a:spAutoFit/>
          </a:bodyPr>
          <a:lstStyle/>
          <a:p>
            <a:pPr algn="l"/>
            <a:r>
              <a:rPr sz="1200" b="0" i="0">
                <a:solidFill>
                  <a:srgbClr val="5B6B7B"/>
                </a:solidFill>
                <a:latin typeface="Calibri"/>
              </a:rPr>
              <a:t>Rules + ML</a:t>
            </a:r>
          </a:p>
        </p:txBody>
      </p:sp>
      <p:sp>
        <p:nvSpPr>
          <p:cNvPr id="45" name="Rectangle 44"/>
          <p:cNvSpPr/>
          <p:nvPr/>
        </p:nvSpPr>
        <p:spPr>
          <a:xfrm>
            <a:off x="8915399" y="4160520"/>
            <a:ext cx="2606040" cy="123444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915399" y="4160520"/>
            <a:ext cx="2606040" cy="347472"/>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006839" y="4178807"/>
            <a:ext cx="2377440" cy="310896"/>
          </a:xfrm>
          <a:prstGeom prst="rect">
            <a:avLst/>
          </a:prstGeom>
          <a:noFill/>
        </p:spPr>
        <p:txBody>
          <a:bodyPr wrap="square" lIns="45720" rIns="45720" tIns="27432" bIns="27432" anchor="t">
            <a:spAutoFit/>
          </a:bodyPr>
          <a:lstStyle/>
          <a:p>
            <a:pPr algn="l"/>
            <a:r>
              <a:rPr sz="1300" b="1" i="0">
                <a:solidFill>
                  <a:srgbClr val="FFFFFF"/>
                </a:solidFill>
                <a:latin typeface="Calibri"/>
              </a:rPr>
              <a:t>M10</a:t>
            </a:r>
          </a:p>
        </p:txBody>
      </p:sp>
      <p:sp>
        <p:nvSpPr>
          <p:cNvPr id="48" name="TextBox 47"/>
          <p:cNvSpPr txBox="1"/>
          <p:nvPr/>
        </p:nvSpPr>
        <p:spPr>
          <a:xfrm>
            <a:off x="9006839" y="4572000"/>
            <a:ext cx="2423160" cy="365760"/>
          </a:xfrm>
          <a:prstGeom prst="rect">
            <a:avLst/>
          </a:prstGeom>
          <a:noFill/>
        </p:spPr>
        <p:txBody>
          <a:bodyPr wrap="square" lIns="45720" rIns="45720" tIns="27432" bIns="27432" anchor="t">
            <a:spAutoFit/>
          </a:bodyPr>
          <a:lstStyle/>
          <a:p>
            <a:pPr algn="l"/>
            <a:r>
              <a:rPr sz="1600" b="1" i="0">
                <a:solidFill>
                  <a:srgbClr val="0B1F33"/>
                </a:solidFill>
                <a:latin typeface="Calibri"/>
              </a:rPr>
              <a:t>Robustness</a:t>
            </a:r>
          </a:p>
        </p:txBody>
      </p:sp>
      <p:sp>
        <p:nvSpPr>
          <p:cNvPr id="49" name="TextBox 48"/>
          <p:cNvSpPr txBox="1"/>
          <p:nvPr/>
        </p:nvSpPr>
        <p:spPr>
          <a:xfrm>
            <a:off x="9006839" y="4956048"/>
            <a:ext cx="2423160" cy="365760"/>
          </a:xfrm>
          <a:prstGeom prst="rect">
            <a:avLst/>
          </a:prstGeom>
          <a:noFill/>
        </p:spPr>
        <p:txBody>
          <a:bodyPr wrap="square" lIns="45720" rIns="45720" tIns="27432" bIns="27432" anchor="t">
            <a:spAutoFit/>
          </a:bodyPr>
          <a:lstStyle/>
          <a:p>
            <a:pPr algn="l"/>
            <a:r>
              <a:rPr sz="1200" b="0" i="0">
                <a:solidFill>
                  <a:srgbClr val="5B6B7B"/>
                </a:solidFill>
                <a:latin typeface="Calibri"/>
              </a:rPr>
              <a:t>Noise, cutoff sweeps</a:t>
            </a:r>
          </a:p>
        </p:txBody>
      </p:sp>
      <p:sp>
        <p:nvSpPr>
          <p:cNvPr id="50" name="TextBox 49"/>
          <p:cNvSpPr txBox="1"/>
          <p:nvPr/>
        </p:nvSpPr>
        <p:spPr>
          <a:xfrm>
            <a:off x="548640" y="5669280"/>
            <a:ext cx="11064240" cy="548640"/>
          </a:xfrm>
          <a:prstGeom prst="rect">
            <a:avLst/>
          </a:prstGeom>
          <a:noFill/>
        </p:spPr>
        <p:txBody>
          <a:bodyPr wrap="square" lIns="45720" rIns="45720" tIns="27432" bIns="27432" anchor="t">
            <a:spAutoFit/>
          </a:bodyPr>
          <a:lstStyle/>
          <a:p>
            <a:pPr algn="l"/>
            <a:r>
              <a:rPr sz="1400" b="1" i="0">
                <a:solidFill>
                  <a:srgbClr val="0B1F33"/>
                </a:solidFill>
                <a:latin typeface="Calibri"/>
              </a:rPr>
              <a:t>Plus: Wokwi ESP32 firmware (DHT22, PIR, LDR) publishing the same JSON schema over MQTT.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ARCHITECTURE</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System architecture</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5 / 17</a:t>
            </a:r>
          </a:p>
        </p:txBody>
      </p:sp>
      <p:sp>
        <p:nvSpPr>
          <p:cNvPr id="8" name="Rectangle 7"/>
          <p:cNvSpPr/>
          <p:nvPr/>
        </p:nvSpPr>
        <p:spPr>
          <a:xfrm>
            <a:off x="548640" y="1828800"/>
            <a:ext cx="1645920" cy="155448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20240"/>
            <a:ext cx="1645920" cy="411480"/>
          </a:xfrm>
          <a:prstGeom prst="rect">
            <a:avLst/>
          </a:prstGeom>
          <a:noFill/>
        </p:spPr>
        <p:txBody>
          <a:bodyPr wrap="square" lIns="45720" rIns="45720" tIns="27432" bIns="27432" anchor="t">
            <a:spAutoFit/>
          </a:bodyPr>
          <a:lstStyle/>
          <a:p>
            <a:pPr algn="ctr"/>
            <a:r>
              <a:rPr sz="1500" b="1" i="0">
                <a:solidFill>
                  <a:srgbClr val="FFFFFF"/>
                </a:solidFill>
                <a:latin typeface="Calibri"/>
              </a:rPr>
              <a:t>Sensor nodes</a:t>
            </a:r>
          </a:p>
        </p:txBody>
      </p:sp>
      <p:sp>
        <p:nvSpPr>
          <p:cNvPr id="10" name="TextBox 9"/>
          <p:cNvSpPr txBox="1"/>
          <p:nvPr/>
        </p:nvSpPr>
        <p:spPr>
          <a:xfrm>
            <a:off x="594360" y="2423160"/>
            <a:ext cx="1554480" cy="822960"/>
          </a:xfrm>
          <a:prstGeom prst="rect">
            <a:avLst/>
          </a:prstGeom>
          <a:noFill/>
        </p:spPr>
        <p:txBody>
          <a:bodyPr wrap="square" lIns="45720" rIns="45720" tIns="27432" bIns="27432" anchor="t">
            <a:spAutoFit/>
          </a:bodyPr>
          <a:lstStyle/>
          <a:p>
            <a:pPr algn="ctr"/>
            <a:r>
              <a:rPr sz="1200" b="0" i="0">
                <a:solidFill>
                  <a:srgbClr val="E6EEF5"/>
                </a:solidFill>
                <a:latin typeface="Calibri"/>
              </a:rPr>
              <a:t>N1–N5</a:t>
            </a:r>
          </a:p>
          <a:p>
            <a:pPr algn="ctr"/>
            <a:r>
              <a:rPr sz="1200" b="0" i="0">
                <a:solidFill>
                  <a:srgbClr val="E6EEF5"/>
                </a:solidFill>
                <a:latin typeface="Calibri"/>
              </a:rPr>
              <a:t>DHT22 · PIR · LDR</a:t>
            </a:r>
          </a:p>
        </p:txBody>
      </p:sp>
      <p:sp>
        <p:nvSpPr>
          <p:cNvPr id="11" name="TextBox 10"/>
          <p:cNvSpPr txBox="1"/>
          <p:nvPr/>
        </p:nvSpPr>
        <p:spPr>
          <a:xfrm>
            <a:off x="2176272" y="2331720"/>
            <a:ext cx="274320" cy="365760"/>
          </a:xfrm>
          <a:prstGeom prst="rect">
            <a:avLst/>
          </a:prstGeom>
          <a:noFill/>
        </p:spPr>
        <p:txBody>
          <a:bodyPr wrap="square" lIns="45720" rIns="45720" tIns="27432" bIns="27432" anchor="t">
            <a:spAutoFit/>
          </a:bodyPr>
          <a:lstStyle/>
          <a:p>
            <a:pPr algn="ctr"/>
            <a:r>
              <a:rPr sz="2200" b="1" i="0">
                <a:solidFill>
                  <a:srgbClr val="F2A900"/>
                </a:solidFill>
                <a:latin typeface="Calibri"/>
              </a:rPr>
              <a:t>▸</a:t>
            </a:r>
          </a:p>
        </p:txBody>
      </p:sp>
      <p:sp>
        <p:nvSpPr>
          <p:cNvPr id="12" name="Rectangle 11"/>
          <p:cNvSpPr/>
          <p:nvPr/>
        </p:nvSpPr>
        <p:spPr>
          <a:xfrm>
            <a:off x="2423160" y="1828800"/>
            <a:ext cx="1645920" cy="155448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23160" y="1920240"/>
            <a:ext cx="1645920" cy="411480"/>
          </a:xfrm>
          <a:prstGeom prst="rect">
            <a:avLst/>
          </a:prstGeom>
          <a:noFill/>
        </p:spPr>
        <p:txBody>
          <a:bodyPr wrap="square" lIns="45720" rIns="45720" tIns="27432" bIns="27432" anchor="t">
            <a:spAutoFit/>
          </a:bodyPr>
          <a:lstStyle/>
          <a:p>
            <a:pPr algn="ctr"/>
            <a:r>
              <a:rPr sz="1500" b="1" i="0">
                <a:solidFill>
                  <a:srgbClr val="FFFFFF"/>
                </a:solidFill>
                <a:latin typeface="Calibri"/>
              </a:rPr>
              <a:t>Sink + MQTT</a:t>
            </a:r>
          </a:p>
        </p:txBody>
      </p:sp>
      <p:sp>
        <p:nvSpPr>
          <p:cNvPr id="14" name="TextBox 13"/>
          <p:cNvSpPr txBox="1"/>
          <p:nvPr/>
        </p:nvSpPr>
        <p:spPr>
          <a:xfrm>
            <a:off x="2468879" y="2423160"/>
            <a:ext cx="1554480" cy="822960"/>
          </a:xfrm>
          <a:prstGeom prst="rect">
            <a:avLst/>
          </a:prstGeom>
          <a:noFill/>
        </p:spPr>
        <p:txBody>
          <a:bodyPr wrap="square" lIns="45720" rIns="45720" tIns="27432" bIns="27432" anchor="t">
            <a:spAutoFit/>
          </a:bodyPr>
          <a:lstStyle/>
          <a:p>
            <a:pPr algn="ctr"/>
            <a:r>
              <a:rPr sz="1200" b="0" i="0">
                <a:solidFill>
                  <a:srgbClr val="E6EEF5"/>
                </a:solidFill>
                <a:latin typeface="Calibri"/>
              </a:rPr>
              <a:t>Mosquitto broker</a:t>
            </a:r>
          </a:p>
          <a:p>
            <a:pPr algn="ctr"/>
            <a:r>
              <a:rPr sz="1200" b="0" i="0">
                <a:solidFill>
                  <a:srgbClr val="E6EEF5"/>
                </a:solidFill>
                <a:latin typeface="Calibri"/>
              </a:rPr>
              <a:t>wsn/+/data</a:t>
            </a:r>
          </a:p>
        </p:txBody>
      </p:sp>
      <p:sp>
        <p:nvSpPr>
          <p:cNvPr id="15" name="TextBox 14"/>
          <p:cNvSpPr txBox="1"/>
          <p:nvPr/>
        </p:nvSpPr>
        <p:spPr>
          <a:xfrm>
            <a:off x="4050791" y="2331720"/>
            <a:ext cx="274320" cy="365760"/>
          </a:xfrm>
          <a:prstGeom prst="rect">
            <a:avLst/>
          </a:prstGeom>
          <a:noFill/>
        </p:spPr>
        <p:txBody>
          <a:bodyPr wrap="square" lIns="45720" rIns="45720" tIns="27432" bIns="27432" anchor="t">
            <a:spAutoFit/>
          </a:bodyPr>
          <a:lstStyle/>
          <a:p>
            <a:pPr algn="ctr"/>
            <a:r>
              <a:rPr sz="2200" b="1" i="0">
                <a:solidFill>
                  <a:srgbClr val="F2A900"/>
                </a:solidFill>
                <a:latin typeface="Calibri"/>
              </a:rPr>
              <a:t>▸</a:t>
            </a:r>
          </a:p>
        </p:txBody>
      </p:sp>
      <p:sp>
        <p:nvSpPr>
          <p:cNvPr id="16" name="Rectangle 15"/>
          <p:cNvSpPr/>
          <p:nvPr/>
        </p:nvSpPr>
        <p:spPr>
          <a:xfrm>
            <a:off x="4297679" y="1828800"/>
            <a:ext cx="1645920" cy="155448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79" y="1920240"/>
            <a:ext cx="1645920" cy="411480"/>
          </a:xfrm>
          <a:prstGeom prst="rect">
            <a:avLst/>
          </a:prstGeom>
          <a:noFill/>
        </p:spPr>
        <p:txBody>
          <a:bodyPr wrap="square" lIns="45720" rIns="45720" tIns="27432" bIns="27432" anchor="t">
            <a:spAutoFit/>
          </a:bodyPr>
          <a:lstStyle/>
          <a:p>
            <a:pPr algn="ctr"/>
            <a:r>
              <a:rPr sz="1500" b="1" i="0">
                <a:solidFill>
                  <a:srgbClr val="FFFFFF"/>
                </a:solidFill>
                <a:latin typeface="Calibri"/>
              </a:rPr>
              <a:t>Collector</a:t>
            </a:r>
          </a:p>
        </p:txBody>
      </p:sp>
      <p:sp>
        <p:nvSpPr>
          <p:cNvPr id="18" name="TextBox 17"/>
          <p:cNvSpPr txBox="1"/>
          <p:nvPr/>
        </p:nvSpPr>
        <p:spPr>
          <a:xfrm>
            <a:off x="4343399" y="2423160"/>
            <a:ext cx="1554480" cy="822960"/>
          </a:xfrm>
          <a:prstGeom prst="rect">
            <a:avLst/>
          </a:prstGeom>
          <a:noFill/>
        </p:spPr>
        <p:txBody>
          <a:bodyPr wrap="square" lIns="45720" rIns="45720" tIns="27432" bIns="27432" anchor="t">
            <a:spAutoFit/>
          </a:bodyPr>
          <a:lstStyle/>
          <a:p>
            <a:pPr algn="ctr"/>
            <a:r>
              <a:rPr sz="1200" b="0" i="0">
                <a:solidFill>
                  <a:srgbClr val="E6EEF5"/>
                </a:solidFill>
                <a:latin typeface="Calibri"/>
              </a:rPr>
              <a:t>Clean · store</a:t>
            </a:r>
          </a:p>
          <a:p>
            <a:pPr algn="ctr"/>
            <a:r>
              <a:rPr sz="1200" b="0" i="0">
                <a:solidFill>
                  <a:srgbClr val="E6EEF5"/>
                </a:solidFill>
                <a:latin typeface="Calibri"/>
              </a:rPr>
              <a:t>CSV</a:t>
            </a:r>
          </a:p>
        </p:txBody>
      </p:sp>
      <p:sp>
        <p:nvSpPr>
          <p:cNvPr id="19" name="TextBox 18"/>
          <p:cNvSpPr txBox="1"/>
          <p:nvPr/>
        </p:nvSpPr>
        <p:spPr>
          <a:xfrm>
            <a:off x="5925312" y="2331720"/>
            <a:ext cx="274320" cy="365760"/>
          </a:xfrm>
          <a:prstGeom prst="rect">
            <a:avLst/>
          </a:prstGeom>
          <a:noFill/>
        </p:spPr>
        <p:txBody>
          <a:bodyPr wrap="square" lIns="45720" rIns="45720" tIns="27432" bIns="27432" anchor="t">
            <a:spAutoFit/>
          </a:bodyPr>
          <a:lstStyle/>
          <a:p>
            <a:pPr algn="ctr"/>
            <a:r>
              <a:rPr sz="2200" b="1" i="0">
                <a:solidFill>
                  <a:srgbClr val="F2A900"/>
                </a:solidFill>
                <a:latin typeface="Calibri"/>
              </a:rPr>
              <a:t>▸</a:t>
            </a:r>
          </a:p>
        </p:txBody>
      </p:sp>
      <p:sp>
        <p:nvSpPr>
          <p:cNvPr id="20" name="Rectangle 19"/>
          <p:cNvSpPr/>
          <p:nvPr/>
        </p:nvSpPr>
        <p:spPr>
          <a:xfrm>
            <a:off x="6172199" y="1828800"/>
            <a:ext cx="1645920" cy="155448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199" y="1920240"/>
            <a:ext cx="1645920" cy="411480"/>
          </a:xfrm>
          <a:prstGeom prst="rect">
            <a:avLst/>
          </a:prstGeom>
          <a:noFill/>
        </p:spPr>
        <p:txBody>
          <a:bodyPr wrap="square" lIns="45720" rIns="45720" tIns="27432" bIns="27432" anchor="t">
            <a:spAutoFit/>
          </a:bodyPr>
          <a:lstStyle/>
          <a:p>
            <a:pPr algn="ctr"/>
            <a:r>
              <a:rPr sz="1500" b="1" i="0">
                <a:solidFill>
                  <a:srgbClr val="FFFFFF"/>
                </a:solidFill>
                <a:latin typeface="Calibri"/>
              </a:rPr>
              <a:t>Features</a:t>
            </a:r>
          </a:p>
        </p:txBody>
      </p:sp>
      <p:sp>
        <p:nvSpPr>
          <p:cNvPr id="22" name="TextBox 21"/>
          <p:cNvSpPr txBox="1"/>
          <p:nvPr/>
        </p:nvSpPr>
        <p:spPr>
          <a:xfrm>
            <a:off x="6217919" y="2423160"/>
            <a:ext cx="1554480" cy="822960"/>
          </a:xfrm>
          <a:prstGeom prst="rect">
            <a:avLst/>
          </a:prstGeom>
          <a:noFill/>
        </p:spPr>
        <p:txBody>
          <a:bodyPr wrap="square" lIns="45720" rIns="45720" tIns="27432" bIns="27432" anchor="t">
            <a:spAutoFit/>
          </a:bodyPr>
          <a:lstStyle/>
          <a:p>
            <a:pPr algn="ctr"/>
            <a:r>
              <a:rPr sz="1200" b="0" i="0">
                <a:solidFill>
                  <a:srgbClr val="E6EEF5"/>
                </a:solidFill>
                <a:latin typeface="Calibri"/>
              </a:rPr>
              <a:t>Daily residuals</a:t>
            </a:r>
          </a:p>
          <a:p>
            <a:pPr algn="ctr"/>
            <a:r>
              <a:rPr sz="1200" b="0" i="0">
                <a:solidFill>
                  <a:srgbClr val="E6EEF5"/>
                </a:solidFill>
                <a:latin typeface="Calibri"/>
              </a:rPr>
              <a:t>Rolling stats</a:t>
            </a:r>
          </a:p>
        </p:txBody>
      </p:sp>
      <p:sp>
        <p:nvSpPr>
          <p:cNvPr id="23" name="TextBox 22"/>
          <p:cNvSpPr txBox="1"/>
          <p:nvPr/>
        </p:nvSpPr>
        <p:spPr>
          <a:xfrm>
            <a:off x="7799831" y="2331720"/>
            <a:ext cx="274320" cy="365760"/>
          </a:xfrm>
          <a:prstGeom prst="rect">
            <a:avLst/>
          </a:prstGeom>
          <a:noFill/>
        </p:spPr>
        <p:txBody>
          <a:bodyPr wrap="square" lIns="45720" rIns="45720" tIns="27432" bIns="27432" anchor="t">
            <a:spAutoFit/>
          </a:bodyPr>
          <a:lstStyle/>
          <a:p>
            <a:pPr algn="ctr"/>
            <a:r>
              <a:rPr sz="2200" b="1" i="0">
                <a:solidFill>
                  <a:srgbClr val="F2A900"/>
                </a:solidFill>
                <a:latin typeface="Calibri"/>
              </a:rPr>
              <a:t>▸</a:t>
            </a:r>
          </a:p>
        </p:txBody>
      </p:sp>
      <p:sp>
        <p:nvSpPr>
          <p:cNvPr id="24" name="Rectangle 23"/>
          <p:cNvSpPr/>
          <p:nvPr/>
        </p:nvSpPr>
        <p:spPr>
          <a:xfrm>
            <a:off x="8046719" y="1828800"/>
            <a:ext cx="1645920" cy="155448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19" y="1920240"/>
            <a:ext cx="1645920" cy="411480"/>
          </a:xfrm>
          <a:prstGeom prst="rect">
            <a:avLst/>
          </a:prstGeom>
          <a:noFill/>
        </p:spPr>
        <p:txBody>
          <a:bodyPr wrap="square" lIns="45720" rIns="45720" tIns="27432" bIns="27432" anchor="t">
            <a:spAutoFit/>
          </a:bodyPr>
          <a:lstStyle/>
          <a:p>
            <a:pPr algn="ctr"/>
            <a:r>
              <a:rPr sz="1500" b="1" i="0">
                <a:solidFill>
                  <a:srgbClr val="FFFFFF"/>
                </a:solidFill>
                <a:latin typeface="Calibri"/>
              </a:rPr>
              <a:t>Detection</a:t>
            </a:r>
          </a:p>
        </p:txBody>
      </p:sp>
      <p:sp>
        <p:nvSpPr>
          <p:cNvPr id="26" name="TextBox 25"/>
          <p:cNvSpPr txBox="1"/>
          <p:nvPr/>
        </p:nvSpPr>
        <p:spPr>
          <a:xfrm>
            <a:off x="8092440" y="2423160"/>
            <a:ext cx="1554480" cy="822960"/>
          </a:xfrm>
          <a:prstGeom prst="rect">
            <a:avLst/>
          </a:prstGeom>
          <a:noFill/>
        </p:spPr>
        <p:txBody>
          <a:bodyPr wrap="square" lIns="45720" rIns="45720" tIns="27432" bIns="27432" anchor="t">
            <a:spAutoFit/>
          </a:bodyPr>
          <a:lstStyle/>
          <a:p>
            <a:pPr algn="ctr"/>
            <a:r>
              <a:rPr sz="1200" b="0" i="0">
                <a:solidFill>
                  <a:srgbClr val="E6EEF5"/>
                </a:solidFill>
                <a:latin typeface="Calibri"/>
              </a:rPr>
              <a:t>Rules + watchdog</a:t>
            </a:r>
          </a:p>
          <a:p>
            <a:pPr algn="ctr"/>
            <a:r>
              <a:rPr sz="1200" b="0" i="0">
                <a:solidFill>
                  <a:srgbClr val="E6EEF5"/>
                </a:solidFill>
                <a:latin typeface="Calibri"/>
              </a:rPr>
              <a:t>Isolation Forest</a:t>
            </a:r>
          </a:p>
        </p:txBody>
      </p:sp>
      <p:sp>
        <p:nvSpPr>
          <p:cNvPr id="27" name="TextBox 26"/>
          <p:cNvSpPr txBox="1"/>
          <p:nvPr/>
        </p:nvSpPr>
        <p:spPr>
          <a:xfrm>
            <a:off x="9674351" y="2331720"/>
            <a:ext cx="274320" cy="365760"/>
          </a:xfrm>
          <a:prstGeom prst="rect">
            <a:avLst/>
          </a:prstGeom>
          <a:noFill/>
        </p:spPr>
        <p:txBody>
          <a:bodyPr wrap="square" lIns="45720" rIns="45720" tIns="27432" bIns="27432" anchor="t">
            <a:spAutoFit/>
          </a:bodyPr>
          <a:lstStyle/>
          <a:p>
            <a:pPr algn="ctr"/>
            <a:r>
              <a:rPr sz="2200" b="1" i="0">
                <a:solidFill>
                  <a:srgbClr val="F2A900"/>
                </a:solidFill>
                <a:latin typeface="Calibri"/>
              </a:rPr>
              <a:t>▸</a:t>
            </a:r>
          </a:p>
        </p:txBody>
      </p:sp>
      <p:sp>
        <p:nvSpPr>
          <p:cNvPr id="28" name="Rectangle 27"/>
          <p:cNvSpPr/>
          <p:nvPr/>
        </p:nvSpPr>
        <p:spPr>
          <a:xfrm>
            <a:off x="9921240" y="1828800"/>
            <a:ext cx="1645920" cy="1554480"/>
          </a:xfrm>
          <a:prstGeom prst="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921240" y="1920240"/>
            <a:ext cx="1645920" cy="411480"/>
          </a:xfrm>
          <a:prstGeom prst="rect">
            <a:avLst/>
          </a:prstGeom>
          <a:noFill/>
        </p:spPr>
        <p:txBody>
          <a:bodyPr wrap="square" lIns="45720" rIns="45720" tIns="27432" bIns="27432" anchor="t">
            <a:spAutoFit/>
          </a:bodyPr>
          <a:lstStyle/>
          <a:p>
            <a:pPr algn="ctr"/>
            <a:r>
              <a:rPr sz="1500" b="1" i="0">
                <a:solidFill>
                  <a:srgbClr val="FFFFFF"/>
                </a:solidFill>
                <a:latin typeface="Calibri"/>
              </a:rPr>
              <a:t>Dashboard</a:t>
            </a:r>
          </a:p>
        </p:txBody>
      </p:sp>
      <p:sp>
        <p:nvSpPr>
          <p:cNvPr id="30" name="TextBox 29"/>
          <p:cNvSpPr txBox="1"/>
          <p:nvPr/>
        </p:nvSpPr>
        <p:spPr>
          <a:xfrm>
            <a:off x="9966960" y="2423160"/>
            <a:ext cx="1554480" cy="822960"/>
          </a:xfrm>
          <a:prstGeom prst="rect">
            <a:avLst/>
          </a:prstGeom>
          <a:noFill/>
        </p:spPr>
        <p:txBody>
          <a:bodyPr wrap="square" lIns="45720" rIns="45720" tIns="27432" bIns="27432" anchor="t">
            <a:spAutoFit/>
          </a:bodyPr>
          <a:lstStyle/>
          <a:p>
            <a:pPr algn="ctr"/>
            <a:r>
              <a:rPr sz="1200" b="0" i="0">
                <a:solidFill>
                  <a:srgbClr val="E6EEF5"/>
                </a:solidFill>
                <a:latin typeface="Calibri"/>
              </a:rPr>
              <a:t>Faults · battery</a:t>
            </a:r>
          </a:p>
          <a:p>
            <a:pPr algn="ctr"/>
            <a:r>
              <a:rPr sz="1200" b="0" i="0">
                <a:solidFill>
                  <a:srgbClr val="E6EEF5"/>
                </a:solidFill>
                <a:latin typeface="Calibri"/>
              </a:rPr>
              <a:t>Latency</a:t>
            </a:r>
          </a:p>
        </p:txBody>
      </p:sp>
      <p:sp>
        <p:nvSpPr>
          <p:cNvPr id="31" name="TextBox 30"/>
          <p:cNvSpPr txBox="1"/>
          <p:nvPr/>
        </p:nvSpPr>
        <p:spPr>
          <a:xfrm>
            <a:off x="548640" y="1371600"/>
            <a:ext cx="5486400" cy="320040"/>
          </a:xfrm>
          <a:prstGeom prst="rect">
            <a:avLst/>
          </a:prstGeom>
          <a:noFill/>
        </p:spPr>
        <p:txBody>
          <a:bodyPr wrap="square" lIns="45720" rIns="45720" tIns="27432" bIns="27432" anchor="t">
            <a:spAutoFit/>
          </a:bodyPr>
          <a:lstStyle/>
          <a:p>
            <a:pPr algn="l"/>
            <a:r>
              <a:rPr sz="1100" b="1" i="0">
                <a:solidFill>
                  <a:srgbClr val="0FA3A3"/>
                </a:solidFill>
                <a:latin typeface="Calibri"/>
              </a:rPr>
              <a:t>DATA FLOW</a:t>
            </a:r>
          </a:p>
        </p:txBody>
      </p:sp>
      <p:sp>
        <p:nvSpPr>
          <p:cNvPr id="32" name="Rectangle 31"/>
          <p:cNvSpPr/>
          <p:nvPr/>
        </p:nvSpPr>
        <p:spPr>
          <a:xfrm>
            <a:off x="548640" y="3749039"/>
            <a:ext cx="5394960" cy="246888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3822191"/>
            <a:ext cx="5029200" cy="320040"/>
          </a:xfrm>
          <a:prstGeom prst="rect">
            <a:avLst/>
          </a:prstGeom>
          <a:noFill/>
        </p:spPr>
        <p:txBody>
          <a:bodyPr wrap="square" lIns="45720" rIns="45720" tIns="27432" bIns="27432" anchor="t">
            <a:spAutoFit/>
          </a:bodyPr>
          <a:lstStyle/>
          <a:p>
            <a:pPr algn="l"/>
            <a:r>
              <a:rPr sz="1100" b="1" i="0">
                <a:solidFill>
                  <a:srgbClr val="0FA3A3"/>
                </a:solidFill>
                <a:latin typeface="Calibri"/>
              </a:rPr>
              <a:t>NETWORK MODEL (SIMULATED)</a:t>
            </a:r>
          </a:p>
        </p:txBody>
      </p:sp>
      <p:sp>
        <p:nvSpPr>
          <p:cNvPr id="34" name="TextBox 33"/>
          <p:cNvSpPr txBox="1"/>
          <p:nvPr/>
        </p:nvSpPr>
        <p:spPr>
          <a:xfrm>
            <a:off x="731520" y="4160520"/>
            <a:ext cx="5120640" cy="2011680"/>
          </a:xfrm>
          <a:prstGeom prst="rect">
            <a:avLst/>
          </a:prstGeom>
          <a:noFill/>
        </p:spPr>
        <p:txBody>
          <a:bodyPr wrap="square" lIns="45720">
            <a:spAutoFit/>
          </a:bodyPr>
          <a:lstStyle/>
          <a:p>
            <a:pPr>
              <a:spcAft>
                <a:spcPts val="800"/>
              </a:spcAft>
            </a:pPr>
            <a:r>
              <a:rPr sz="1600">
                <a:solidFill>
                  <a:srgbClr val="0FA3A3"/>
                </a:solidFill>
                <a:latin typeface="Calibri"/>
              </a:rPr>
              <a:t>▪  </a:t>
            </a:r>
            <a:r>
              <a:rPr sz="1600" b="0">
                <a:solidFill>
                  <a:srgbClr val="1B2733"/>
                </a:solidFill>
                <a:latin typeface="Calibri"/>
              </a:rPr>
              <a:t>N1, N2, N3 send directly to the sink</a:t>
            </a:r>
          </a:p>
          <a:p>
            <a:pPr>
              <a:spcAft>
                <a:spcPts val="800"/>
              </a:spcAft>
            </a:pPr>
            <a:r>
              <a:rPr sz="1600">
                <a:solidFill>
                  <a:srgbClr val="0FA3A3"/>
                </a:solidFill>
                <a:latin typeface="Calibri"/>
              </a:rPr>
              <a:t>▪  </a:t>
            </a:r>
            <a:r>
              <a:rPr sz="1600" b="0">
                <a:solidFill>
                  <a:srgbClr val="1B2733"/>
                </a:solidFill>
                <a:latin typeface="Calibri"/>
              </a:rPr>
              <a:t>N4 relays through N2, N5 through N3</a:t>
            </a:r>
          </a:p>
          <a:p>
            <a:pPr>
              <a:spcAft>
                <a:spcPts val="800"/>
              </a:spcAft>
            </a:pPr>
            <a:r>
              <a:rPr sz="1600">
                <a:solidFill>
                  <a:srgbClr val="0FA3A3"/>
                </a:solidFill>
                <a:latin typeface="Calibri"/>
              </a:rPr>
              <a:t>▪  </a:t>
            </a:r>
            <a:r>
              <a:rPr sz="1600" b="0">
                <a:solidFill>
                  <a:srgbClr val="1B2733"/>
                </a:solidFill>
                <a:latin typeface="Calibri"/>
              </a:rPr>
              <a:t>Relays pay extra energy to forward packets</a:t>
            </a:r>
          </a:p>
          <a:p>
            <a:pPr>
              <a:spcAft>
                <a:spcPts val="800"/>
              </a:spcAft>
            </a:pPr>
            <a:r>
              <a:rPr sz="1600">
                <a:solidFill>
                  <a:srgbClr val="0FA3A3"/>
                </a:solidFill>
                <a:latin typeface="Calibri"/>
              </a:rPr>
              <a:t>▪  </a:t>
            </a:r>
            <a:r>
              <a:rPr sz="1600" b="0">
                <a:solidFill>
                  <a:srgbClr val="1B2733"/>
                </a:solidFill>
                <a:latin typeface="Calibri"/>
              </a:rPr>
              <a:t>2% random packet loss, ~45 ms per hop</a:t>
            </a:r>
          </a:p>
        </p:txBody>
      </p:sp>
      <p:sp>
        <p:nvSpPr>
          <p:cNvPr id="35" name="Rectangle 34"/>
          <p:cNvSpPr/>
          <p:nvPr/>
        </p:nvSpPr>
        <p:spPr>
          <a:xfrm>
            <a:off x="6217920" y="3749039"/>
            <a:ext cx="5394960" cy="2468880"/>
          </a:xfrm>
          <a:prstGeom prst="rect">
            <a:avLst/>
          </a:prstGeom>
          <a:solidFill>
            <a:srgbClr val="FFFFFF"/>
          </a:solidFill>
          <a:ln w="19050">
            <a:solidFill>
              <a:srgbClr val="F2A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3822191"/>
            <a:ext cx="5029200" cy="320040"/>
          </a:xfrm>
          <a:prstGeom prst="rect">
            <a:avLst/>
          </a:prstGeom>
          <a:noFill/>
        </p:spPr>
        <p:txBody>
          <a:bodyPr wrap="square" lIns="45720" rIns="45720" tIns="27432" bIns="27432" anchor="t">
            <a:spAutoFit/>
          </a:bodyPr>
          <a:lstStyle/>
          <a:p>
            <a:pPr algn="l"/>
            <a:r>
              <a:rPr sz="1100" b="1" i="0">
                <a:solidFill>
                  <a:srgbClr val="B07A00"/>
                </a:solidFill>
                <a:latin typeface="Calibri"/>
              </a:rPr>
              <a:t>HARDWARE PATH (PHASE 2)</a:t>
            </a:r>
          </a:p>
        </p:txBody>
      </p:sp>
      <p:sp>
        <p:nvSpPr>
          <p:cNvPr id="37" name="TextBox 36"/>
          <p:cNvSpPr txBox="1"/>
          <p:nvPr/>
        </p:nvSpPr>
        <p:spPr>
          <a:xfrm>
            <a:off x="6400800" y="4160520"/>
            <a:ext cx="5120640" cy="2011680"/>
          </a:xfrm>
          <a:prstGeom prst="rect">
            <a:avLst/>
          </a:prstGeom>
          <a:noFill/>
        </p:spPr>
        <p:txBody>
          <a:bodyPr wrap="square" lIns="45720">
            <a:spAutoFit/>
          </a:bodyPr>
          <a:lstStyle/>
          <a:p>
            <a:pPr>
              <a:spcAft>
                <a:spcPts val="800"/>
              </a:spcAft>
            </a:pPr>
            <a:r>
              <a:rPr sz="1600">
                <a:solidFill>
                  <a:srgbClr val="F2A900"/>
                </a:solidFill>
                <a:latin typeface="Calibri"/>
              </a:rPr>
              <a:t>▪  </a:t>
            </a:r>
            <a:r>
              <a:rPr sz="1600" b="0">
                <a:solidFill>
                  <a:srgbClr val="1B2733"/>
                </a:solidFill>
                <a:latin typeface="Calibri"/>
              </a:rPr>
              <a:t>ESP32 firmware verified in Wokwi</a:t>
            </a:r>
          </a:p>
          <a:p>
            <a:pPr>
              <a:spcAft>
                <a:spcPts val="800"/>
              </a:spcAft>
            </a:pPr>
            <a:r>
              <a:rPr sz="1600">
                <a:solidFill>
                  <a:srgbClr val="F2A900"/>
                </a:solidFill>
                <a:latin typeface="Calibri"/>
              </a:rPr>
              <a:t>▪  </a:t>
            </a:r>
            <a:r>
              <a:rPr sz="1600" b="0">
                <a:solidFill>
                  <a:srgbClr val="1B2733"/>
                </a:solidFill>
                <a:latin typeface="Calibri"/>
              </a:rPr>
              <a:t>Same JSON schema over MQTT</a:t>
            </a:r>
          </a:p>
          <a:p>
            <a:pPr>
              <a:spcAft>
                <a:spcPts val="800"/>
              </a:spcAft>
            </a:pPr>
            <a:r>
              <a:rPr sz="1600">
                <a:solidFill>
                  <a:srgbClr val="F2A900"/>
                </a:solidFill>
                <a:latin typeface="Calibri"/>
              </a:rPr>
              <a:t>▪  </a:t>
            </a:r>
            <a:r>
              <a:rPr sz="1600" b="0">
                <a:solidFill>
                  <a:srgbClr val="1B2733"/>
                </a:solidFill>
                <a:latin typeface="Calibri"/>
              </a:rPr>
              <a:t>Swap the simulated publisher for real nodes</a:t>
            </a:r>
          </a:p>
          <a:p>
            <a:pPr>
              <a:spcAft>
                <a:spcPts val="800"/>
              </a:spcAft>
            </a:pPr>
            <a:r>
              <a:rPr sz="1600">
                <a:solidFill>
                  <a:srgbClr val="F2A900"/>
                </a:solidFill>
                <a:latin typeface="Calibri"/>
              </a:rPr>
              <a:t>▪  </a:t>
            </a:r>
            <a:r>
              <a:rPr sz="1600" b="0">
                <a:solidFill>
                  <a:srgbClr val="1B2733"/>
                </a:solidFill>
                <a:latin typeface="Calibri"/>
              </a:rPr>
              <a:t>No change to collector, ML or dashboard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DATA GENERATION (M1)</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Simulated WSN data</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6 / 17</a:t>
            </a:r>
          </a:p>
        </p:txBody>
      </p:sp>
      <p:sp>
        <p:nvSpPr>
          <p:cNvPr id="8" name="Rectangle 7"/>
          <p:cNvSpPr/>
          <p:nvPr/>
        </p:nvSpPr>
        <p:spPr>
          <a:xfrm>
            <a:off x="521207" y="1829943"/>
            <a:ext cx="7004303" cy="3746753"/>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normal.png"/>
          <p:cNvPicPr>
            <a:picLocks noChangeAspect="1"/>
          </p:cNvPicPr>
          <p:nvPr/>
        </p:nvPicPr>
        <p:blipFill>
          <a:blip r:embed="rId3"/>
          <a:stretch>
            <a:fillRect/>
          </a:stretch>
        </p:blipFill>
        <p:spPr>
          <a:xfrm>
            <a:off x="548640" y="1857375"/>
            <a:ext cx="6949440" cy="3691889"/>
          </a:xfrm>
          <a:prstGeom prst="rect">
            <a:avLst/>
          </a:prstGeom>
        </p:spPr>
      </p:pic>
      <p:sp>
        <p:nvSpPr>
          <p:cNvPr id="10" name="TextBox 9"/>
          <p:cNvSpPr txBox="1"/>
          <p:nvPr/>
        </p:nvSpPr>
        <p:spPr>
          <a:xfrm>
            <a:off x="548640" y="6053328"/>
            <a:ext cx="6949440" cy="256032"/>
          </a:xfrm>
          <a:prstGeom prst="rect">
            <a:avLst/>
          </a:prstGeom>
          <a:noFill/>
        </p:spPr>
        <p:txBody>
          <a:bodyPr wrap="square" lIns="45720" rIns="45720" tIns="27432" bIns="27432" anchor="t">
            <a:spAutoFit/>
          </a:bodyPr>
          <a:lstStyle/>
          <a:p>
            <a:pPr algn="ctr"/>
            <a:r>
              <a:rPr sz="1100" b="0" i="1">
                <a:solidFill>
                  <a:srgbClr val="5B6B7B"/>
                </a:solidFill>
                <a:latin typeface="Calibri"/>
              </a:rPr>
              <a:t>Normal data: 5 nodes, temperature, humidity and light (first 3 days)</a:t>
            </a:r>
          </a:p>
        </p:txBody>
      </p:sp>
      <p:sp>
        <p:nvSpPr>
          <p:cNvPr id="11" name="Rectangle 10"/>
          <p:cNvSpPr/>
          <p:nvPr/>
        </p:nvSpPr>
        <p:spPr>
          <a:xfrm>
            <a:off x="7772400" y="1417320"/>
            <a:ext cx="3840480" cy="228600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1417320"/>
            <a:ext cx="64008" cy="228600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79" y="1508760"/>
            <a:ext cx="3566160" cy="365760"/>
          </a:xfrm>
          <a:prstGeom prst="rect">
            <a:avLst/>
          </a:prstGeom>
          <a:noFill/>
        </p:spPr>
        <p:txBody>
          <a:bodyPr wrap="square" lIns="45720" rIns="45720" tIns="27432" bIns="27432" anchor="t">
            <a:spAutoFit/>
          </a:bodyPr>
          <a:lstStyle/>
          <a:p>
            <a:pPr algn="l"/>
            <a:r>
              <a:rPr sz="1700" b="1" i="0">
                <a:solidFill>
                  <a:srgbClr val="0B1F33"/>
                </a:solidFill>
                <a:latin typeface="Calibri"/>
              </a:rPr>
              <a:t>Generated per node</a:t>
            </a:r>
          </a:p>
        </p:txBody>
      </p:sp>
      <p:sp>
        <p:nvSpPr>
          <p:cNvPr id="14" name="TextBox 13"/>
          <p:cNvSpPr txBox="1"/>
          <p:nvPr/>
        </p:nvSpPr>
        <p:spPr>
          <a:xfrm>
            <a:off x="7955279" y="1920240"/>
            <a:ext cx="3520440" cy="1737360"/>
          </a:xfrm>
          <a:prstGeom prst="rect">
            <a:avLst/>
          </a:prstGeom>
          <a:noFill/>
        </p:spPr>
        <p:txBody>
          <a:bodyPr wrap="square" lIns="45720">
            <a:spAutoFit/>
          </a:bodyPr>
          <a:lstStyle/>
          <a:p>
            <a:pPr>
              <a:spcAft>
                <a:spcPts val="700"/>
              </a:spcAft>
            </a:pPr>
            <a:r>
              <a:rPr sz="1500">
                <a:solidFill>
                  <a:srgbClr val="0FA3A3"/>
                </a:solidFill>
                <a:latin typeface="Calibri"/>
              </a:rPr>
              <a:t>▪  </a:t>
            </a:r>
            <a:r>
              <a:rPr sz="1500" b="0">
                <a:solidFill>
                  <a:srgbClr val="1B2733"/>
                </a:solidFill>
                <a:latin typeface="Calibri"/>
              </a:rPr>
              <a:t>7 days, 1 reading per minute</a:t>
            </a:r>
          </a:p>
          <a:p>
            <a:pPr>
              <a:spcAft>
                <a:spcPts val="700"/>
              </a:spcAft>
            </a:pPr>
            <a:r>
              <a:rPr sz="1500">
                <a:solidFill>
                  <a:srgbClr val="0FA3A3"/>
                </a:solidFill>
                <a:latin typeface="Calibri"/>
              </a:rPr>
              <a:t>▪  </a:t>
            </a:r>
            <a:r>
              <a:rPr sz="1500" b="0">
                <a:solidFill>
                  <a:srgbClr val="1B2733"/>
                </a:solidFill>
                <a:latin typeface="Calibri"/>
              </a:rPr>
              <a:t>50,400 readings in total</a:t>
            </a:r>
          </a:p>
          <a:p>
            <a:pPr>
              <a:spcAft>
                <a:spcPts val="700"/>
              </a:spcAft>
            </a:pPr>
            <a:r>
              <a:rPr sz="1500">
                <a:solidFill>
                  <a:srgbClr val="0FA3A3"/>
                </a:solidFill>
                <a:latin typeface="Calibri"/>
              </a:rPr>
              <a:t>▪  </a:t>
            </a:r>
            <a:r>
              <a:rPr sz="1500" b="0">
                <a:solidFill>
                  <a:srgbClr val="1B2733"/>
                </a:solidFill>
                <a:latin typeface="Calibri"/>
              </a:rPr>
              <a:t>Temperature, humidity, light, PIR motion</a:t>
            </a:r>
          </a:p>
        </p:txBody>
      </p:sp>
      <p:sp>
        <p:nvSpPr>
          <p:cNvPr id="15" name="Rectangle 14"/>
          <p:cNvSpPr/>
          <p:nvPr/>
        </p:nvSpPr>
        <p:spPr>
          <a:xfrm>
            <a:off x="7772400" y="3886200"/>
            <a:ext cx="3840480" cy="237744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0" y="3886200"/>
            <a:ext cx="64008" cy="2377440"/>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79" y="3977639"/>
            <a:ext cx="3566160" cy="365760"/>
          </a:xfrm>
          <a:prstGeom prst="rect">
            <a:avLst/>
          </a:prstGeom>
          <a:noFill/>
        </p:spPr>
        <p:txBody>
          <a:bodyPr wrap="square" lIns="45720" rIns="45720" tIns="27432" bIns="27432" anchor="t">
            <a:spAutoFit/>
          </a:bodyPr>
          <a:lstStyle/>
          <a:p>
            <a:pPr algn="l"/>
            <a:r>
              <a:rPr sz="1700" b="1" i="0">
                <a:solidFill>
                  <a:srgbClr val="0B1F33"/>
                </a:solidFill>
                <a:latin typeface="Calibri"/>
              </a:rPr>
              <a:t>Why it is realistic</a:t>
            </a:r>
          </a:p>
        </p:txBody>
      </p:sp>
      <p:sp>
        <p:nvSpPr>
          <p:cNvPr id="18" name="TextBox 17"/>
          <p:cNvSpPr txBox="1"/>
          <p:nvPr/>
        </p:nvSpPr>
        <p:spPr>
          <a:xfrm>
            <a:off x="7955279" y="4389120"/>
            <a:ext cx="3520440" cy="1828800"/>
          </a:xfrm>
          <a:prstGeom prst="rect">
            <a:avLst/>
          </a:prstGeom>
          <a:noFill/>
        </p:spPr>
        <p:txBody>
          <a:bodyPr wrap="square" lIns="45720">
            <a:spAutoFit/>
          </a:bodyPr>
          <a:lstStyle/>
          <a:p>
            <a:pPr>
              <a:spcAft>
                <a:spcPts val="700"/>
              </a:spcAft>
            </a:pPr>
            <a:r>
              <a:rPr sz="1500">
                <a:solidFill>
                  <a:srgbClr val="0FA3A3"/>
                </a:solidFill>
                <a:latin typeface="Calibri"/>
              </a:rPr>
              <a:t>▪  </a:t>
            </a:r>
            <a:r>
              <a:rPr sz="1500" b="0">
                <a:solidFill>
                  <a:srgbClr val="1B2733"/>
                </a:solidFill>
                <a:latin typeface="Calibri"/>
              </a:rPr>
              <a:t>Daily wave, warmest mid-afternoon</a:t>
            </a:r>
          </a:p>
          <a:p>
            <a:pPr>
              <a:spcAft>
                <a:spcPts val="700"/>
              </a:spcAft>
            </a:pPr>
            <a:r>
              <a:rPr sz="1500">
                <a:solidFill>
                  <a:srgbClr val="0FA3A3"/>
                </a:solidFill>
                <a:latin typeface="Calibri"/>
              </a:rPr>
              <a:t>▪  </a:t>
            </a:r>
            <a:r>
              <a:rPr sz="1500" b="0">
                <a:solidFill>
                  <a:srgbClr val="1B2733"/>
                </a:solidFill>
                <a:latin typeface="Calibri"/>
              </a:rPr>
              <a:t>Humidity moves opposite to temperature</a:t>
            </a:r>
          </a:p>
          <a:p>
            <a:pPr>
              <a:spcAft>
                <a:spcPts val="700"/>
              </a:spcAft>
            </a:pPr>
            <a:r>
              <a:rPr sz="1500">
                <a:solidFill>
                  <a:srgbClr val="0FA3A3"/>
                </a:solidFill>
                <a:latin typeface="Calibri"/>
              </a:rPr>
              <a:t>▪  </a:t>
            </a:r>
            <a:r>
              <a:rPr sz="1500" b="0">
                <a:solidFill>
                  <a:srgbClr val="1B2733"/>
                </a:solidFill>
                <a:latin typeface="Calibri"/>
              </a:rPr>
              <a:t>Per-node offsets and sensor noise</a:t>
            </a:r>
          </a:p>
          <a:p>
            <a:pPr>
              <a:spcAft>
                <a:spcPts val="700"/>
              </a:spcAft>
            </a:pPr>
            <a:r>
              <a:rPr sz="1500">
                <a:solidFill>
                  <a:srgbClr val="0FA3A3"/>
                </a:solidFill>
                <a:latin typeface="Calibri"/>
              </a:rPr>
              <a:t>▪  </a:t>
            </a:r>
            <a:r>
              <a:rPr sz="1500" b="0">
                <a:solidFill>
                  <a:srgbClr val="1B2733"/>
                </a:solidFill>
                <a:latin typeface="Calibri"/>
              </a:rPr>
              <a:t>Fixed seed: results reproducible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FAULTS (M2)</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Fault injection with ground-truth labels</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7 / 17</a:t>
            </a:r>
          </a:p>
        </p:txBody>
      </p:sp>
      <p:graphicFrame>
        <p:nvGraphicFramePr>
          <p:cNvPr id="8" name="Table 7"/>
          <p:cNvGraphicFramePr>
            <a:graphicFrameLocks noGrp="1"/>
          </p:cNvGraphicFramePr>
          <p:nvPr/>
        </p:nvGraphicFramePr>
        <p:xfrm>
          <a:off x="548640" y="1417320"/>
          <a:ext cx="5577840" cy="2743200"/>
        </p:xfrm>
        <a:graphic>
          <a:graphicData uri="http://schemas.openxmlformats.org/drawingml/2006/table">
            <a:tbl>
              <a:tblPr firstRow="0" bandRow="0">
                <a:tableStyleId>{5C22544A-7EE6-4342-B048-85BDC9FD1C3A}</a:tableStyleId>
              </a:tblPr>
              <a:tblGrid>
                <a:gridCol w="1097280"/>
                <a:gridCol w="2286000"/>
                <a:gridCol w="2194560"/>
              </a:tblGrid>
              <a:tr h="457200">
                <a:tc>
                  <a:txBody>
                    <a:bodyPr/>
                    <a:lstStyle/>
                    <a:p>
                      <a:r>
                        <a:rPr sz="1300" b="1">
                          <a:solidFill>
                            <a:srgbClr val="FFFFFF"/>
                          </a:solidFill>
                          <a:latin typeface="Calibri"/>
                        </a:rPr>
                        <a:t>Fault</a:t>
                      </a:r>
                    </a:p>
                  </a:txBody>
                  <a:tcPr marL="73152" marR="73152" marT="36576" marB="36576" anchor="ctr">
                    <a:solidFill>
                      <a:srgbClr val="12304F"/>
                    </a:solidFill>
                  </a:tcPr>
                </a:tc>
                <a:tc>
                  <a:txBody>
                    <a:bodyPr/>
                    <a:lstStyle/>
                    <a:p>
                      <a:pPr algn="ctr"/>
                      <a:r>
                        <a:rPr sz="1300" b="1">
                          <a:solidFill>
                            <a:srgbClr val="FFFFFF"/>
                          </a:solidFill>
                          <a:latin typeface="Calibri"/>
                        </a:rPr>
                        <a:t>What it looks like</a:t>
                      </a:r>
                    </a:p>
                  </a:txBody>
                  <a:tcPr marL="73152" marR="73152" marT="36576" marB="36576" anchor="ctr">
                    <a:solidFill>
                      <a:srgbClr val="12304F"/>
                    </a:solidFill>
                  </a:tcPr>
                </a:tc>
                <a:tc>
                  <a:txBody>
                    <a:bodyPr/>
                    <a:lstStyle/>
                    <a:p>
                      <a:pPr algn="ctr"/>
                      <a:r>
                        <a:rPr sz="1300" b="1">
                          <a:solidFill>
                            <a:srgbClr val="FFFFFF"/>
                          </a:solidFill>
                          <a:latin typeface="Calibri"/>
                        </a:rPr>
                        <a:t>Real cause</a:t>
                      </a:r>
                    </a:p>
                  </a:txBody>
                  <a:tcPr marL="73152" marR="73152" marT="36576" marB="36576" anchor="ctr">
                    <a:solidFill>
                      <a:srgbClr val="12304F"/>
                    </a:solidFill>
                  </a:tcPr>
                </a:tc>
              </a:tr>
              <a:tr h="457200">
                <a:tc>
                  <a:txBody>
                    <a:bodyPr/>
                    <a:lstStyle/>
                    <a:p>
                      <a:r>
                        <a:rPr sz="1300" b="1">
                          <a:solidFill>
                            <a:srgbClr val="1B2733"/>
                          </a:solidFill>
                          <a:latin typeface="Calibri"/>
                        </a:rPr>
                        <a:t>Stuck</a:t>
                      </a:r>
                    </a:p>
                  </a:txBody>
                  <a:tcPr marL="73152" marR="73152" marT="36576" marB="36576" anchor="ctr">
                    <a:solidFill>
                      <a:srgbClr val="FFFFFF"/>
                    </a:solidFill>
                  </a:tcPr>
                </a:tc>
                <a:tc>
                  <a:txBody>
                    <a:bodyPr/>
                    <a:lstStyle/>
                    <a:p>
                      <a:pPr algn="ctr"/>
                      <a:r>
                        <a:rPr sz="1300">
                          <a:solidFill>
                            <a:srgbClr val="1B2733"/>
                          </a:solidFill>
                          <a:latin typeface="Calibri"/>
                        </a:rPr>
                        <a:t>Frozen value</a:t>
                      </a:r>
                    </a:p>
                  </a:txBody>
                  <a:tcPr marL="73152" marR="73152" marT="36576" marB="36576" anchor="ctr">
                    <a:solidFill>
                      <a:srgbClr val="FFFFFF"/>
                    </a:solidFill>
                  </a:tcPr>
                </a:tc>
                <a:tc>
                  <a:txBody>
                    <a:bodyPr/>
                    <a:lstStyle/>
                    <a:p>
                      <a:pPr algn="ctr"/>
                      <a:r>
                        <a:rPr sz="1300">
                          <a:solidFill>
                            <a:srgbClr val="1B2733"/>
                          </a:solidFill>
                          <a:latin typeface="Calibri"/>
                        </a:rPr>
                        <a:t>Sensor hang</a:t>
                      </a:r>
                    </a:p>
                  </a:txBody>
                  <a:tcPr marL="73152" marR="73152" marT="36576" marB="36576" anchor="ctr">
                    <a:solidFill>
                      <a:srgbClr val="FFFFFF"/>
                    </a:solidFill>
                  </a:tcPr>
                </a:tc>
              </a:tr>
              <a:tr h="457200">
                <a:tc>
                  <a:txBody>
                    <a:bodyPr/>
                    <a:lstStyle/>
                    <a:p>
                      <a:r>
                        <a:rPr sz="1300" b="1">
                          <a:solidFill>
                            <a:srgbClr val="1B2733"/>
                          </a:solidFill>
                          <a:latin typeface="Calibri"/>
                        </a:rPr>
                        <a:t>Spike</a:t>
                      </a:r>
                    </a:p>
                  </a:txBody>
                  <a:tcPr marL="73152" marR="73152" marT="36576" marB="36576" anchor="ctr">
                    <a:solidFill>
                      <a:srgbClr val="F0F4F8"/>
                    </a:solidFill>
                  </a:tcPr>
                </a:tc>
                <a:tc>
                  <a:txBody>
                    <a:bodyPr/>
                    <a:lstStyle/>
                    <a:p>
                      <a:pPr algn="ctr"/>
                      <a:r>
                        <a:rPr sz="1300">
                          <a:solidFill>
                            <a:srgbClr val="1B2733"/>
                          </a:solidFill>
                          <a:latin typeface="Calibri"/>
                        </a:rPr>
                        <a:t>Sudden jump</a:t>
                      </a:r>
                    </a:p>
                  </a:txBody>
                  <a:tcPr marL="73152" marR="73152" marT="36576" marB="36576" anchor="ctr">
                    <a:solidFill>
                      <a:srgbClr val="F0F4F8"/>
                    </a:solidFill>
                  </a:tcPr>
                </a:tc>
                <a:tc>
                  <a:txBody>
                    <a:bodyPr/>
                    <a:lstStyle/>
                    <a:p>
                      <a:pPr algn="ctr"/>
                      <a:r>
                        <a:rPr sz="1300">
                          <a:solidFill>
                            <a:srgbClr val="1B2733"/>
                          </a:solidFill>
                          <a:latin typeface="Calibri"/>
                        </a:rPr>
                        <a:t>Interference</a:t>
                      </a:r>
                    </a:p>
                  </a:txBody>
                  <a:tcPr marL="73152" marR="73152" marT="36576" marB="36576" anchor="ctr">
                    <a:solidFill>
                      <a:srgbClr val="F0F4F8"/>
                    </a:solidFill>
                  </a:tcPr>
                </a:tc>
              </a:tr>
              <a:tr h="457200">
                <a:tc>
                  <a:txBody>
                    <a:bodyPr/>
                    <a:lstStyle/>
                    <a:p>
                      <a:r>
                        <a:rPr sz="1300" b="1">
                          <a:solidFill>
                            <a:srgbClr val="1B2733"/>
                          </a:solidFill>
                          <a:latin typeface="Calibri"/>
                        </a:rPr>
                        <a:t>Drift</a:t>
                      </a:r>
                    </a:p>
                  </a:txBody>
                  <a:tcPr marL="73152" marR="73152" marT="36576" marB="36576" anchor="ctr">
                    <a:solidFill>
                      <a:srgbClr val="FFFFFF"/>
                    </a:solidFill>
                  </a:tcPr>
                </a:tc>
                <a:tc>
                  <a:txBody>
                    <a:bodyPr/>
                    <a:lstStyle/>
                    <a:p>
                      <a:pPr algn="ctr"/>
                      <a:r>
                        <a:rPr sz="1300">
                          <a:solidFill>
                            <a:srgbClr val="1B2733"/>
                          </a:solidFill>
                          <a:latin typeface="Calibri"/>
                        </a:rPr>
                        <a:t>Slow creep up</a:t>
                      </a:r>
                    </a:p>
                  </a:txBody>
                  <a:tcPr marL="73152" marR="73152" marT="36576" marB="36576" anchor="ctr">
                    <a:solidFill>
                      <a:srgbClr val="FFFFFF"/>
                    </a:solidFill>
                  </a:tcPr>
                </a:tc>
                <a:tc>
                  <a:txBody>
                    <a:bodyPr/>
                    <a:lstStyle/>
                    <a:p>
                      <a:pPr algn="ctr"/>
                      <a:r>
                        <a:rPr sz="1300">
                          <a:solidFill>
                            <a:srgbClr val="1B2733"/>
                          </a:solidFill>
                          <a:latin typeface="Calibri"/>
                        </a:rPr>
                        <a:t>Ageing, AC failure</a:t>
                      </a:r>
                    </a:p>
                  </a:txBody>
                  <a:tcPr marL="73152" marR="73152" marT="36576" marB="36576" anchor="ctr">
                    <a:solidFill>
                      <a:srgbClr val="FFFFFF"/>
                    </a:solidFill>
                  </a:tcPr>
                </a:tc>
              </a:tr>
              <a:tr h="457200">
                <a:tc>
                  <a:txBody>
                    <a:bodyPr/>
                    <a:lstStyle/>
                    <a:p>
                      <a:r>
                        <a:rPr sz="1300" b="1">
                          <a:solidFill>
                            <a:srgbClr val="1B2733"/>
                          </a:solidFill>
                          <a:latin typeface="Calibri"/>
                        </a:rPr>
                        <a:t>Dropout</a:t>
                      </a:r>
                    </a:p>
                  </a:txBody>
                  <a:tcPr marL="73152" marR="73152" marT="36576" marB="36576" anchor="ctr">
                    <a:solidFill>
                      <a:srgbClr val="F0F4F8"/>
                    </a:solidFill>
                  </a:tcPr>
                </a:tc>
                <a:tc>
                  <a:txBody>
                    <a:bodyPr/>
                    <a:lstStyle/>
                    <a:p>
                      <a:pPr algn="ctr"/>
                      <a:r>
                        <a:rPr sz="1300">
                          <a:solidFill>
                            <a:srgbClr val="1B2733"/>
                          </a:solidFill>
                          <a:latin typeface="Calibri"/>
                        </a:rPr>
                        <a:t>Missing values</a:t>
                      </a:r>
                    </a:p>
                  </a:txBody>
                  <a:tcPr marL="73152" marR="73152" marT="36576" marB="36576" anchor="ctr">
                    <a:solidFill>
                      <a:srgbClr val="F0F4F8"/>
                    </a:solidFill>
                  </a:tcPr>
                </a:tc>
                <a:tc>
                  <a:txBody>
                    <a:bodyPr/>
                    <a:lstStyle/>
                    <a:p>
                      <a:pPr algn="ctr"/>
                      <a:r>
                        <a:rPr sz="1300">
                          <a:solidFill>
                            <a:srgbClr val="1B2733"/>
                          </a:solidFill>
                          <a:latin typeface="Calibri"/>
                        </a:rPr>
                        <a:t>Dead node</a:t>
                      </a:r>
                    </a:p>
                  </a:txBody>
                  <a:tcPr marL="73152" marR="73152" marT="36576" marB="36576" anchor="ctr">
                    <a:solidFill>
                      <a:srgbClr val="F0F4F8"/>
                    </a:solidFill>
                  </a:tcPr>
                </a:tc>
              </a:tr>
              <a:tr h="457200">
                <a:tc>
                  <a:txBody>
                    <a:bodyPr/>
                    <a:lstStyle/>
                    <a:p>
                      <a:r>
                        <a:rPr sz="1300" b="1">
                          <a:solidFill>
                            <a:srgbClr val="1B2733"/>
                          </a:solidFill>
                          <a:latin typeface="Calibri"/>
                        </a:rPr>
                        <a:t>Corrupt</a:t>
                      </a:r>
                    </a:p>
                  </a:txBody>
                  <a:tcPr marL="73152" marR="73152" marT="36576" marB="36576" anchor="ctr">
                    <a:solidFill>
                      <a:srgbClr val="FFFFFF"/>
                    </a:solidFill>
                  </a:tcPr>
                </a:tc>
                <a:tc>
                  <a:txBody>
                    <a:bodyPr/>
                    <a:lstStyle/>
                    <a:p>
                      <a:pPr algn="ctr"/>
                      <a:r>
                        <a:rPr sz="1300">
                          <a:solidFill>
                            <a:srgbClr val="1B2733"/>
                          </a:solidFill>
                          <a:latin typeface="Calibri"/>
                        </a:rPr>
                        <a:t>-999 / 255</a:t>
                      </a:r>
                    </a:p>
                  </a:txBody>
                  <a:tcPr marL="73152" marR="73152" marT="36576" marB="36576" anchor="ctr">
                    <a:solidFill>
                      <a:srgbClr val="FFFFFF"/>
                    </a:solidFill>
                  </a:tcPr>
                </a:tc>
                <a:tc>
                  <a:txBody>
                    <a:bodyPr/>
                    <a:lstStyle/>
                    <a:p>
                      <a:pPr algn="ctr"/>
                      <a:r>
                        <a:rPr sz="1300">
                          <a:solidFill>
                            <a:srgbClr val="1B2733"/>
                          </a:solidFill>
                          <a:latin typeface="Calibri"/>
                        </a:rPr>
                        <a:t>Packet corruption</a:t>
                      </a:r>
                    </a:p>
                  </a:txBody>
                  <a:tcPr marL="73152" marR="73152" marT="36576" marB="36576" anchor="ctr">
                    <a:solidFill>
                      <a:srgbClr val="FFFFFF"/>
                    </a:solidFill>
                  </a:tcPr>
                </a:tc>
              </a:tr>
            </a:tbl>
          </a:graphicData>
        </a:graphic>
      </p:graphicFrame>
      <p:sp>
        <p:nvSpPr>
          <p:cNvPr id="9" name="Rectangle 8"/>
          <p:cNvSpPr/>
          <p:nvPr/>
        </p:nvSpPr>
        <p:spPr>
          <a:xfrm>
            <a:off x="548640" y="4480560"/>
            <a:ext cx="5577840" cy="173736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572000"/>
            <a:ext cx="5303520" cy="320040"/>
          </a:xfrm>
          <a:prstGeom prst="rect">
            <a:avLst/>
          </a:prstGeom>
          <a:noFill/>
        </p:spPr>
        <p:txBody>
          <a:bodyPr wrap="square" lIns="45720" rIns="45720" tIns="27432" bIns="27432" anchor="t">
            <a:spAutoFit/>
          </a:bodyPr>
          <a:lstStyle/>
          <a:p>
            <a:pPr algn="l"/>
            <a:r>
              <a:rPr sz="1100" b="1" i="0">
                <a:solidFill>
                  <a:srgbClr val="F2A900"/>
                </a:solidFill>
                <a:latin typeface="Calibri"/>
              </a:rPr>
              <a:t>DATASET</a:t>
            </a:r>
          </a:p>
        </p:txBody>
      </p:sp>
      <p:sp>
        <p:nvSpPr>
          <p:cNvPr id="11" name="TextBox 10"/>
          <p:cNvSpPr txBox="1"/>
          <p:nvPr/>
        </p:nvSpPr>
        <p:spPr>
          <a:xfrm>
            <a:off x="731520" y="4892040"/>
            <a:ext cx="5303520" cy="1280160"/>
          </a:xfrm>
          <a:prstGeom prst="rect">
            <a:avLst/>
          </a:prstGeom>
          <a:noFill/>
        </p:spPr>
        <p:txBody>
          <a:bodyPr wrap="square" lIns="45720" rIns="45720" tIns="27432" bIns="27432" anchor="t">
            <a:spAutoFit/>
          </a:bodyPr>
          <a:lstStyle/>
          <a:p>
            <a:pPr algn="l"/>
            <a:r>
              <a:rPr sz="2600" b="1" i="0">
                <a:solidFill>
                  <a:srgbClr val="F2A900"/>
                </a:solidFill>
                <a:latin typeface="Calibri"/>
              </a:rPr>
              <a:t>3,712</a:t>
            </a:r>
            <a:r>
              <a:rPr sz="1400" b="0" i="0">
                <a:solidFill>
                  <a:srgbClr val="FFFFFF"/>
                </a:solidFill>
                <a:latin typeface="Calibri"/>
              </a:rPr>
              <a:t> faulty rows = </a:t>
            </a:r>
            <a:r>
              <a:rPr sz="2600" b="1" i="0">
                <a:solidFill>
                  <a:srgbClr val="F2A900"/>
                </a:solidFill>
                <a:latin typeface="Calibri"/>
              </a:rPr>
              <a:t>7.38%</a:t>
            </a:r>
            <a:r>
              <a:rPr sz="1400" b="0" i="0">
                <a:solidFill>
                  <a:srgbClr val="FFFFFF"/>
                </a:solidFill>
                <a:latin typeface="Calibri"/>
              </a:rPr>
              <a:t> of data</a:t>
            </a:r>
          </a:p>
          <a:p>
            <a:pPr algn="l"/>
            <a:r>
              <a:rPr sz="1200" b="0" i="0">
                <a:solidFill>
                  <a:srgbClr val="B9C7D6"/>
                </a:solidFill>
                <a:latin typeface="Calibri"/>
              </a:rPr>
              <a:t>Drift is the majority (2,625 rows); spike (33) and corrupt (49) are small samples</a:t>
            </a:r>
          </a:p>
        </p:txBody>
      </p:sp>
      <p:sp>
        <p:nvSpPr>
          <p:cNvPr id="12" name="Rectangle 11"/>
          <p:cNvSpPr/>
          <p:nvPr/>
        </p:nvSpPr>
        <p:spPr>
          <a:xfrm>
            <a:off x="6327648" y="1657236"/>
            <a:ext cx="5358383" cy="2263367"/>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aults.png"/>
          <p:cNvPicPr>
            <a:picLocks noChangeAspect="1"/>
          </p:cNvPicPr>
          <p:nvPr/>
        </p:nvPicPr>
        <p:blipFill>
          <a:blip r:embed="rId3"/>
          <a:stretch>
            <a:fillRect/>
          </a:stretch>
        </p:blipFill>
        <p:spPr>
          <a:xfrm>
            <a:off x="6355080" y="1684668"/>
            <a:ext cx="5303520" cy="2208503"/>
          </a:xfrm>
          <a:prstGeom prst="rect">
            <a:avLst/>
          </a:prstGeom>
        </p:spPr>
      </p:pic>
      <p:sp>
        <p:nvSpPr>
          <p:cNvPr id="14" name="TextBox 13"/>
          <p:cNvSpPr txBox="1"/>
          <p:nvPr/>
        </p:nvSpPr>
        <p:spPr>
          <a:xfrm>
            <a:off x="6355080" y="4224528"/>
            <a:ext cx="5303520" cy="256032"/>
          </a:xfrm>
          <a:prstGeom prst="rect">
            <a:avLst/>
          </a:prstGeom>
          <a:noFill/>
        </p:spPr>
        <p:txBody>
          <a:bodyPr wrap="square" lIns="45720" rIns="45720" tIns="27432" bIns="27432" anchor="t">
            <a:spAutoFit/>
          </a:bodyPr>
          <a:lstStyle/>
          <a:p>
            <a:pPr algn="ctr"/>
            <a:r>
              <a:rPr sz="1100" b="0" i="1">
                <a:solidFill>
                  <a:srgbClr val="5B6B7B"/>
                </a:solidFill>
                <a:latin typeface="Calibri"/>
              </a:rPr>
              <a:t>Node 1 temperature: faults in red (drift ramps, spikes, corrupt)</a:t>
            </a:r>
          </a:p>
        </p:txBody>
      </p:sp>
      <p:sp>
        <p:nvSpPr>
          <p:cNvPr id="15" name="Rectangle 14"/>
          <p:cNvSpPr/>
          <p:nvPr/>
        </p:nvSpPr>
        <p:spPr>
          <a:xfrm>
            <a:off x="6355080" y="4663440"/>
            <a:ext cx="5303520" cy="160020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55080" y="4663440"/>
            <a:ext cx="64008" cy="1600200"/>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4754879"/>
            <a:ext cx="5029200" cy="365760"/>
          </a:xfrm>
          <a:prstGeom prst="rect">
            <a:avLst/>
          </a:prstGeom>
          <a:noFill/>
        </p:spPr>
        <p:txBody>
          <a:bodyPr wrap="square" lIns="45720" rIns="45720" tIns="27432" bIns="27432" anchor="t">
            <a:spAutoFit/>
          </a:bodyPr>
          <a:lstStyle/>
          <a:p>
            <a:pPr algn="l"/>
            <a:r>
              <a:rPr sz="1600" b="1" i="0">
                <a:solidFill>
                  <a:srgbClr val="0B1F33"/>
                </a:solidFill>
                <a:latin typeface="Calibri"/>
              </a:rPr>
              <a:t>Why drift is the star</a:t>
            </a:r>
          </a:p>
        </p:txBody>
      </p:sp>
      <p:sp>
        <p:nvSpPr>
          <p:cNvPr id="18" name="TextBox 17"/>
          <p:cNvSpPr txBox="1"/>
          <p:nvPr/>
        </p:nvSpPr>
        <p:spPr>
          <a:xfrm>
            <a:off x="6537960" y="5166359"/>
            <a:ext cx="4983480" cy="1051560"/>
          </a:xfrm>
          <a:prstGeom prst="rect">
            <a:avLst/>
          </a:prstGeom>
          <a:noFill/>
        </p:spPr>
        <p:txBody>
          <a:bodyPr wrap="square" lIns="45720">
            <a:spAutoFit/>
          </a:bodyPr>
          <a:lstStyle/>
          <a:p>
            <a:pPr>
              <a:spcAft>
                <a:spcPts val="700"/>
              </a:spcAft>
            </a:pPr>
            <a:r>
              <a:rPr sz="1400">
                <a:solidFill>
                  <a:srgbClr val="0FA3A3"/>
                </a:solidFill>
                <a:latin typeface="Calibri"/>
              </a:rPr>
              <a:t>▪  </a:t>
            </a:r>
            <a:r>
              <a:rPr sz="1400" b="0">
                <a:solidFill>
                  <a:srgbClr val="1B2733"/>
                </a:solidFill>
                <a:latin typeface="Calibri"/>
              </a:rPr>
              <a:t>Stays under the 35 °C rule for a long time</a:t>
            </a:r>
          </a:p>
          <a:p>
            <a:pPr>
              <a:spcAft>
                <a:spcPts val="700"/>
              </a:spcAft>
            </a:pPr>
            <a:r>
              <a:rPr sz="1400">
                <a:solidFill>
                  <a:srgbClr val="0FA3A3"/>
                </a:solidFill>
                <a:latin typeface="Calibri"/>
              </a:rPr>
              <a:t>▪  </a:t>
            </a:r>
            <a:r>
              <a:rPr sz="1400" b="0">
                <a:solidFill>
                  <a:srgbClr val="1B2733"/>
                </a:solidFill>
                <a:latin typeface="Calibri"/>
              </a:rPr>
              <a:t>Threshold misses it, ML catches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NETWORK MODEL (M7)</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Network layer: topology, energy and links</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8 / 17</a:t>
            </a:r>
          </a:p>
        </p:txBody>
      </p:sp>
      <p:sp>
        <p:nvSpPr>
          <p:cNvPr id="8" name="Rectangle 7"/>
          <p:cNvSpPr/>
          <p:nvPr/>
        </p:nvSpPr>
        <p:spPr>
          <a:xfrm>
            <a:off x="521207" y="1626108"/>
            <a:ext cx="6821424" cy="2874264"/>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opology.png"/>
          <p:cNvPicPr>
            <a:picLocks noChangeAspect="1"/>
          </p:cNvPicPr>
          <p:nvPr/>
        </p:nvPicPr>
        <p:blipFill>
          <a:blip r:embed="rId3"/>
          <a:stretch>
            <a:fillRect/>
          </a:stretch>
        </p:blipFill>
        <p:spPr>
          <a:xfrm>
            <a:off x="548640" y="1653540"/>
            <a:ext cx="6766560" cy="2819400"/>
          </a:xfrm>
          <a:prstGeom prst="rect">
            <a:avLst/>
          </a:prstGeom>
        </p:spPr>
      </p:pic>
      <p:sp>
        <p:nvSpPr>
          <p:cNvPr id="10" name="TextBox 9"/>
          <p:cNvSpPr txBox="1"/>
          <p:nvPr/>
        </p:nvSpPr>
        <p:spPr>
          <a:xfrm>
            <a:off x="548640" y="4773168"/>
            <a:ext cx="6766560" cy="256032"/>
          </a:xfrm>
          <a:prstGeom prst="rect">
            <a:avLst/>
          </a:prstGeom>
          <a:noFill/>
        </p:spPr>
        <p:txBody>
          <a:bodyPr wrap="square" lIns="45720" rIns="45720" tIns="27432" bIns="27432" anchor="t">
            <a:spAutoFit/>
          </a:bodyPr>
          <a:lstStyle/>
          <a:p>
            <a:pPr algn="ctr"/>
            <a:r>
              <a:rPr sz="1100" b="0" i="1">
                <a:solidFill>
                  <a:srgbClr val="5B6B7B"/>
                </a:solidFill>
                <a:latin typeface="Calibri"/>
              </a:rPr>
              <a:t>Left: healthy network. Right: relays N2 and N3 dead, N4 and N5 cut off</a:t>
            </a:r>
          </a:p>
        </p:txBody>
      </p:sp>
      <p:sp>
        <p:nvSpPr>
          <p:cNvPr id="11" name="Rectangle 10"/>
          <p:cNvSpPr/>
          <p:nvPr/>
        </p:nvSpPr>
        <p:spPr>
          <a:xfrm>
            <a:off x="548640" y="5166360"/>
            <a:ext cx="6766560" cy="109728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230368"/>
            <a:ext cx="6400800" cy="960120"/>
          </a:xfrm>
          <a:prstGeom prst="rect">
            <a:avLst/>
          </a:prstGeom>
          <a:noFill/>
        </p:spPr>
        <p:txBody>
          <a:bodyPr wrap="square" lIns="45720" rIns="45720" tIns="27432" bIns="27432" anchor="ctr">
            <a:spAutoFit/>
          </a:bodyPr>
          <a:lstStyle/>
          <a:p>
            <a:pPr algn="l"/>
            <a:r>
              <a:rPr sz="1400" b="1" i="0">
                <a:solidFill>
                  <a:srgbClr val="F2A900"/>
                </a:solidFill>
                <a:latin typeface="Calibri"/>
              </a:rPr>
              <a:t>Energy-hole effect: </a:t>
            </a:r>
            <a:r>
              <a:rPr sz="1400" b="0" i="0">
                <a:solidFill>
                  <a:srgbClr val="FFFFFF"/>
                </a:solidFill>
                <a:latin typeface="Calibri"/>
              </a:rPr>
              <a:t>relays carry their own traffic and forward for others, so they drain faster and die first. Their children lose the path to the sink.</a:t>
            </a:r>
          </a:p>
        </p:txBody>
      </p:sp>
      <p:graphicFrame>
        <p:nvGraphicFramePr>
          <p:cNvPr id="13" name="Table 12"/>
          <p:cNvGraphicFramePr>
            <a:graphicFrameLocks noGrp="1"/>
          </p:cNvGraphicFramePr>
          <p:nvPr/>
        </p:nvGraphicFramePr>
        <p:xfrm>
          <a:off x="7589520" y="1417320"/>
          <a:ext cx="4069080" cy="3072384"/>
        </p:xfrm>
        <a:graphic>
          <a:graphicData uri="http://schemas.openxmlformats.org/drawingml/2006/table">
            <a:tbl>
              <a:tblPr firstRow="0" bandRow="0">
                <a:tableStyleId>{5C22544A-7EE6-4342-B048-85BDC9FD1C3A}</a:tableStyleId>
              </a:tblPr>
              <a:tblGrid>
                <a:gridCol w="2011680"/>
                <a:gridCol w="2057400"/>
              </a:tblGrid>
              <a:tr h="438912">
                <a:tc>
                  <a:txBody>
                    <a:bodyPr/>
                    <a:lstStyle/>
                    <a:p>
                      <a:r>
                        <a:rPr sz="1300" b="1">
                          <a:solidFill>
                            <a:srgbClr val="FFFFFF"/>
                          </a:solidFill>
                          <a:latin typeface="Calibri"/>
                        </a:rPr>
                        <a:t>Parameter</a:t>
                      </a:r>
                    </a:p>
                  </a:txBody>
                  <a:tcPr marL="73152" marR="73152" marT="36576" marB="36576" anchor="ctr">
                    <a:solidFill>
                      <a:srgbClr val="12304F"/>
                    </a:solidFill>
                  </a:tcPr>
                </a:tc>
                <a:tc>
                  <a:txBody>
                    <a:bodyPr/>
                    <a:lstStyle/>
                    <a:p>
                      <a:pPr algn="ctr"/>
                      <a:r>
                        <a:rPr sz="1300" b="1">
                          <a:solidFill>
                            <a:srgbClr val="FFFFFF"/>
                          </a:solidFill>
                          <a:latin typeface="Calibri"/>
                        </a:rPr>
                        <a:t>Value</a:t>
                      </a:r>
                    </a:p>
                  </a:txBody>
                  <a:tcPr marL="73152" marR="73152" marT="36576" marB="36576" anchor="ctr">
                    <a:solidFill>
                      <a:srgbClr val="12304F"/>
                    </a:solidFill>
                  </a:tcPr>
                </a:tc>
              </a:tr>
              <a:tr h="438912">
                <a:tc>
                  <a:txBody>
                    <a:bodyPr/>
                    <a:lstStyle/>
                    <a:p>
                      <a:r>
                        <a:rPr sz="1300" b="1">
                          <a:solidFill>
                            <a:srgbClr val="1B2733"/>
                          </a:solidFill>
                          <a:latin typeface="Calibri"/>
                        </a:rPr>
                        <a:t>Battery</a:t>
                      </a:r>
                    </a:p>
                  </a:txBody>
                  <a:tcPr marL="73152" marR="73152" marT="36576" marB="36576" anchor="ctr">
                    <a:solidFill>
                      <a:srgbClr val="FFFFFF"/>
                    </a:solidFill>
                  </a:tcPr>
                </a:tc>
                <a:tc>
                  <a:txBody>
                    <a:bodyPr/>
                    <a:lstStyle/>
                    <a:p>
                      <a:pPr algn="ctr"/>
                      <a:r>
                        <a:rPr sz="1300">
                          <a:solidFill>
                            <a:srgbClr val="1B2733"/>
                          </a:solidFill>
                          <a:latin typeface="Calibri"/>
                        </a:rPr>
                        <a:t>1200 mAh</a:t>
                      </a:r>
                    </a:p>
                  </a:txBody>
                  <a:tcPr marL="73152" marR="73152" marT="36576" marB="36576" anchor="ctr">
                    <a:solidFill>
                      <a:srgbClr val="FFFFFF"/>
                    </a:solidFill>
                  </a:tcPr>
                </a:tc>
              </a:tr>
              <a:tr h="438912">
                <a:tc>
                  <a:txBody>
                    <a:bodyPr/>
                    <a:lstStyle/>
                    <a:p>
                      <a:r>
                        <a:rPr sz="1300" b="1">
                          <a:solidFill>
                            <a:srgbClr val="1B2733"/>
                          </a:solidFill>
                          <a:latin typeface="Calibri"/>
                        </a:rPr>
                        <a:t>Per transmit</a:t>
                      </a:r>
                    </a:p>
                  </a:txBody>
                  <a:tcPr marL="73152" marR="73152" marT="36576" marB="36576" anchor="ctr">
                    <a:solidFill>
                      <a:srgbClr val="F0F4F8"/>
                    </a:solidFill>
                  </a:tcPr>
                </a:tc>
                <a:tc>
                  <a:txBody>
                    <a:bodyPr/>
                    <a:lstStyle/>
                    <a:p>
                      <a:pPr algn="ctr"/>
                      <a:r>
                        <a:rPr sz="1300">
                          <a:solidFill>
                            <a:srgbClr val="1B2733"/>
                          </a:solidFill>
                          <a:latin typeface="Calibri"/>
                        </a:rPr>
                        <a:t>0.083 mAh</a:t>
                      </a:r>
                    </a:p>
                  </a:txBody>
                  <a:tcPr marL="73152" marR="73152" marT="36576" marB="36576" anchor="ctr">
                    <a:solidFill>
                      <a:srgbClr val="F0F4F8"/>
                    </a:solidFill>
                  </a:tcPr>
                </a:tc>
              </a:tr>
              <a:tr h="438912">
                <a:tc>
                  <a:txBody>
                    <a:bodyPr/>
                    <a:lstStyle/>
                    <a:p>
                      <a:r>
                        <a:rPr sz="1300" b="1">
                          <a:solidFill>
                            <a:srgbClr val="1B2733"/>
                          </a:solidFill>
                          <a:latin typeface="Calibri"/>
                        </a:rPr>
                        <a:t>Per forward</a:t>
                      </a:r>
                    </a:p>
                  </a:txBody>
                  <a:tcPr marL="73152" marR="73152" marT="36576" marB="36576" anchor="ctr">
                    <a:solidFill>
                      <a:srgbClr val="FFFFFF"/>
                    </a:solidFill>
                  </a:tcPr>
                </a:tc>
                <a:tc>
                  <a:txBody>
                    <a:bodyPr/>
                    <a:lstStyle/>
                    <a:p>
                      <a:pPr algn="ctr"/>
                      <a:r>
                        <a:rPr sz="1300">
                          <a:solidFill>
                            <a:srgbClr val="1B2733"/>
                          </a:solidFill>
                          <a:latin typeface="Calibri"/>
                        </a:rPr>
                        <a:t>0.060 mAh</a:t>
                      </a:r>
                    </a:p>
                  </a:txBody>
                  <a:tcPr marL="73152" marR="73152" marT="36576" marB="36576" anchor="ctr">
                    <a:solidFill>
                      <a:srgbClr val="FFFFFF"/>
                    </a:solidFill>
                  </a:tcPr>
                </a:tc>
              </a:tr>
              <a:tr h="438912">
                <a:tc>
                  <a:txBody>
                    <a:bodyPr/>
                    <a:lstStyle/>
                    <a:p>
                      <a:r>
                        <a:rPr sz="1300" b="1">
                          <a:solidFill>
                            <a:srgbClr val="1B2733"/>
                          </a:solidFill>
                          <a:latin typeface="Calibri"/>
                        </a:rPr>
                        <a:t>Random loss</a:t>
                      </a:r>
                    </a:p>
                  </a:txBody>
                  <a:tcPr marL="73152" marR="73152" marT="36576" marB="36576" anchor="ctr">
                    <a:solidFill>
                      <a:srgbClr val="F0F4F8"/>
                    </a:solidFill>
                  </a:tcPr>
                </a:tc>
                <a:tc>
                  <a:txBody>
                    <a:bodyPr/>
                    <a:lstStyle/>
                    <a:p>
                      <a:pPr algn="ctr"/>
                      <a:r>
                        <a:rPr sz="1300">
                          <a:solidFill>
                            <a:srgbClr val="1B2733"/>
                          </a:solidFill>
                          <a:latin typeface="Calibri"/>
                        </a:rPr>
                        <a:t>2%</a:t>
                      </a:r>
                    </a:p>
                  </a:txBody>
                  <a:tcPr marL="73152" marR="73152" marT="36576" marB="36576" anchor="ctr">
                    <a:solidFill>
                      <a:srgbClr val="F0F4F8"/>
                    </a:solidFill>
                  </a:tcPr>
                </a:tc>
              </a:tr>
              <a:tr h="438912">
                <a:tc>
                  <a:txBody>
                    <a:bodyPr/>
                    <a:lstStyle/>
                    <a:p>
                      <a:r>
                        <a:rPr sz="1300" b="1">
                          <a:solidFill>
                            <a:srgbClr val="1B2733"/>
                          </a:solidFill>
                          <a:latin typeface="Calibri"/>
                        </a:rPr>
                        <a:t>Latency / hop</a:t>
                      </a:r>
                    </a:p>
                  </a:txBody>
                  <a:tcPr marL="73152" marR="73152" marT="36576" marB="36576" anchor="ctr">
                    <a:solidFill>
                      <a:srgbClr val="FFFFFF"/>
                    </a:solidFill>
                  </a:tcPr>
                </a:tc>
                <a:tc>
                  <a:txBody>
                    <a:bodyPr/>
                    <a:lstStyle/>
                    <a:p>
                      <a:pPr algn="ctr"/>
                      <a:r>
                        <a:rPr sz="1300">
                          <a:solidFill>
                            <a:srgbClr val="1B2733"/>
                          </a:solidFill>
                          <a:latin typeface="Calibri"/>
                        </a:rPr>
                        <a:t>30 ms + exp(15)</a:t>
                      </a:r>
                    </a:p>
                  </a:txBody>
                  <a:tcPr marL="73152" marR="73152" marT="36576" marB="36576" anchor="ctr">
                    <a:solidFill>
                      <a:srgbClr val="FFFFFF"/>
                    </a:solidFill>
                  </a:tcPr>
                </a:tc>
              </a:tr>
              <a:tr h="438912">
                <a:tc>
                  <a:txBody>
                    <a:bodyPr/>
                    <a:lstStyle/>
                    <a:p>
                      <a:r>
                        <a:rPr sz="1300" b="1">
                          <a:solidFill>
                            <a:srgbClr val="1B2733"/>
                          </a:solidFill>
                          <a:latin typeface="Calibri"/>
                        </a:rPr>
                        <a:t>Sample rate</a:t>
                      </a:r>
                    </a:p>
                  </a:txBody>
                  <a:tcPr marL="73152" marR="73152" marT="36576" marB="36576" anchor="ctr">
                    <a:solidFill>
                      <a:srgbClr val="F0F4F8"/>
                    </a:solidFill>
                  </a:tcPr>
                </a:tc>
                <a:tc>
                  <a:txBody>
                    <a:bodyPr/>
                    <a:lstStyle/>
                    <a:p>
                      <a:pPr algn="ctr"/>
                      <a:r>
                        <a:rPr sz="1300">
                          <a:solidFill>
                            <a:srgbClr val="1B2733"/>
                          </a:solidFill>
                          <a:latin typeface="Calibri"/>
                        </a:rPr>
                        <a:t>1 / min</a:t>
                      </a:r>
                    </a:p>
                  </a:txBody>
                  <a:tcPr marL="73152" marR="73152" marT="36576" marB="36576" anchor="ctr">
                    <a:solidFill>
                      <a:srgbClr val="F0F4F8"/>
                    </a:solidFill>
                  </a:tcPr>
                </a:tc>
              </a:tr>
            </a:tbl>
          </a:graphicData>
        </a:graphic>
      </p:graphicFrame>
      <p:sp>
        <p:nvSpPr>
          <p:cNvPr id="14" name="TextBox 13"/>
          <p:cNvSpPr txBox="1"/>
          <p:nvPr/>
        </p:nvSpPr>
        <p:spPr>
          <a:xfrm>
            <a:off x="7589520" y="4754880"/>
            <a:ext cx="4069080" cy="1463040"/>
          </a:xfrm>
          <a:prstGeom prst="rect">
            <a:avLst/>
          </a:prstGeom>
          <a:noFill/>
        </p:spPr>
        <p:txBody>
          <a:bodyPr wrap="square" lIns="45720" rIns="45720" tIns="27432" bIns="27432" anchor="t">
            <a:spAutoFit/>
          </a:bodyPr>
          <a:lstStyle/>
          <a:p>
            <a:pPr algn="l"/>
            <a:r>
              <a:rPr sz="1200" b="0" i="1">
                <a:solidFill>
                  <a:srgbClr val="5B6B7B"/>
                </a:solidFill>
                <a:latin typeface="Calibri"/>
              </a:rPr>
              <a:t>Parameterised from typical ESP32 transmit and sleep figures. These are modelled values, not measurements.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ML &amp; BASELINES (M3, M8)</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Detection methods</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9 / 17</a:t>
            </a:r>
          </a:p>
        </p:txBody>
      </p:sp>
      <p:sp>
        <p:nvSpPr>
          <p:cNvPr id="8" name="Rectangle 7"/>
          <p:cNvSpPr/>
          <p:nvPr/>
        </p:nvSpPr>
        <p:spPr>
          <a:xfrm>
            <a:off x="548640" y="1417320"/>
            <a:ext cx="3566160" cy="361188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566160" cy="457200"/>
          </a:xfrm>
          <a:prstGeom prst="rect">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63040"/>
            <a:ext cx="3291840" cy="365760"/>
          </a:xfrm>
          <a:prstGeom prst="rect">
            <a:avLst/>
          </a:prstGeom>
          <a:noFill/>
        </p:spPr>
        <p:txBody>
          <a:bodyPr wrap="square" lIns="45720" rIns="45720" tIns="27432" bIns="27432" anchor="t">
            <a:spAutoFit/>
          </a:bodyPr>
          <a:lstStyle/>
          <a:p>
            <a:pPr algn="l"/>
            <a:r>
              <a:rPr sz="1600" b="1" i="0">
                <a:solidFill>
                  <a:srgbClr val="FFFFFF"/>
                </a:solidFill>
                <a:latin typeface="Calibri"/>
              </a:rPr>
              <a:t>Threshold baseline</a:t>
            </a:r>
          </a:p>
        </p:txBody>
      </p:sp>
      <p:sp>
        <p:nvSpPr>
          <p:cNvPr id="11" name="TextBox 10"/>
          <p:cNvSpPr txBox="1"/>
          <p:nvPr/>
        </p:nvSpPr>
        <p:spPr>
          <a:xfrm>
            <a:off x="685800" y="2011680"/>
            <a:ext cx="3337560" cy="3017520"/>
          </a:xfrm>
          <a:prstGeom prst="rect">
            <a:avLst/>
          </a:prstGeom>
          <a:noFill/>
        </p:spPr>
        <p:txBody>
          <a:bodyPr wrap="square" lIns="45720">
            <a:spAutoFit/>
          </a:bodyPr>
          <a:lstStyle/>
          <a:p>
            <a:pPr>
              <a:spcAft>
                <a:spcPts val="800"/>
              </a:spcAft>
            </a:pPr>
            <a:r>
              <a:rPr sz="1500">
                <a:solidFill>
                  <a:srgbClr val="D64545"/>
                </a:solidFill>
                <a:latin typeface="Calibri"/>
              </a:rPr>
              <a:t>▪  </a:t>
            </a:r>
            <a:r>
              <a:rPr sz="1500" b="0">
                <a:solidFill>
                  <a:srgbClr val="1B2733"/>
                </a:solidFill>
                <a:latin typeface="Calibri"/>
              </a:rPr>
              <a:t>Temp outside 15–35 °C</a:t>
            </a:r>
          </a:p>
          <a:p>
            <a:pPr>
              <a:spcAft>
                <a:spcPts val="800"/>
              </a:spcAft>
            </a:pPr>
            <a:r>
              <a:rPr sz="1500">
                <a:solidFill>
                  <a:srgbClr val="D64545"/>
                </a:solidFill>
                <a:latin typeface="Calibri"/>
              </a:rPr>
              <a:t>▪  </a:t>
            </a:r>
            <a:r>
              <a:rPr sz="1500" b="0">
                <a:solidFill>
                  <a:srgbClr val="1B2733"/>
                </a:solidFill>
                <a:latin typeface="Calibri"/>
              </a:rPr>
              <a:t>Humidity outside 20–90%</a:t>
            </a:r>
          </a:p>
          <a:p>
            <a:pPr>
              <a:spcAft>
                <a:spcPts val="800"/>
              </a:spcAft>
            </a:pPr>
            <a:r>
              <a:rPr sz="1500">
                <a:solidFill>
                  <a:srgbClr val="D64545"/>
                </a:solidFill>
                <a:latin typeface="Calibri"/>
              </a:rPr>
              <a:t>▪  </a:t>
            </a:r>
            <a:r>
              <a:rPr sz="1500" b="0">
                <a:solidFill>
                  <a:srgbClr val="1B2733"/>
                </a:solidFill>
                <a:latin typeface="Calibri"/>
              </a:rPr>
              <a:t>Missing value = alarm</a:t>
            </a:r>
          </a:p>
          <a:p>
            <a:pPr>
              <a:spcAft>
                <a:spcPts val="800"/>
              </a:spcAft>
            </a:pPr>
            <a:r>
              <a:rPr sz="1500">
                <a:solidFill>
                  <a:srgbClr val="D64545"/>
                </a:solidFill>
                <a:latin typeface="Calibri"/>
              </a:rPr>
              <a:t>▪  </a:t>
            </a:r>
            <a:r>
              <a:rPr sz="1500" b="0">
                <a:solidFill>
                  <a:srgbClr val="1B2733"/>
                </a:solidFill>
                <a:latin typeface="Calibri"/>
              </a:rPr>
              <a:t>Fair, realistic cutoffs</a:t>
            </a:r>
          </a:p>
        </p:txBody>
      </p:sp>
      <p:sp>
        <p:nvSpPr>
          <p:cNvPr id="12" name="Rectangle 11"/>
          <p:cNvSpPr/>
          <p:nvPr/>
        </p:nvSpPr>
        <p:spPr>
          <a:xfrm>
            <a:off x="4297679" y="1417320"/>
            <a:ext cx="3566160" cy="361188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79" y="1417320"/>
            <a:ext cx="3566160" cy="45720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463040"/>
            <a:ext cx="3291840" cy="365760"/>
          </a:xfrm>
          <a:prstGeom prst="rect">
            <a:avLst/>
          </a:prstGeom>
          <a:noFill/>
        </p:spPr>
        <p:txBody>
          <a:bodyPr wrap="square" lIns="45720" rIns="45720" tIns="27432" bIns="27432" anchor="t">
            <a:spAutoFit/>
          </a:bodyPr>
          <a:lstStyle/>
          <a:p>
            <a:pPr algn="l"/>
            <a:r>
              <a:rPr sz="1600" b="1" i="0">
                <a:solidFill>
                  <a:srgbClr val="FFFFFF"/>
                </a:solidFill>
                <a:latin typeface="Calibri"/>
              </a:rPr>
              <a:t>Isolation Forest</a:t>
            </a:r>
          </a:p>
        </p:txBody>
      </p:sp>
      <p:sp>
        <p:nvSpPr>
          <p:cNvPr id="15" name="TextBox 14"/>
          <p:cNvSpPr txBox="1"/>
          <p:nvPr/>
        </p:nvSpPr>
        <p:spPr>
          <a:xfrm>
            <a:off x="4434840" y="2011680"/>
            <a:ext cx="3337560" cy="3017520"/>
          </a:xfrm>
          <a:prstGeom prst="rect">
            <a:avLst/>
          </a:prstGeom>
          <a:noFill/>
        </p:spPr>
        <p:txBody>
          <a:bodyPr wrap="square" lIns="45720">
            <a:spAutoFit/>
          </a:bodyPr>
          <a:lstStyle/>
          <a:p>
            <a:pPr>
              <a:spcAft>
                <a:spcPts val="800"/>
              </a:spcAft>
            </a:pPr>
            <a:r>
              <a:rPr sz="1500">
                <a:solidFill>
                  <a:srgbClr val="0FA3A3"/>
                </a:solidFill>
                <a:latin typeface="Calibri"/>
              </a:rPr>
              <a:t>▪  </a:t>
            </a:r>
            <a:r>
              <a:rPr sz="1500" b="0">
                <a:solidFill>
                  <a:srgbClr val="1B2733"/>
                </a:solidFill>
                <a:latin typeface="Calibri"/>
              </a:rPr>
              <a:t>Trained on normal data only</a:t>
            </a:r>
          </a:p>
          <a:p>
            <a:pPr>
              <a:spcAft>
                <a:spcPts val="800"/>
              </a:spcAft>
            </a:pPr>
            <a:r>
              <a:rPr sz="1500">
                <a:solidFill>
                  <a:srgbClr val="0FA3A3"/>
                </a:solidFill>
                <a:latin typeface="Calibri"/>
              </a:rPr>
              <a:t>▪  </a:t>
            </a:r>
            <a:r>
              <a:rPr sz="1500" b="0">
                <a:solidFill>
                  <a:srgbClr val="1B2733"/>
                </a:solidFill>
                <a:latin typeface="Calibri"/>
              </a:rPr>
              <a:t>No labels needed</a:t>
            </a:r>
          </a:p>
          <a:p>
            <a:pPr>
              <a:spcAft>
                <a:spcPts val="800"/>
              </a:spcAft>
            </a:pPr>
            <a:r>
              <a:rPr sz="1500">
                <a:solidFill>
                  <a:srgbClr val="0FA3A3"/>
                </a:solidFill>
                <a:latin typeface="Calibri"/>
              </a:rPr>
              <a:t>▪  </a:t>
            </a:r>
            <a:r>
              <a:rPr sz="1500" b="0">
                <a:solidFill>
                  <a:srgbClr val="1B2733"/>
                </a:solidFill>
                <a:latin typeface="Calibri"/>
              </a:rPr>
              <a:t>Features: residual from expected daily pattern, rolling mean, std, diffs</a:t>
            </a:r>
          </a:p>
          <a:p>
            <a:pPr>
              <a:spcAft>
                <a:spcPts val="800"/>
              </a:spcAft>
            </a:pPr>
            <a:r>
              <a:rPr sz="1500">
                <a:solidFill>
                  <a:srgbClr val="0FA3A3"/>
                </a:solidFill>
                <a:latin typeface="Calibri"/>
              </a:rPr>
              <a:t>▪  </a:t>
            </a:r>
            <a:r>
              <a:rPr sz="1500" b="0">
                <a:solidFill>
                  <a:srgbClr val="1B2733"/>
                </a:solidFill>
                <a:latin typeface="Calibri"/>
              </a:rPr>
              <a:t>Cutoff set from normal scores (1st percentile)</a:t>
            </a:r>
          </a:p>
        </p:txBody>
      </p:sp>
      <p:sp>
        <p:nvSpPr>
          <p:cNvPr id="16" name="Rectangle 15"/>
          <p:cNvSpPr/>
          <p:nvPr/>
        </p:nvSpPr>
        <p:spPr>
          <a:xfrm>
            <a:off x="8046719" y="1417320"/>
            <a:ext cx="3566160" cy="361188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1417320"/>
            <a:ext cx="3566160" cy="45720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1463040"/>
            <a:ext cx="3291840" cy="365760"/>
          </a:xfrm>
          <a:prstGeom prst="rect">
            <a:avLst/>
          </a:prstGeom>
          <a:noFill/>
        </p:spPr>
        <p:txBody>
          <a:bodyPr wrap="square" lIns="45720" rIns="45720" tIns="27432" bIns="27432" anchor="t">
            <a:spAutoFit/>
          </a:bodyPr>
          <a:lstStyle/>
          <a:p>
            <a:pPr algn="l"/>
            <a:r>
              <a:rPr sz="1600" b="1" i="0">
                <a:solidFill>
                  <a:srgbClr val="FFFFFF"/>
                </a:solidFill>
                <a:latin typeface="Calibri"/>
              </a:rPr>
              <a:t>Random Forest</a:t>
            </a:r>
          </a:p>
        </p:txBody>
      </p:sp>
      <p:sp>
        <p:nvSpPr>
          <p:cNvPr id="19" name="TextBox 18"/>
          <p:cNvSpPr txBox="1"/>
          <p:nvPr/>
        </p:nvSpPr>
        <p:spPr>
          <a:xfrm>
            <a:off x="8183879" y="2011680"/>
            <a:ext cx="3337560" cy="3017520"/>
          </a:xfrm>
          <a:prstGeom prst="rect">
            <a:avLst/>
          </a:prstGeom>
          <a:noFill/>
        </p:spPr>
        <p:txBody>
          <a:bodyPr wrap="square" lIns="45720">
            <a:spAutoFit/>
          </a:bodyPr>
          <a:lstStyle/>
          <a:p>
            <a:pPr>
              <a:spcAft>
                <a:spcPts val="800"/>
              </a:spcAft>
            </a:pPr>
            <a:r>
              <a:rPr sz="1500">
                <a:solidFill>
                  <a:srgbClr val="12304F"/>
                </a:solidFill>
                <a:latin typeface="Calibri"/>
              </a:rPr>
              <a:t>▪  </a:t>
            </a:r>
            <a:r>
              <a:rPr sz="1500" b="0">
                <a:solidFill>
                  <a:srgbClr val="1B2733"/>
                </a:solidFill>
                <a:latin typeface="Calibri"/>
              </a:rPr>
              <a:t>Supervised, needs labels</a:t>
            </a:r>
          </a:p>
          <a:p>
            <a:pPr>
              <a:spcAft>
                <a:spcPts val="800"/>
              </a:spcAft>
            </a:pPr>
            <a:r>
              <a:rPr sz="1500">
                <a:solidFill>
                  <a:srgbClr val="12304F"/>
                </a:solidFill>
                <a:latin typeface="Calibri"/>
              </a:rPr>
              <a:t>▪  </a:t>
            </a:r>
            <a:r>
              <a:rPr sz="1500" b="0">
                <a:solidFill>
                  <a:srgbClr val="1B2733"/>
                </a:solidFill>
                <a:latin typeface="Calibri"/>
              </a:rPr>
              <a:t>Rolling-window features</a:t>
            </a:r>
          </a:p>
          <a:p>
            <a:pPr>
              <a:spcAft>
                <a:spcPts val="800"/>
              </a:spcAft>
            </a:pPr>
            <a:r>
              <a:rPr sz="1500">
                <a:solidFill>
                  <a:srgbClr val="12304F"/>
                </a:solidFill>
                <a:latin typeface="Calibri"/>
              </a:rPr>
              <a:t>▪  </a:t>
            </a:r>
            <a:r>
              <a:rPr sz="1500" b="0">
                <a:solidFill>
                  <a:srgbClr val="1B2733"/>
                </a:solidFill>
                <a:latin typeface="Calibri"/>
              </a:rPr>
              <a:t>Class-balanced</a:t>
            </a:r>
          </a:p>
          <a:p>
            <a:pPr>
              <a:spcAft>
                <a:spcPts val="800"/>
              </a:spcAft>
            </a:pPr>
            <a:r>
              <a:rPr sz="1500">
                <a:solidFill>
                  <a:srgbClr val="12304F"/>
                </a:solidFill>
                <a:latin typeface="Calibri"/>
              </a:rPr>
              <a:t>▪  </a:t>
            </a:r>
            <a:r>
              <a:rPr sz="1500" b="0">
                <a:solidFill>
                  <a:srgbClr val="1B2733"/>
                </a:solidFill>
                <a:latin typeface="Calibri"/>
              </a:rPr>
              <a:t>Time-based 60 / 40 split</a:t>
            </a:r>
          </a:p>
        </p:txBody>
      </p:sp>
      <p:sp>
        <p:nvSpPr>
          <p:cNvPr id="20" name="Rectangle 19"/>
          <p:cNvSpPr/>
          <p:nvPr/>
        </p:nvSpPr>
        <p:spPr>
          <a:xfrm>
            <a:off x="548640" y="5212080"/>
            <a:ext cx="11064240" cy="105156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285232"/>
            <a:ext cx="10607040" cy="914400"/>
          </a:xfrm>
          <a:prstGeom prst="rect">
            <a:avLst/>
          </a:prstGeom>
          <a:noFill/>
        </p:spPr>
        <p:txBody>
          <a:bodyPr wrap="square" lIns="45720" rIns="45720" tIns="27432" bIns="27432" anchor="ctr">
            <a:spAutoFit/>
          </a:bodyPr>
          <a:lstStyle/>
          <a:p>
            <a:pPr algn="l"/>
            <a:r>
              <a:rPr sz="1500" b="1" i="0">
                <a:solidFill>
                  <a:srgbClr val="F2A900"/>
                </a:solidFill>
                <a:latin typeface="Calibri"/>
              </a:rPr>
              <a:t>Hybrid system: </a:t>
            </a:r>
            <a:r>
              <a:rPr sz="1500" b="0" i="0">
                <a:solidFill>
                  <a:srgbClr val="FFFFFF"/>
                </a:solidFill>
                <a:latin typeface="Calibri"/>
              </a:rPr>
              <a:t>classical rules + a watchdog (alarm after 5 consecutive missing readings) catch the loud faults; Isolation Forest on top catches the quiet ones, stuck values and drift.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EVALUATION (HELD-OUT 40% TEST SPLIT)</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Results: ML vs threshold</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10 / 17</a:t>
            </a:r>
          </a:p>
        </p:txBody>
      </p:sp>
      <p:graphicFrame>
        <p:nvGraphicFramePr>
          <p:cNvPr id="8" name="Table 7"/>
          <p:cNvGraphicFramePr>
            <a:graphicFrameLocks noGrp="1"/>
          </p:cNvGraphicFramePr>
          <p:nvPr/>
        </p:nvGraphicFramePr>
        <p:xfrm>
          <a:off x="548640" y="1417320"/>
          <a:ext cx="5852160" cy="2286000"/>
        </p:xfrm>
        <a:graphic>
          <a:graphicData uri="http://schemas.openxmlformats.org/drawingml/2006/table">
            <a:tbl>
              <a:tblPr firstRow="0" bandRow="0">
                <a:tableStyleId>{5C22544A-7EE6-4342-B048-85BDC9FD1C3A}</a:tableStyleId>
              </a:tblPr>
              <a:tblGrid>
                <a:gridCol w="1920240"/>
                <a:gridCol w="914400"/>
                <a:gridCol w="822960"/>
                <a:gridCol w="731520"/>
                <a:gridCol w="731520"/>
                <a:gridCol w="731520"/>
              </a:tblGrid>
              <a:tr h="457200">
                <a:tc>
                  <a:txBody>
                    <a:bodyPr/>
                    <a:lstStyle/>
                    <a:p>
                      <a:r>
                        <a:rPr sz="1300" b="1">
                          <a:solidFill>
                            <a:srgbClr val="FFFFFF"/>
                          </a:solidFill>
                          <a:latin typeface="Calibri"/>
                        </a:rPr>
                        <a:t>Method</a:t>
                      </a:r>
                    </a:p>
                  </a:txBody>
                  <a:tcPr marL="73152" marR="73152" marT="36576" marB="36576" anchor="ctr">
                    <a:solidFill>
                      <a:srgbClr val="12304F"/>
                    </a:solidFill>
                  </a:tcPr>
                </a:tc>
                <a:tc>
                  <a:txBody>
                    <a:bodyPr/>
                    <a:lstStyle/>
                    <a:p>
                      <a:pPr algn="ctr"/>
                      <a:r>
                        <a:rPr sz="1300" b="1">
                          <a:solidFill>
                            <a:srgbClr val="FFFFFF"/>
                          </a:solidFill>
                          <a:latin typeface="Calibri"/>
                        </a:rPr>
                        <a:t>Precision</a:t>
                      </a:r>
                    </a:p>
                  </a:txBody>
                  <a:tcPr marL="73152" marR="73152" marT="36576" marB="36576" anchor="ctr">
                    <a:solidFill>
                      <a:srgbClr val="12304F"/>
                    </a:solidFill>
                  </a:tcPr>
                </a:tc>
                <a:tc>
                  <a:txBody>
                    <a:bodyPr/>
                    <a:lstStyle/>
                    <a:p>
                      <a:pPr algn="ctr"/>
                      <a:r>
                        <a:rPr sz="1300" b="1">
                          <a:solidFill>
                            <a:srgbClr val="FFFFFF"/>
                          </a:solidFill>
                          <a:latin typeface="Calibri"/>
                        </a:rPr>
                        <a:t>Recall</a:t>
                      </a:r>
                    </a:p>
                  </a:txBody>
                  <a:tcPr marL="73152" marR="73152" marT="36576" marB="36576" anchor="ctr">
                    <a:solidFill>
                      <a:srgbClr val="12304F"/>
                    </a:solidFill>
                  </a:tcPr>
                </a:tc>
                <a:tc>
                  <a:txBody>
                    <a:bodyPr/>
                    <a:lstStyle/>
                    <a:p>
                      <a:pPr algn="ctr"/>
                      <a:r>
                        <a:rPr sz="1300" b="1">
                          <a:solidFill>
                            <a:srgbClr val="FFFFFF"/>
                          </a:solidFill>
                          <a:latin typeface="Calibri"/>
                        </a:rPr>
                        <a:t>F1</a:t>
                      </a:r>
                    </a:p>
                  </a:txBody>
                  <a:tcPr marL="73152" marR="73152" marT="36576" marB="36576" anchor="ctr">
                    <a:solidFill>
                      <a:srgbClr val="12304F"/>
                    </a:solidFill>
                  </a:tcPr>
                </a:tc>
                <a:tc>
                  <a:txBody>
                    <a:bodyPr/>
                    <a:lstStyle/>
                    <a:p>
                      <a:pPr algn="ctr"/>
                      <a:r>
                        <a:rPr sz="1300" b="1">
                          <a:solidFill>
                            <a:srgbClr val="FFFFFF"/>
                          </a:solidFill>
                          <a:latin typeface="Calibri"/>
                        </a:rPr>
                        <a:t>FPR</a:t>
                      </a:r>
                    </a:p>
                  </a:txBody>
                  <a:tcPr marL="73152" marR="73152" marT="36576" marB="36576" anchor="ctr">
                    <a:solidFill>
                      <a:srgbClr val="12304F"/>
                    </a:solidFill>
                  </a:tcPr>
                </a:tc>
                <a:tc>
                  <a:txBody>
                    <a:bodyPr/>
                    <a:lstStyle/>
                    <a:p>
                      <a:pPr algn="ctr"/>
                      <a:r>
                        <a:rPr sz="1300" b="1">
                          <a:solidFill>
                            <a:srgbClr val="FFFFFF"/>
                          </a:solidFill>
                          <a:latin typeface="Calibri"/>
                        </a:rPr>
                        <a:t>Labels?</a:t>
                      </a:r>
                    </a:p>
                  </a:txBody>
                  <a:tcPr marL="73152" marR="73152" marT="36576" marB="36576" anchor="ctr">
                    <a:solidFill>
                      <a:srgbClr val="12304F"/>
                    </a:solidFill>
                  </a:tcPr>
                </a:tc>
              </a:tr>
              <a:tr h="457200">
                <a:tc>
                  <a:txBody>
                    <a:bodyPr/>
                    <a:lstStyle/>
                    <a:p>
                      <a:r>
                        <a:rPr sz="1300" b="1">
                          <a:solidFill>
                            <a:srgbClr val="1B2733"/>
                          </a:solidFill>
                          <a:latin typeface="Calibri"/>
                        </a:rPr>
                        <a:t>Threshold</a:t>
                      </a:r>
                    </a:p>
                  </a:txBody>
                  <a:tcPr marL="73152" marR="73152" marT="36576" marB="36576" anchor="ctr">
                    <a:solidFill>
                      <a:srgbClr val="FFFFFF"/>
                    </a:solidFill>
                  </a:tcPr>
                </a:tc>
                <a:tc>
                  <a:txBody>
                    <a:bodyPr/>
                    <a:lstStyle/>
                    <a:p>
                      <a:pPr algn="ctr"/>
                      <a:r>
                        <a:rPr sz="1300">
                          <a:solidFill>
                            <a:srgbClr val="1B2733"/>
                          </a:solidFill>
                          <a:latin typeface="Calibri"/>
                        </a:rPr>
                        <a:t>1.000</a:t>
                      </a:r>
                    </a:p>
                  </a:txBody>
                  <a:tcPr marL="73152" marR="73152" marT="36576" marB="36576" anchor="ctr">
                    <a:solidFill>
                      <a:srgbClr val="FFFFFF"/>
                    </a:solidFill>
                  </a:tcPr>
                </a:tc>
                <a:tc>
                  <a:txBody>
                    <a:bodyPr/>
                    <a:lstStyle/>
                    <a:p>
                      <a:pPr algn="ctr"/>
                      <a:r>
                        <a:rPr sz="1300">
                          <a:solidFill>
                            <a:srgbClr val="1B2733"/>
                          </a:solidFill>
                          <a:latin typeface="Calibri"/>
                        </a:rPr>
                        <a:t>0.064</a:t>
                      </a:r>
                    </a:p>
                  </a:txBody>
                  <a:tcPr marL="73152" marR="73152" marT="36576" marB="36576" anchor="ctr">
                    <a:solidFill>
                      <a:srgbClr val="FFFFFF"/>
                    </a:solidFill>
                  </a:tcPr>
                </a:tc>
                <a:tc>
                  <a:txBody>
                    <a:bodyPr/>
                    <a:lstStyle/>
                    <a:p>
                      <a:pPr algn="ctr"/>
                      <a:r>
                        <a:rPr sz="1300">
                          <a:solidFill>
                            <a:srgbClr val="1B2733"/>
                          </a:solidFill>
                          <a:latin typeface="Calibri"/>
                        </a:rPr>
                        <a:t>0.120</a:t>
                      </a:r>
                    </a:p>
                  </a:txBody>
                  <a:tcPr marL="73152" marR="73152" marT="36576" marB="36576" anchor="ctr">
                    <a:solidFill>
                      <a:srgbClr val="FFFFFF"/>
                    </a:solidFill>
                  </a:tcPr>
                </a:tc>
                <a:tc>
                  <a:txBody>
                    <a:bodyPr/>
                    <a:lstStyle/>
                    <a:p>
                      <a:pPr algn="ctr"/>
                      <a:r>
                        <a:rPr sz="1300">
                          <a:solidFill>
                            <a:srgbClr val="1B2733"/>
                          </a:solidFill>
                          <a:latin typeface="Calibri"/>
                        </a:rPr>
                        <a:t>0.000</a:t>
                      </a:r>
                    </a:p>
                  </a:txBody>
                  <a:tcPr marL="73152" marR="73152" marT="36576" marB="36576" anchor="ctr">
                    <a:solidFill>
                      <a:srgbClr val="FFFFFF"/>
                    </a:solidFill>
                  </a:tcPr>
                </a:tc>
                <a:tc>
                  <a:txBody>
                    <a:bodyPr/>
                    <a:lstStyle/>
                    <a:p>
                      <a:pPr algn="ctr"/>
                      <a:r>
                        <a:rPr sz="1300">
                          <a:solidFill>
                            <a:srgbClr val="1B2733"/>
                          </a:solidFill>
                          <a:latin typeface="Calibri"/>
                        </a:rPr>
                        <a:t>No</a:t>
                      </a:r>
                    </a:p>
                  </a:txBody>
                  <a:tcPr marL="73152" marR="73152" marT="36576" marB="36576" anchor="ctr">
                    <a:solidFill>
                      <a:srgbClr val="FFFFFF"/>
                    </a:solidFill>
                  </a:tcPr>
                </a:tc>
              </a:tr>
              <a:tr h="457200">
                <a:tc>
                  <a:txBody>
                    <a:bodyPr/>
                    <a:lstStyle/>
                    <a:p>
                      <a:r>
                        <a:rPr sz="1300" b="1">
                          <a:solidFill>
                            <a:srgbClr val="1B2733"/>
                          </a:solidFill>
                          <a:latin typeface="Calibri"/>
                        </a:rPr>
                        <a:t>Isolation Forest v1</a:t>
                      </a:r>
                    </a:p>
                  </a:txBody>
                  <a:tcPr marL="73152" marR="73152" marT="36576" marB="36576" anchor="ctr">
                    <a:solidFill>
                      <a:srgbClr val="F0F4F8"/>
                    </a:solidFill>
                  </a:tcPr>
                </a:tc>
                <a:tc>
                  <a:txBody>
                    <a:bodyPr/>
                    <a:lstStyle/>
                    <a:p>
                      <a:pPr algn="ctr"/>
                      <a:r>
                        <a:rPr sz="1300">
                          <a:solidFill>
                            <a:srgbClr val="1B2733"/>
                          </a:solidFill>
                          <a:latin typeface="Calibri"/>
                        </a:rPr>
                        <a:t>0.297</a:t>
                      </a:r>
                    </a:p>
                  </a:txBody>
                  <a:tcPr marL="73152" marR="73152" marT="36576" marB="36576" anchor="ctr">
                    <a:solidFill>
                      <a:srgbClr val="F0F4F8"/>
                    </a:solidFill>
                  </a:tcPr>
                </a:tc>
                <a:tc>
                  <a:txBody>
                    <a:bodyPr/>
                    <a:lstStyle/>
                    <a:p>
                      <a:pPr algn="ctr"/>
                      <a:r>
                        <a:rPr sz="1300">
                          <a:solidFill>
                            <a:srgbClr val="1B2733"/>
                          </a:solidFill>
                          <a:latin typeface="Calibri"/>
                        </a:rPr>
                        <a:t>0.243</a:t>
                      </a:r>
                    </a:p>
                  </a:txBody>
                  <a:tcPr marL="73152" marR="73152" marT="36576" marB="36576" anchor="ctr">
                    <a:solidFill>
                      <a:srgbClr val="F0F4F8"/>
                    </a:solidFill>
                  </a:tcPr>
                </a:tc>
                <a:tc>
                  <a:txBody>
                    <a:bodyPr/>
                    <a:lstStyle/>
                    <a:p>
                      <a:pPr algn="ctr"/>
                      <a:r>
                        <a:rPr sz="1300">
                          <a:solidFill>
                            <a:srgbClr val="1B2733"/>
                          </a:solidFill>
                          <a:latin typeface="Calibri"/>
                        </a:rPr>
                        <a:t>0.267</a:t>
                      </a:r>
                    </a:p>
                  </a:txBody>
                  <a:tcPr marL="73152" marR="73152" marT="36576" marB="36576" anchor="ctr">
                    <a:solidFill>
                      <a:srgbClr val="F0F4F8"/>
                    </a:solidFill>
                  </a:tcPr>
                </a:tc>
                <a:tc>
                  <a:txBody>
                    <a:bodyPr/>
                    <a:lstStyle/>
                    <a:p>
                      <a:pPr algn="ctr"/>
                      <a:r>
                        <a:rPr sz="1300">
                          <a:solidFill>
                            <a:srgbClr val="1B2733"/>
                          </a:solidFill>
                          <a:latin typeface="Calibri"/>
                        </a:rPr>
                        <a:t>0.068</a:t>
                      </a:r>
                    </a:p>
                  </a:txBody>
                  <a:tcPr marL="73152" marR="73152" marT="36576" marB="36576" anchor="ctr">
                    <a:solidFill>
                      <a:srgbClr val="F0F4F8"/>
                    </a:solidFill>
                  </a:tcPr>
                </a:tc>
                <a:tc>
                  <a:txBody>
                    <a:bodyPr/>
                    <a:lstStyle/>
                    <a:p>
                      <a:pPr algn="ctr"/>
                      <a:r>
                        <a:rPr sz="1300">
                          <a:solidFill>
                            <a:srgbClr val="1B2733"/>
                          </a:solidFill>
                          <a:latin typeface="Calibri"/>
                        </a:rPr>
                        <a:t>No</a:t>
                      </a:r>
                    </a:p>
                  </a:txBody>
                  <a:tcPr marL="73152" marR="73152" marT="36576" marB="36576" anchor="ctr">
                    <a:solidFill>
                      <a:srgbClr val="F0F4F8"/>
                    </a:solidFill>
                  </a:tcPr>
                </a:tc>
              </a:tr>
              <a:tr h="457200">
                <a:tc>
                  <a:txBody>
                    <a:bodyPr/>
                    <a:lstStyle/>
                    <a:p>
                      <a:r>
                        <a:rPr sz="1300" b="1">
                          <a:solidFill>
                            <a:srgbClr val="1B2733"/>
                          </a:solidFill>
                          <a:latin typeface="Calibri"/>
                        </a:rPr>
                        <a:t>Isolation Forest v2</a:t>
                      </a:r>
                    </a:p>
                  </a:txBody>
                  <a:tcPr marL="73152" marR="73152" marT="36576" marB="36576" anchor="ctr">
                    <a:solidFill>
                      <a:srgbClr val="FFF4D6"/>
                    </a:solidFill>
                  </a:tcPr>
                </a:tc>
                <a:tc>
                  <a:txBody>
                    <a:bodyPr/>
                    <a:lstStyle/>
                    <a:p>
                      <a:pPr algn="ctr"/>
                      <a:r>
                        <a:rPr sz="1300">
                          <a:solidFill>
                            <a:srgbClr val="1B2733"/>
                          </a:solidFill>
                          <a:latin typeface="Calibri"/>
                        </a:rPr>
                        <a:t>0.817</a:t>
                      </a:r>
                    </a:p>
                  </a:txBody>
                  <a:tcPr marL="73152" marR="73152" marT="36576" marB="36576" anchor="ctr">
                    <a:solidFill>
                      <a:srgbClr val="FFF4D6"/>
                    </a:solidFill>
                  </a:tcPr>
                </a:tc>
                <a:tc>
                  <a:txBody>
                    <a:bodyPr/>
                    <a:lstStyle/>
                    <a:p>
                      <a:pPr algn="ctr"/>
                      <a:r>
                        <a:rPr sz="1300">
                          <a:solidFill>
                            <a:srgbClr val="1B2733"/>
                          </a:solidFill>
                          <a:latin typeface="Calibri"/>
                        </a:rPr>
                        <a:t>0.743</a:t>
                      </a:r>
                    </a:p>
                  </a:txBody>
                  <a:tcPr marL="73152" marR="73152" marT="36576" marB="36576" anchor="ctr">
                    <a:solidFill>
                      <a:srgbClr val="FFF4D6"/>
                    </a:solidFill>
                  </a:tcPr>
                </a:tc>
                <a:tc>
                  <a:txBody>
                    <a:bodyPr/>
                    <a:lstStyle/>
                    <a:p>
                      <a:pPr algn="ctr"/>
                      <a:r>
                        <a:rPr sz="1300">
                          <a:solidFill>
                            <a:srgbClr val="1B2733"/>
                          </a:solidFill>
                          <a:latin typeface="Calibri"/>
                        </a:rPr>
                        <a:t>0.778</a:t>
                      </a:r>
                    </a:p>
                  </a:txBody>
                  <a:tcPr marL="73152" marR="73152" marT="36576" marB="36576" anchor="ctr">
                    <a:solidFill>
                      <a:srgbClr val="FFF4D6"/>
                    </a:solidFill>
                  </a:tcPr>
                </a:tc>
                <a:tc>
                  <a:txBody>
                    <a:bodyPr/>
                    <a:lstStyle/>
                    <a:p>
                      <a:pPr algn="ctr"/>
                      <a:r>
                        <a:rPr sz="1300">
                          <a:solidFill>
                            <a:srgbClr val="1B2733"/>
                          </a:solidFill>
                          <a:latin typeface="Calibri"/>
                        </a:rPr>
                        <a:t>0.020</a:t>
                      </a:r>
                    </a:p>
                  </a:txBody>
                  <a:tcPr marL="73152" marR="73152" marT="36576" marB="36576" anchor="ctr">
                    <a:solidFill>
                      <a:srgbClr val="FFF4D6"/>
                    </a:solidFill>
                  </a:tcPr>
                </a:tc>
                <a:tc>
                  <a:txBody>
                    <a:bodyPr/>
                    <a:lstStyle/>
                    <a:p>
                      <a:pPr algn="ctr"/>
                      <a:r>
                        <a:rPr sz="1300">
                          <a:solidFill>
                            <a:srgbClr val="1B2733"/>
                          </a:solidFill>
                          <a:latin typeface="Calibri"/>
                        </a:rPr>
                        <a:t>No</a:t>
                      </a:r>
                    </a:p>
                  </a:txBody>
                  <a:tcPr marL="73152" marR="73152" marT="36576" marB="36576" anchor="ctr">
                    <a:solidFill>
                      <a:srgbClr val="FFF4D6"/>
                    </a:solidFill>
                  </a:tcPr>
                </a:tc>
              </a:tr>
              <a:tr h="457200">
                <a:tc>
                  <a:txBody>
                    <a:bodyPr/>
                    <a:lstStyle/>
                    <a:p>
                      <a:r>
                        <a:rPr sz="1300" b="1">
                          <a:solidFill>
                            <a:srgbClr val="1B2733"/>
                          </a:solidFill>
                          <a:latin typeface="Calibri"/>
                        </a:rPr>
                        <a:t>Random Forest</a:t>
                      </a:r>
                    </a:p>
                  </a:txBody>
                  <a:tcPr marL="73152" marR="73152" marT="36576" marB="36576" anchor="ctr">
                    <a:solidFill>
                      <a:srgbClr val="F0F4F8"/>
                    </a:solidFill>
                  </a:tcPr>
                </a:tc>
                <a:tc>
                  <a:txBody>
                    <a:bodyPr/>
                    <a:lstStyle/>
                    <a:p>
                      <a:pPr algn="ctr"/>
                      <a:r>
                        <a:rPr sz="1300">
                          <a:solidFill>
                            <a:srgbClr val="1B2733"/>
                          </a:solidFill>
                          <a:latin typeface="Calibri"/>
                        </a:rPr>
                        <a:t>0.981</a:t>
                      </a:r>
                    </a:p>
                  </a:txBody>
                  <a:tcPr marL="73152" marR="73152" marT="36576" marB="36576" anchor="ctr">
                    <a:solidFill>
                      <a:srgbClr val="F0F4F8"/>
                    </a:solidFill>
                  </a:tcPr>
                </a:tc>
                <a:tc>
                  <a:txBody>
                    <a:bodyPr/>
                    <a:lstStyle/>
                    <a:p>
                      <a:pPr algn="ctr"/>
                      <a:r>
                        <a:rPr sz="1300">
                          <a:solidFill>
                            <a:srgbClr val="1B2733"/>
                          </a:solidFill>
                          <a:latin typeface="Calibri"/>
                        </a:rPr>
                        <a:t>0.611</a:t>
                      </a:r>
                    </a:p>
                  </a:txBody>
                  <a:tcPr marL="73152" marR="73152" marT="36576" marB="36576" anchor="ctr">
                    <a:solidFill>
                      <a:srgbClr val="F0F4F8"/>
                    </a:solidFill>
                  </a:tcPr>
                </a:tc>
                <a:tc>
                  <a:txBody>
                    <a:bodyPr/>
                    <a:lstStyle/>
                    <a:p>
                      <a:pPr algn="ctr"/>
                      <a:r>
                        <a:rPr sz="1300">
                          <a:solidFill>
                            <a:srgbClr val="1B2733"/>
                          </a:solidFill>
                          <a:latin typeface="Calibri"/>
                        </a:rPr>
                        <a:t>0.753</a:t>
                      </a:r>
                    </a:p>
                  </a:txBody>
                  <a:tcPr marL="73152" marR="73152" marT="36576" marB="36576" anchor="ctr">
                    <a:solidFill>
                      <a:srgbClr val="F0F4F8"/>
                    </a:solidFill>
                  </a:tcPr>
                </a:tc>
                <a:tc>
                  <a:txBody>
                    <a:bodyPr/>
                    <a:lstStyle/>
                    <a:p>
                      <a:pPr algn="ctr"/>
                      <a:r>
                        <a:rPr sz="1300">
                          <a:solidFill>
                            <a:srgbClr val="1B2733"/>
                          </a:solidFill>
                          <a:latin typeface="Calibri"/>
                        </a:rPr>
                        <a:t>0.001</a:t>
                      </a:r>
                    </a:p>
                  </a:txBody>
                  <a:tcPr marL="73152" marR="73152" marT="36576" marB="36576" anchor="ctr">
                    <a:solidFill>
                      <a:srgbClr val="F0F4F8"/>
                    </a:solidFill>
                  </a:tcPr>
                </a:tc>
                <a:tc>
                  <a:txBody>
                    <a:bodyPr/>
                    <a:lstStyle/>
                    <a:p>
                      <a:pPr algn="ctr"/>
                      <a:r>
                        <a:rPr sz="1300">
                          <a:solidFill>
                            <a:srgbClr val="1B2733"/>
                          </a:solidFill>
                          <a:latin typeface="Calibri"/>
                        </a:rPr>
                        <a:t>Yes</a:t>
                      </a:r>
                    </a:p>
                  </a:txBody>
                  <a:tcPr marL="73152" marR="73152" marT="36576" marB="36576" anchor="ctr">
                    <a:solidFill>
                      <a:srgbClr val="F0F4F8"/>
                    </a:solidFill>
                  </a:tcPr>
                </a:tc>
              </a:tr>
            </a:tbl>
          </a:graphicData>
        </a:graphic>
      </p:graphicFrame>
      <p:sp>
        <p:nvSpPr>
          <p:cNvPr id="9" name="Rectangle 8"/>
          <p:cNvSpPr/>
          <p:nvPr/>
        </p:nvSpPr>
        <p:spPr>
          <a:xfrm>
            <a:off x="548640" y="4023360"/>
            <a:ext cx="6583680" cy="219456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096512"/>
            <a:ext cx="6217920" cy="320040"/>
          </a:xfrm>
          <a:prstGeom prst="rect">
            <a:avLst/>
          </a:prstGeom>
          <a:noFill/>
        </p:spPr>
        <p:txBody>
          <a:bodyPr wrap="square" lIns="45720" rIns="45720" tIns="27432" bIns="27432" anchor="t">
            <a:spAutoFit/>
          </a:bodyPr>
          <a:lstStyle/>
          <a:p>
            <a:pPr algn="l"/>
            <a:r>
              <a:rPr sz="1100" b="1" i="0">
                <a:solidFill>
                  <a:srgbClr val="0FA3A3"/>
                </a:solidFill>
                <a:latin typeface="Calibri"/>
              </a:rPr>
              <a:t>HOW TO READ IT</a:t>
            </a:r>
          </a:p>
        </p:txBody>
      </p:sp>
      <p:sp>
        <p:nvSpPr>
          <p:cNvPr id="11" name="TextBox 10"/>
          <p:cNvSpPr txBox="1"/>
          <p:nvPr/>
        </p:nvSpPr>
        <p:spPr>
          <a:xfrm>
            <a:off x="731520" y="4434840"/>
            <a:ext cx="6309360" cy="1783080"/>
          </a:xfrm>
          <a:prstGeom prst="rect">
            <a:avLst/>
          </a:prstGeom>
          <a:noFill/>
        </p:spPr>
        <p:txBody>
          <a:bodyPr wrap="square" lIns="45720">
            <a:spAutoFit/>
          </a:bodyPr>
          <a:lstStyle/>
          <a:p>
            <a:pPr>
              <a:spcAft>
                <a:spcPts val="600"/>
              </a:spcAft>
            </a:pPr>
            <a:r>
              <a:rPr sz="1400">
                <a:solidFill>
                  <a:srgbClr val="0FA3A3"/>
                </a:solidFill>
                <a:latin typeface="Calibri"/>
              </a:rPr>
              <a:t>▪  </a:t>
            </a:r>
            <a:r>
              <a:rPr sz="1400" b="0">
                <a:solidFill>
                  <a:srgbClr val="1B2733"/>
                </a:solidFill>
                <a:latin typeface="Calibri"/>
              </a:rPr>
              <a:t>Threshold: perfect precision, but 94% of faults slip through</a:t>
            </a:r>
          </a:p>
          <a:p>
            <a:pPr>
              <a:spcAft>
                <a:spcPts val="600"/>
              </a:spcAft>
            </a:pPr>
            <a:r>
              <a:rPr sz="1400">
                <a:solidFill>
                  <a:srgbClr val="0FA3A3"/>
                </a:solidFill>
                <a:latin typeface="Calibri"/>
              </a:rPr>
              <a:t>▪  </a:t>
            </a:r>
            <a:r>
              <a:rPr sz="1400" b="0">
                <a:solidFill>
                  <a:srgbClr val="1B2733"/>
                </a:solidFill>
                <a:latin typeface="Calibri"/>
              </a:rPr>
              <a:t>Isolation Forest v2: F1 0.778 with no labels</a:t>
            </a:r>
          </a:p>
          <a:p>
            <a:pPr>
              <a:spcAft>
                <a:spcPts val="600"/>
              </a:spcAft>
            </a:pPr>
            <a:r>
              <a:rPr sz="1400">
                <a:solidFill>
                  <a:srgbClr val="0FA3A3"/>
                </a:solidFill>
                <a:latin typeface="Calibri"/>
              </a:rPr>
              <a:t>▪  </a:t>
            </a:r>
            <a:r>
              <a:rPr sz="1400" b="0">
                <a:solidFill>
                  <a:srgbClr val="1B2733"/>
                </a:solidFill>
                <a:latin typeface="Calibri"/>
              </a:rPr>
              <a:t>Fixing features (daily residuals) lifted F1 from 0.267 to 0.778</a:t>
            </a:r>
          </a:p>
          <a:p>
            <a:pPr>
              <a:spcAft>
                <a:spcPts val="600"/>
              </a:spcAft>
            </a:pPr>
            <a:r>
              <a:rPr sz="1400">
                <a:solidFill>
                  <a:srgbClr val="0FA3A3"/>
                </a:solidFill>
                <a:latin typeface="Calibri"/>
              </a:rPr>
              <a:t>▪  </a:t>
            </a:r>
            <a:r>
              <a:rPr sz="1400" b="0">
                <a:solidFill>
                  <a:srgbClr val="1B2733"/>
                </a:solidFill>
                <a:latin typeface="Calibri"/>
              </a:rPr>
              <a:t>Random Forest: best precision, but needs labels</a:t>
            </a:r>
          </a:p>
        </p:txBody>
      </p:sp>
      <p:graphicFrame>
        <p:nvGraphicFramePr>
          <p:cNvPr id="12" name="Chart 11"/>
          <p:cNvGraphicFramePr>
            <a:graphicFrameLocks noGrp="1"/>
          </p:cNvGraphicFramePr>
          <p:nvPr/>
        </p:nvGraphicFramePr>
        <p:xfrm>
          <a:off x="7406640" y="1371600"/>
          <a:ext cx="4251960" cy="4846320"/>
        </p:xfrm>
        <a:graphic>
          <a:graphicData uri="http://schemas.openxmlformats.org/drawingml/2006/chart">
            <c:chart xmlns:c="http://schemas.openxmlformats.org/drawingml/2006/chart" r:id="rId3"/>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HYBRID EVALUATION (M8)</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Results: sensor faults and detection speed</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11 / 17</a:t>
            </a:r>
          </a:p>
        </p:txBody>
      </p:sp>
      <p:graphicFrame>
        <p:nvGraphicFramePr>
          <p:cNvPr id="8" name="Table 7"/>
          <p:cNvGraphicFramePr>
            <a:graphicFrameLocks noGrp="1"/>
          </p:cNvGraphicFramePr>
          <p:nvPr/>
        </p:nvGraphicFramePr>
        <p:xfrm>
          <a:off x="548640" y="1417320"/>
          <a:ext cx="5120640" cy="1371600"/>
        </p:xfrm>
        <a:graphic>
          <a:graphicData uri="http://schemas.openxmlformats.org/drawingml/2006/table">
            <a:tbl>
              <a:tblPr firstRow="0" bandRow="0">
                <a:tableStyleId>{5C22544A-7EE6-4342-B048-85BDC9FD1C3A}</a:tableStyleId>
              </a:tblPr>
              <a:tblGrid>
                <a:gridCol w="2286000"/>
                <a:gridCol w="777240"/>
                <a:gridCol w="685800"/>
                <a:gridCol w="640080"/>
                <a:gridCol w="731520"/>
              </a:tblGrid>
              <a:tr h="457200">
                <a:tc>
                  <a:txBody>
                    <a:bodyPr/>
                    <a:lstStyle/>
                    <a:p>
                      <a:r>
                        <a:rPr sz="1200" b="1">
                          <a:solidFill>
                            <a:srgbClr val="FFFFFF"/>
                          </a:solidFill>
                          <a:latin typeface="Calibri"/>
                        </a:rPr>
                        <a:t>System</a:t>
                      </a:r>
                    </a:p>
                  </a:txBody>
                  <a:tcPr marL="73152" marR="73152" marT="36576" marB="36576" anchor="ctr">
                    <a:solidFill>
                      <a:srgbClr val="12304F"/>
                    </a:solidFill>
                  </a:tcPr>
                </a:tc>
                <a:tc>
                  <a:txBody>
                    <a:bodyPr/>
                    <a:lstStyle/>
                    <a:p>
                      <a:pPr algn="ctr"/>
                      <a:r>
                        <a:rPr sz="1200" b="1">
                          <a:solidFill>
                            <a:srgbClr val="FFFFFF"/>
                          </a:solidFill>
                          <a:latin typeface="Calibri"/>
                        </a:rPr>
                        <a:t>Precision</a:t>
                      </a:r>
                    </a:p>
                  </a:txBody>
                  <a:tcPr marL="73152" marR="73152" marT="36576" marB="36576" anchor="ctr">
                    <a:solidFill>
                      <a:srgbClr val="12304F"/>
                    </a:solidFill>
                  </a:tcPr>
                </a:tc>
                <a:tc>
                  <a:txBody>
                    <a:bodyPr/>
                    <a:lstStyle/>
                    <a:p>
                      <a:pPr algn="ctr"/>
                      <a:r>
                        <a:rPr sz="1200" b="1">
                          <a:solidFill>
                            <a:srgbClr val="FFFFFF"/>
                          </a:solidFill>
                          <a:latin typeface="Calibri"/>
                        </a:rPr>
                        <a:t>Recall</a:t>
                      </a:r>
                    </a:p>
                  </a:txBody>
                  <a:tcPr marL="73152" marR="73152" marT="36576" marB="36576" anchor="ctr">
                    <a:solidFill>
                      <a:srgbClr val="12304F"/>
                    </a:solidFill>
                  </a:tcPr>
                </a:tc>
                <a:tc>
                  <a:txBody>
                    <a:bodyPr/>
                    <a:lstStyle/>
                    <a:p>
                      <a:pPr algn="ctr"/>
                      <a:r>
                        <a:rPr sz="1200" b="1">
                          <a:solidFill>
                            <a:srgbClr val="FFFFFF"/>
                          </a:solidFill>
                          <a:latin typeface="Calibri"/>
                        </a:rPr>
                        <a:t>F1</a:t>
                      </a:r>
                    </a:p>
                  </a:txBody>
                  <a:tcPr marL="73152" marR="73152" marT="36576" marB="36576" anchor="ctr">
                    <a:solidFill>
                      <a:srgbClr val="12304F"/>
                    </a:solidFill>
                  </a:tcPr>
                </a:tc>
                <a:tc>
                  <a:txBody>
                    <a:bodyPr/>
                    <a:lstStyle/>
                    <a:p>
                      <a:pPr algn="ctr"/>
                      <a:r>
                        <a:rPr sz="1200" b="1">
                          <a:solidFill>
                            <a:srgbClr val="FFFFFF"/>
                          </a:solidFill>
                          <a:latin typeface="Calibri"/>
                        </a:rPr>
                        <a:t>FPR</a:t>
                      </a:r>
                    </a:p>
                  </a:txBody>
                  <a:tcPr marL="73152" marR="73152" marT="36576" marB="36576" anchor="ctr">
                    <a:solidFill>
                      <a:srgbClr val="12304F"/>
                    </a:solidFill>
                  </a:tcPr>
                </a:tc>
              </a:tr>
              <a:tr h="457200">
                <a:tc>
                  <a:txBody>
                    <a:bodyPr/>
                    <a:lstStyle/>
                    <a:p>
                      <a:r>
                        <a:rPr sz="1200" b="1">
                          <a:solidFill>
                            <a:srgbClr val="1B2733"/>
                          </a:solidFill>
                          <a:latin typeface="Calibri"/>
                        </a:rPr>
                        <a:t>Classical (rules + watchdog)</a:t>
                      </a:r>
                    </a:p>
                  </a:txBody>
                  <a:tcPr marL="73152" marR="73152" marT="36576" marB="36576" anchor="ctr">
                    <a:solidFill>
                      <a:srgbClr val="FFFFFF"/>
                    </a:solidFill>
                  </a:tcPr>
                </a:tc>
                <a:tc>
                  <a:txBody>
                    <a:bodyPr/>
                    <a:lstStyle/>
                    <a:p>
                      <a:pPr algn="ctr"/>
                      <a:r>
                        <a:rPr sz="1200">
                          <a:solidFill>
                            <a:srgbClr val="1B2733"/>
                          </a:solidFill>
                          <a:latin typeface="Calibri"/>
                        </a:rPr>
                        <a:t>1.000</a:t>
                      </a:r>
                    </a:p>
                  </a:txBody>
                  <a:tcPr marL="73152" marR="73152" marT="36576" marB="36576" anchor="ctr">
                    <a:solidFill>
                      <a:srgbClr val="FFFFFF"/>
                    </a:solidFill>
                  </a:tcPr>
                </a:tc>
                <a:tc>
                  <a:txBody>
                    <a:bodyPr/>
                    <a:lstStyle/>
                    <a:p>
                      <a:pPr algn="ctr"/>
                      <a:r>
                        <a:rPr sz="1200">
                          <a:solidFill>
                            <a:srgbClr val="1B2733"/>
                          </a:solidFill>
                          <a:latin typeface="Calibri"/>
                        </a:rPr>
                        <a:t>0.041</a:t>
                      </a:r>
                    </a:p>
                  </a:txBody>
                  <a:tcPr marL="73152" marR="73152" marT="36576" marB="36576" anchor="ctr">
                    <a:solidFill>
                      <a:srgbClr val="FFFFFF"/>
                    </a:solidFill>
                  </a:tcPr>
                </a:tc>
                <a:tc>
                  <a:txBody>
                    <a:bodyPr/>
                    <a:lstStyle/>
                    <a:p>
                      <a:pPr algn="ctr"/>
                      <a:r>
                        <a:rPr sz="1200">
                          <a:solidFill>
                            <a:srgbClr val="1B2733"/>
                          </a:solidFill>
                          <a:latin typeface="Calibri"/>
                        </a:rPr>
                        <a:t>0.079</a:t>
                      </a:r>
                    </a:p>
                  </a:txBody>
                  <a:tcPr marL="73152" marR="73152" marT="36576" marB="36576" anchor="ctr">
                    <a:solidFill>
                      <a:srgbClr val="FFFFFF"/>
                    </a:solidFill>
                  </a:tcPr>
                </a:tc>
                <a:tc>
                  <a:txBody>
                    <a:bodyPr/>
                    <a:lstStyle/>
                    <a:p>
                      <a:pPr algn="ctr"/>
                      <a:r>
                        <a:rPr sz="1200">
                          <a:solidFill>
                            <a:srgbClr val="1B2733"/>
                          </a:solidFill>
                          <a:latin typeface="Calibri"/>
                        </a:rPr>
                        <a:t>0.000</a:t>
                      </a:r>
                    </a:p>
                  </a:txBody>
                  <a:tcPr marL="73152" marR="73152" marT="36576" marB="36576" anchor="ctr">
                    <a:solidFill>
                      <a:srgbClr val="FFFFFF"/>
                    </a:solidFill>
                  </a:tcPr>
                </a:tc>
              </a:tr>
              <a:tr h="457200">
                <a:tc>
                  <a:txBody>
                    <a:bodyPr/>
                    <a:lstStyle/>
                    <a:p>
                      <a:r>
                        <a:rPr sz="1200" b="1">
                          <a:solidFill>
                            <a:srgbClr val="1B2733"/>
                          </a:solidFill>
                          <a:latin typeface="Calibri"/>
                        </a:rPr>
                        <a:t>Classical + Isolation Forest</a:t>
                      </a:r>
                    </a:p>
                  </a:txBody>
                  <a:tcPr marL="73152" marR="73152" marT="36576" marB="36576" anchor="ctr">
                    <a:solidFill>
                      <a:srgbClr val="FFF4D6"/>
                    </a:solidFill>
                  </a:tcPr>
                </a:tc>
                <a:tc>
                  <a:txBody>
                    <a:bodyPr/>
                    <a:lstStyle/>
                    <a:p>
                      <a:pPr algn="ctr"/>
                      <a:r>
                        <a:rPr sz="1200">
                          <a:solidFill>
                            <a:srgbClr val="1B2733"/>
                          </a:solidFill>
                          <a:latin typeface="Calibri"/>
                        </a:rPr>
                        <a:t>0.825</a:t>
                      </a:r>
                    </a:p>
                  </a:txBody>
                  <a:tcPr marL="73152" marR="73152" marT="36576" marB="36576" anchor="ctr">
                    <a:solidFill>
                      <a:srgbClr val="FFF4D6"/>
                    </a:solidFill>
                  </a:tcPr>
                </a:tc>
                <a:tc>
                  <a:txBody>
                    <a:bodyPr/>
                    <a:lstStyle/>
                    <a:p>
                      <a:pPr algn="ctr"/>
                      <a:r>
                        <a:rPr sz="1200">
                          <a:solidFill>
                            <a:srgbClr val="1B2733"/>
                          </a:solidFill>
                          <a:latin typeface="Calibri"/>
                        </a:rPr>
                        <a:t>0.751</a:t>
                      </a:r>
                    </a:p>
                  </a:txBody>
                  <a:tcPr marL="73152" marR="73152" marT="36576" marB="36576" anchor="ctr">
                    <a:solidFill>
                      <a:srgbClr val="FFF4D6"/>
                    </a:solidFill>
                  </a:tcPr>
                </a:tc>
                <a:tc>
                  <a:txBody>
                    <a:bodyPr/>
                    <a:lstStyle/>
                    <a:p>
                      <a:pPr algn="ctr"/>
                      <a:r>
                        <a:rPr sz="1200">
                          <a:solidFill>
                            <a:srgbClr val="1B2733"/>
                          </a:solidFill>
                          <a:latin typeface="Calibri"/>
                        </a:rPr>
                        <a:t>0.786</a:t>
                      </a:r>
                    </a:p>
                  </a:txBody>
                  <a:tcPr marL="73152" marR="73152" marT="36576" marB="36576" anchor="ctr">
                    <a:solidFill>
                      <a:srgbClr val="FFF4D6"/>
                    </a:solidFill>
                  </a:tcPr>
                </a:tc>
                <a:tc>
                  <a:txBody>
                    <a:bodyPr/>
                    <a:lstStyle/>
                    <a:p>
                      <a:pPr algn="ctr"/>
                      <a:r>
                        <a:rPr sz="1200">
                          <a:solidFill>
                            <a:srgbClr val="1B2733"/>
                          </a:solidFill>
                          <a:latin typeface="Calibri"/>
                        </a:rPr>
                        <a:t>0.019</a:t>
                      </a:r>
                    </a:p>
                  </a:txBody>
                  <a:tcPr marL="73152" marR="73152" marT="36576" marB="36576" anchor="ctr">
                    <a:solidFill>
                      <a:srgbClr val="FFF4D6"/>
                    </a:solidFill>
                  </a:tcPr>
                </a:tc>
              </a:tr>
            </a:tbl>
          </a:graphicData>
        </a:graphic>
      </p:graphicFrame>
      <p:sp>
        <p:nvSpPr>
          <p:cNvPr id="9" name="TextBox 8"/>
          <p:cNvSpPr txBox="1"/>
          <p:nvPr/>
        </p:nvSpPr>
        <p:spPr>
          <a:xfrm>
            <a:off x="548640" y="3017520"/>
            <a:ext cx="5120640" cy="320040"/>
          </a:xfrm>
          <a:prstGeom prst="rect">
            <a:avLst/>
          </a:prstGeom>
          <a:noFill/>
        </p:spPr>
        <p:txBody>
          <a:bodyPr wrap="square" lIns="45720" rIns="45720" tIns="27432" bIns="27432" anchor="t">
            <a:spAutoFit/>
          </a:bodyPr>
          <a:lstStyle/>
          <a:p>
            <a:pPr algn="l"/>
            <a:r>
              <a:rPr sz="1100" b="0" i="1">
                <a:solidFill>
                  <a:srgbClr val="5B6B7B"/>
                </a:solidFill>
                <a:latin typeface="Calibri"/>
              </a:rPr>
              <a:t>Sensor-fault-only, test split. Excludes battery and link faults.</a:t>
            </a:r>
          </a:p>
        </p:txBody>
      </p:sp>
      <p:graphicFrame>
        <p:nvGraphicFramePr>
          <p:cNvPr id="10" name="Chart 9"/>
          <p:cNvGraphicFramePr>
            <a:graphicFrameLocks noGrp="1"/>
          </p:cNvGraphicFramePr>
          <p:nvPr/>
        </p:nvGraphicFramePr>
        <p:xfrm>
          <a:off x="548640" y="3383280"/>
          <a:ext cx="5120640" cy="2926080"/>
        </p:xfrm>
        <a:graphic>
          <a:graphicData uri="http://schemas.openxmlformats.org/drawingml/2006/chart">
            <c:chart xmlns:c="http://schemas.openxmlformats.org/drawingml/2006/chart" r:id="rId3"/>
          </a:graphicData>
        </a:graphic>
      </p:graphicFrame>
      <p:sp>
        <p:nvSpPr>
          <p:cNvPr id="11" name="TextBox 10"/>
          <p:cNvSpPr txBox="1"/>
          <p:nvPr/>
        </p:nvSpPr>
        <p:spPr>
          <a:xfrm>
            <a:off x="5943600" y="1371600"/>
            <a:ext cx="5669280" cy="320040"/>
          </a:xfrm>
          <a:prstGeom prst="rect">
            <a:avLst/>
          </a:prstGeom>
          <a:noFill/>
        </p:spPr>
        <p:txBody>
          <a:bodyPr wrap="square" lIns="45720" rIns="45720" tIns="27432" bIns="27432" anchor="t">
            <a:spAutoFit/>
          </a:bodyPr>
          <a:lstStyle/>
          <a:p>
            <a:pPr algn="l"/>
            <a:r>
              <a:rPr sz="1100" b="1" i="0">
                <a:solidFill>
                  <a:srgbClr val="0FA3A3"/>
                </a:solidFill>
                <a:latin typeface="Calibri"/>
              </a:rPr>
              <a:t>EPISODES CAUGHT AND MEDIAN MINUTES TO FIRST ALARM</a:t>
            </a:r>
          </a:p>
        </p:txBody>
      </p:sp>
      <p:graphicFrame>
        <p:nvGraphicFramePr>
          <p:cNvPr id="12" name="Table 11"/>
          <p:cNvGraphicFramePr>
            <a:graphicFrameLocks noGrp="1"/>
          </p:cNvGraphicFramePr>
          <p:nvPr/>
        </p:nvGraphicFramePr>
        <p:xfrm>
          <a:off x="5943600" y="1737360"/>
          <a:ext cx="5715000" cy="2743200"/>
        </p:xfrm>
        <a:graphic>
          <a:graphicData uri="http://schemas.openxmlformats.org/drawingml/2006/table">
            <a:tbl>
              <a:tblPr firstRow="0" bandRow="0">
                <a:tableStyleId>{5C22544A-7EE6-4342-B048-85BDC9FD1C3A}</a:tableStyleId>
              </a:tblPr>
              <a:tblGrid>
                <a:gridCol w="1645920"/>
                <a:gridCol w="914400"/>
                <a:gridCol w="1600200"/>
                <a:gridCol w="1554480"/>
              </a:tblGrid>
              <a:tr h="457200">
                <a:tc>
                  <a:txBody>
                    <a:bodyPr/>
                    <a:lstStyle/>
                    <a:p>
                      <a:r>
                        <a:rPr sz="1200" b="1">
                          <a:solidFill>
                            <a:srgbClr val="FFFFFF"/>
                          </a:solidFill>
                          <a:latin typeface="Calibri"/>
                        </a:rPr>
                        <a:t>Fault</a:t>
                      </a:r>
                    </a:p>
                  </a:txBody>
                  <a:tcPr marL="73152" marR="73152" marT="36576" marB="36576" anchor="ctr">
                    <a:solidFill>
                      <a:srgbClr val="12304F"/>
                    </a:solidFill>
                  </a:tcPr>
                </a:tc>
                <a:tc>
                  <a:txBody>
                    <a:bodyPr/>
                    <a:lstStyle/>
                    <a:p>
                      <a:pPr algn="ctr"/>
                      <a:r>
                        <a:rPr sz="1200" b="1">
                          <a:solidFill>
                            <a:srgbClr val="FFFFFF"/>
                          </a:solidFill>
                          <a:latin typeface="Calibri"/>
                        </a:rPr>
                        <a:t>Episodes</a:t>
                      </a:r>
                    </a:p>
                  </a:txBody>
                  <a:tcPr marL="73152" marR="73152" marT="36576" marB="36576" anchor="ctr">
                    <a:solidFill>
                      <a:srgbClr val="12304F"/>
                    </a:solidFill>
                  </a:tcPr>
                </a:tc>
                <a:tc>
                  <a:txBody>
                    <a:bodyPr/>
                    <a:lstStyle/>
                    <a:p>
                      <a:pPr algn="ctr"/>
                      <a:r>
                        <a:rPr sz="1200" b="1">
                          <a:solidFill>
                            <a:srgbClr val="FFFFFF"/>
                          </a:solidFill>
                          <a:latin typeface="Calibri"/>
                        </a:rPr>
                        <a:t>Classical</a:t>
                      </a:r>
                    </a:p>
                  </a:txBody>
                  <a:tcPr marL="73152" marR="73152" marT="36576" marB="36576" anchor="ctr">
                    <a:solidFill>
                      <a:srgbClr val="12304F"/>
                    </a:solidFill>
                  </a:tcPr>
                </a:tc>
                <a:tc>
                  <a:txBody>
                    <a:bodyPr/>
                    <a:lstStyle/>
                    <a:p>
                      <a:pPr algn="ctr"/>
                      <a:r>
                        <a:rPr sz="1200" b="1">
                          <a:solidFill>
                            <a:srgbClr val="FFFFFF"/>
                          </a:solidFill>
                          <a:latin typeface="Calibri"/>
                        </a:rPr>
                        <a:t>Combined</a:t>
                      </a:r>
                    </a:p>
                  </a:txBody>
                  <a:tcPr marL="73152" marR="73152" marT="36576" marB="36576" anchor="ctr">
                    <a:solidFill>
                      <a:srgbClr val="12304F"/>
                    </a:solidFill>
                  </a:tcPr>
                </a:tc>
              </a:tr>
              <a:tr h="457200">
                <a:tc>
                  <a:txBody>
                    <a:bodyPr/>
                    <a:lstStyle/>
                    <a:p>
                      <a:r>
                        <a:rPr sz="1200" b="1">
                          <a:solidFill>
                            <a:srgbClr val="1B2733"/>
                          </a:solidFill>
                          <a:latin typeface="Calibri"/>
                        </a:rPr>
                        <a:t>Drift</a:t>
                      </a:r>
                    </a:p>
                  </a:txBody>
                  <a:tcPr marL="73152" marR="73152" marT="36576" marB="36576" anchor="ctr">
                    <a:solidFill>
                      <a:srgbClr val="FFF4D6"/>
                    </a:solidFill>
                  </a:tcPr>
                </a:tc>
                <a:tc>
                  <a:txBody>
                    <a:bodyPr/>
                    <a:lstStyle/>
                    <a:p>
                      <a:pPr algn="ctr"/>
                      <a:r>
                        <a:rPr sz="1200">
                          <a:solidFill>
                            <a:srgbClr val="1B2733"/>
                          </a:solidFill>
                          <a:latin typeface="Calibri"/>
                        </a:rPr>
                        <a:t>6</a:t>
                      </a:r>
                    </a:p>
                  </a:txBody>
                  <a:tcPr marL="73152" marR="73152" marT="36576" marB="36576" anchor="ctr">
                    <a:solidFill>
                      <a:srgbClr val="FFF4D6"/>
                    </a:solidFill>
                  </a:tcPr>
                </a:tc>
                <a:tc>
                  <a:txBody>
                    <a:bodyPr/>
                    <a:lstStyle/>
                    <a:p>
                      <a:pPr algn="ctr"/>
                      <a:r>
                        <a:rPr sz="1200">
                          <a:solidFill>
                            <a:srgbClr val="1B2733"/>
                          </a:solidFill>
                          <a:latin typeface="Calibri"/>
                        </a:rPr>
                        <a:t>1 caught (209 min)</a:t>
                      </a:r>
                    </a:p>
                  </a:txBody>
                  <a:tcPr marL="73152" marR="73152" marT="36576" marB="36576" anchor="ctr">
                    <a:solidFill>
                      <a:srgbClr val="FFF4D6"/>
                    </a:solidFill>
                  </a:tcPr>
                </a:tc>
                <a:tc>
                  <a:txBody>
                    <a:bodyPr/>
                    <a:lstStyle/>
                    <a:p>
                      <a:pPr algn="ctr"/>
                      <a:r>
                        <a:rPr sz="1200">
                          <a:solidFill>
                            <a:srgbClr val="1B2733"/>
                          </a:solidFill>
                          <a:latin typeface="Calibri"/>
                        </a:rPr>
                        <a:t>6 caught (30 min)</a:t>
                      </a:r>
                    </a:p>
                  </a:txBody>
                  <a:tcPr marL="73152" marR="73152" marT="36576" marB="36576" anchor="ctr">
                    <a:solidFill>
                      <a:srgbClr val="FFF4D6"/>
                    </a:solidFill>
                  </a:tcPr>
                </a:tc>
              </a:tr>
              <a:tr h="457200">
                <a:tc>
                  <a:txBody>
                    <a:bodyPr/>
                    <a:lstStyle/>
                    <a:p>
                      <a:r>
                        <a:rPr sz="1200" b="1">
                          <a:solidFill>
                            <a:srgbClr val="1B2733"/>
                          </a:solidFill>
                          <a:latin typeface="Calibri"/>
                        </a:rPr>
                        <a:t>Stuck</a:t>
                      </a:r>
                    </a:p>
                  </a:txBody>
                  <a:tcPr marL="73152" marR="73152" marT="36576" marB="36576" anchor="ctr">
                    <a:solidFill>
                      <a:srgbClr val="FFF4D6"/>
                    </a:solidFill>
                  </a:tcPr>
                </a:tc>
                <a:tc>
                  <a:txBody>
                    <a:bodyPr/>
                    <a:lstStyle/>
                    <a:p>
                      <a:pPr algn="ctr"/>
                      <a:r>
                        <a:rPr sz="1200">
                          <a:solidFill>
                            <a:srgbClr val="1B2733"/>
                          </a:solidFill>
                          <a:latin typeface="Calibri"/>
                        </a:rPr>
                        <a:t>3</a:t>
                      </a:r>
                    </a:p>
                  </a:txBody>
                  <a:tcPr marL="73152" marR="73152" marT="36576" marB="36576" anchor="ctr">
                    <a:solidFill>
                      <a:srgbClr val="FFF4D6"/>
                    </a:solidFill>
                  </a:tcPr>
                </a:tc>
                <a:tc>
                  <a:txBody>
                    <a:bodyPr/>
                    <a:lstStyle/>
                    <a:p>
                      <a:pPr algn="ctr"/>
                      <a:r>
                        <a:rPr sz="1200">
                          <a:solidFill>
                            <a:srgbClr val="1B2733"/>
                          </a:solidFill>
                          <a:latin typeface="Calibri"/>
                        </a:rPr>
                        <a:t>0 caught</a:t>
                      </a:r>
                    </a:p>
                  </a:txBody>
                  <a:tcPr marL="73152" marR="73152" marT="36576" marB="36576" anchor="ctr">
                    <a:solidFill>
                      <a:srgbClr val="FFF4D6"/>
                    </a:solidFill>
                  </a:tcPr>
                </a:tc>
                <a:tc>
                  <a:txBody>
                    <a:bodyPr/>
                    <a:lstStyle/>
                    <a:p>
                      <a:pPr algn="ctr"/>
                      <a:r>
                        <a:rPr sz="1200">
                          <a:solidFill>
                            <a:srgbClr val="1B2733"/>
                          </a:solidFill>
                          <a:latin typeface="Calibri"/>
                        </a:rPr>
                        <a:t>3 caught (11 min)</a:t>
                      </a:r>
                    </a:p>
                  </a:txBody>
                  <a:tcPr marL="73152" marR="73152" marT="36576" marB="36576" anchor="ctr">
                    <a:solidFill>
                      <a:srgbClr val="FFF4D6"/>
                    </a:solidFill>
                  </a:tcPr>
                </a:tc>
              </a:tr>
              <a:tr h="457200">
                <a:tc>
                  <a:txBody>
                    <a:bodyPr/>
                    <a:lstStyle/>
                    <a:p>
                      <a:r>
                        <a:rPr sz="1200" b="1">
                          <a:solidFill>
                            <a:srgbClr val="1B2733"/>
                          </a:solidFill>
                          <a:latin typeface="Calibri"/>
                        </a:rPr>
                        <a:t>Spike</a:t>
                      </a:r>
                    </a:p>
                  </a:txBody>
                  <a:tcPr marL="73152" marR="73152" marT="36576" marB="36576" anchor="ctr">
                    <a:solidFill>
                      <a:srgbClr val="FFFFFF"/>
                    </a:solidFill>
                  </a:tcPr>
                </a:tc>
                <a:tc>
                  <a:txBody>
                    <a:bodyPr/>
                    <a:lstStyle/>
                    <a:p>
                      <a:pPr algn="ctr"/>
                      <a:r>
                        <a:rPr sz="1200">
                          <a:solidFill>
                            <a:srgbClr val="1B2733"/>
                          </a:solidFill>
                          <a:latin typeface="Calibri"/>
                        </a:rPr>
                        <a:t>3</a:t>
                      </a:r>
                    </a:p>
                  </a:txBody>
                  <a:tcPr marL="73152" marR="73152" marT="36576" marB="36576" anchor="ctr">
                    <a:solidFill>
                      <a:srgbClr val="FFFFFF"/>
                    </a:solidFill>
                  </a:tcPr>
                </a:tc>
                <a:tc>
                  <a:txBody>
                    <a:bodyPr/>
                    <a:lstStyle/>
                    <a:p>
                      <a:pPr algn="ctr"/>
                      <a:r>
                        <a:rPr sz="1200">
                          <a:solidFill>
                            <a:srgbClr val="1B2733"/>
                          </a:solidFill>
                          <a:latin typeface="Calibri"/>
                        </a:rPr>
                        <a:t>2 caught (0 min)</a:t>
                      </a:r>
                    </a:p>
                  </a:txBody>
                  <a:tcPr marL="73152" marR="73152" marT="36576" marB="36576" anchor="ctr">
                    <a:solidFill>
                      <a:srgbClr val="FFFFFF"/>
                    </a:solidFill>
                  </a:tcPr>
                </a:tc>
                <a:tc>
                  <a:txBody>
                    <a:bodyPr/>
                    <a:lstStyle/>
                    <a:p>
                      <a:pPr algn="ctr"/>
                      <a:r>
                        <a:rPr sz="1200">
                          <a:solidFill>
                            <a:srgbClr val="1B2733"/>
                          </a:solidFill>
                          <a:latin typeface="Calibri"/>
                        </a:rPr>
                        <a:t>3 caught (0 min)</a:t>
                      </a:r>
                    </a:p>
                  </a:txBody>
                  <a:tcPr marL="73152" marR="73152" marT="36576" marB="36576" anchor="ctr">
                    <a:solidFill>
                      <a:srgbClr val="FFFFFF"/>
                    </a:solidFill>
                  </a:tcPr>
                </a:tc>
              </a:tr>
              <a:tr h="457200">
                <a:tc>
                  <a:txBody>
                    <a:bodyPr/>
                    <a:lstStyle/>
                    <a:p>
                      <a:r>
                        <a:rPr sz="1200" b="1">
                          <a:solidFill>
                            <a:srgbClr val="1B2733"/>
                          </a:solidFill>
                          <a:latin typeface="Calibri"/>
                        </a:rPr>
                        <a:t>Dropout / link loss</a:t>
                      </a:r>
                    </a:p>
                  </a:txBody>
                  <a:tcPr marL="73152" marR="73152" marT="36576" marB="36576" anchor="ctr">
                    <a:solidFill>
                      <a:srgbClr val="F0F4F8"/>
                    </a:solidFill>
                  </a:tcPr>
                </a:tc>
                <a:tc>
                  <a:txBody>
                    <a:bodyPr/>
                    <a:lstStyle/>
                    <a:p>
                      <a:pPr algn="ctr"/>
                      <a:r>
                        <a:rPr sz="1200">
                          <a:solidFill>
                            <a:srgbClr val="1B2733"/>
                          </a:solidFill>
                          <a:latin typeface="Calibri"/>
                        </a:rPr>
                        <a:t>5</a:t>
                      </a:r>
                    </a:p>
                  </a:txBody>
                  <a:tcPr marL="73152" marR="73152" marT="36576" marB="36576" anchor="ctr">
                    <a:solidFill>
                      <a:srgbClr val="F0F4F8"/>
                    </a:solidFill>
                  </a:tcPr>
                </a:tc>
                <a:tc>
                  <a:txBody>
                    <a:bodyPr/>
                    <a:lstStyle/>
                    <a:p>
                      <a:pPr algn="ctr"/>
                      <a:r>
                        <a:rPr sz="1200">
                          <a:solidFill>
                            <a:srgbClr val="1B2733"/>
                          </a:solidFill>
                          <a:latin typeface="Calibri"/>
                        </a:rPr>
                        <a:t>5 caught (4 min)</a:t>
                      </a:r>
                    </a:p>
                  </a:txBody>
                  <a:tcPr marL="73152" marR="73152" marT="36576" marB="36576" anchor="ctr">
                    <a:solidFill>
                      <a:srgbClr val="F0F4F8"/>
                    </a:solidFill>
                  </a:tcPr>
                </a:tc>
                <a:tc>
                  <a:txBody>
                    <a:bodyPr/>
                    <a:lstStyle/>
                    <a:p>
                      <a:pPr algn="ctr"/>
                      <a:r>
                        <a:rPr sz="1200">
                          <a:solidFill>
                            <a:srgbClr val="1B2733"/>
                          </a:solidFill>
                          <a:latin typeface="Calibri"/>
                        </a:rPr>
                        <a:t>5 caught (4 min)</a:t>
                      </a:r>
                    </a:p>
                  </a:txBody>
                  <a:tcPr marL="73152" marR="73152" marT="36576" marB="36576" anchor="ctr">
                    <a:solidFill>
                      <a:srgbClr val="F0F4F8"/>
                    </a:solidFill>
                  </a:tcPr>
                </a:tc>
              </a:tr>
              <a:tr h="457200">
                <a:tc>
                  <a:txBody>
                    <a:bodyPr/>
                    <a:lstStyle/>
                    <a:p>
                      <a:r>
                        <a:rPr sz="1200" b="1">
                          <a:solidFill>
                            <a:srgbClr val="1B2733"/>
                          </a:solidFill>
                          <a:latin typeface="Calibri"/>
                        </a:rPr>
                        <a:t>Battery death</a:t>
                      </a:r>
                    </a:p>
                  </a:txBody>
                  <a:tcPr marL="73152" marR="73152" marT="36576" marB="36576" anchor="ctr">
                    <a:solidFill>
                      <a:srgbClr val="FFFFFF"/>
                    </a:solidFill>
                  </a:tcPr>
                </a:tc>
                <a:tc>
                  <a:txBody>
                    <a:bodyPr/>
                    <a:lstStyle/>
                    <a:p>
                      <a:pPr algn="ctr"/>
                      <a:r>
                        <a:rPr sz="1200">
                          <a:solidFill>
                            <a:srgbClr val="1B2733"/>
                          </a:solidFill>
                          <a:latin typeface="Calibri"/>
                        </a:rPr>
                        <a:t>2</a:t>
                      </a:r>
                    </a:p>
                  </a:txBody>
                  <a:tcPr marL="73152" marR="73152" marT="36576" marB="36576" anchor="ctr">
                    <a:solidFill>
                      <a:srgbClr val="FFFFFF"/>
                    </a:solidFill>
                  </a:tcPr>
                </a:tc>
                <a:tc>
                  <a:txBody>
                    <a:bodyPr/>
                    <a:lstStyle/>
                    <a:p>
                      <a:pPr algn="ctr"/>
                      <a:r>
                        <a:rPr sz="1200">
                          <a:solidFill>
                            <a:srgbClr val="1B2733"/>
                          </a:solidFill>
                          <a:latin typeface="Calibri"/>
                        </a:rPr>
                        <a:t>2 caught (4 min)</a:t>
                      </a:r>
                    </a:p>
                  </a:txBody>
                  <a:tcPr marL="73152" marR="73152" marT="36576" marB="36576" anchor="ctr">
                    <a:solidFill>
                      <a:srgbClr val="FFFFFF"/>
                    </a:solidFill>
                  </a:tcPr>
                </a:tc>
                <a:tc>
                  <a:txBody>
                    <a:bodyPr/>
                    <a:lstStyle/>
                    <a:p>
                      <a:pPr algn="ctr"/>
                      <a:r>
                        <a:rPr sz="1200">
                          <a:solidFill>
                            <a:srgbClr val="1B2733"/>
                          </a:solidFill>
                          <a:latin typeface="Calibri"/>
                        </a:rPr>
                        <a:t>2 caught (4 min)</a:t>
                      </a:r>
                    </a:p>
                  </a:txBody>
                  <a:tcPr marL="73152" marR="73152" marT="36576" marB="36576" anchor="ctr">
                    <a:solidFill>
                      <a:srgbClr val="FFFFFF"/>
                    </a:solidFill>
                  </a:tcPr>
                </a:tc>
              </a:tr>
            </a:tbl>
          </a:graphicData>
        </a:graphic>
      </p:graphicFrame>
      <p:sp>
        <p:nvSpPr>
          <p:cNvPr id="13" name="Rectangle 12"/>
          <p:cNvSpPr/>
          <p:nvPr/>
        </p:nvSpPr>
        <p:spPr>
          <a:xfrm>
            <a:off x="5943600" y="4846320"/>
            <a:ext cx="5715000" cy="141732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4919472"/>
            <a:ext cx="5394960" cy="1280160"/>
          </a:xfrm>
          <a:prstGeom prst="rect">
            <a:avLst/>
          </a:prstGeom>
          <a:noFill/>
        </p:spPr>
        <p:txBody>
          <a:bodyPr wrap="square" lIns="45720" rIns="45720" tIns="27432" bIns="27432" anchor="ctr">
            <a:spAutoFit/>
          </a:bodyPr>
          <a:lstStyle/>
          <a:p>
            <a:pPr algn="l"/>
            <a:r>
              <a:rPr sz="1400" b="1" i="0">
                <a:solidFill>
                  <a:srgbClr val="F2A900"/>
                </a:solidFill>
                <a:latin typeface="Calibri"/>
              </a:rPr>
              <a:t>Cost of the gain: </a:t>
            </a:r>
            <a:r>
              <a:rPr sz="1400" b="0" i="0">
                <a:solidFill>
                  <a:srgbClr val="FFFFFF"/>
                </a:solidFill>
                <a:latin typeface="Calibri"/>
              </a:rPr>
              <a:t>236 false alarms over about 12,000 healthy readings (1.9%). Hybrid insight: simple rules for loud faults, ML for quiet ones.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NETWORK RESULTS</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Network results: energy, links and latency</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12 / 17</a:t>
            </a:r>
          </a:p>
        </p:txBody>
      </p:sp>
      <p:sp>
        <p:nvSpPr>
          <p:cNvPr id="8" name="Rectangle 7"/>
          <p:cNvSpPr/>
          <p:nvPr/>
        </p:nvSpPr>
        <p:spPr>
          <a:xfrm>
            <a:off x="521207" y="2012823"/>
            <a:ext cx="6638544" cy="3380994"/>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attery_plot.png"/>
          <p:cNvPicPr>
            <a:picLocks noChangeAspect="1"/>
          </p:cNvPicPr>
          <p:nvPr/>
        </p:nvPicPr>
        <p:blipFill>
          <a:blip r:embed="rId3"/>
          <a:stretch>
            <a:fillRect/>
          </a:stretch>
        </p:blipFill>
        <p:spPr>
          <a:xfrm>
            <a:off x="548640" y="2040255"/>
            <a:ext cx="6583680" cy="3326129"/>
          </a:xfrm>
          <a:prstGeom prst="rect">
            <a:avLst/>
          </a:prstGeom>
        </p:spPr>
      </p:pic>
      <p:sp>
        <p:nvSpPr>
          <p:cNvPr id="10" name="TextBox 9"/>
          <p:cNvSpPr txBox="1"/>
          <p:nvPr/>
        </p:nvSpPr>
        <p:spPr>
          <a:xfrm>
            <a:off x="548640" y="6053328"/>
            <a:ext cx="6583680" cy="256032"/>
          </a:xfrm>
          <a:prstGeom prst="rect">
            <a:avLst/>
          </a:prstGeom>
          <a:noFill/>
        </p:spPr>
        <p:txBody>
          <a:bodyPr wrap="square" lIns="45720" rIns="45720" tIns="27432" bIns="27432" anchor="t">
            <a:spAutoFit/>
          </a:bodyPr>
          <a:lstStyle/>
          <a:p>
            <a:pPr algn="ctr"/>
            <a:r>
              <a:rPr sz="1100" b="0" i="1">
                <a:solidFill>
                  <a:srgbClr val="5B6B7B"/>
                </a:solidFill>
                <a:latin typeface="Calibri"/>
              </a:rPr>
              <a:t>Top: battery per node. Bottom: delivery ratio (2 h window)</a:t>
            </a:r>
          </a:p>
        </p:txBody>
      </p:sp>
      <p:sp>
        <p:nvSpPr>
          <p:cNvPr id="11" name="Rectangle 10"/>
          <p:cNvSpPr/>
          <p:nvPr/>
        </p:nvSpPr>
        <p:spPr>
          <a:xfrm>
            <a:off x="7406640" y="1417320"/>
            <a:ext cx="2057400" cy="146304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43800" y="1490472"/>
            <a:ext cx="1783080" cy="731520"/>
          </a:xfrm>
          <a:prstGeom prst="rect">
            <a:avLst/>
          </a:prstGeom>
          <a:noFill/>
        </p:spPr>
        <p:txBody>
          <a:bodyPr wrap="square" lIns="45720" rIns="45720" tIns="27432" bIns="27432" anchor="t">
            <a:spAutoFit/>
          </a:bodyPr>
          <a:lstStyle/>
          <a:p>
            <a:pPr algn="l"/>
            <a:r>
              <a:rPr sz="3400" b="1" i="0">
                <a:solidFill>
                  <a:srgbClr val="F2A900"/>
                </a:solidFill>
                <a:latin typeface="Calibri"/>
              </a:rPr>
              <a:t>~5.9 d</a:t>
            </a:r>
          </a:p>
        </p:txBody>
      </p:sp>
      <p:sp>
        <p:nvSpPr>
          <p:cNvPr id="13" name="TextBox 12"/>
          <p:cNvSpPr txBox="1"/>
          <p:nvPr/>
        </p:nvSpPr>
        <p:spPr>
          <a:xfrm>
            <a:off x="7543800" y="2221992"/>
            <a:ext cx="1783080" cy="274320"/>
          </a:xfrm>
          <a:prstGeom prst="rect">
            <a:avLst/>
          </a:prstGeom>
          <a:noFill/>
        </p:spPr>
        <p:txBody>
          <a:bodyPr wrap="square" lIns="45720" rIns="45720" tIns="27432" bIns="27432" anchor="t">
            <a:spAutoFit/>
          </a:bodyPr>
          <a:lstStyle/>
          <a:p>
            <a:pPr algn="l"/>
            <a:r>
              <a:rPr sz="1100" b="1" i="0">
                <a:solidFill>
                  <a:srgbClr val="FFFFFF"/>
                </a:solidFill>
                <a:latin typeface="Calibri"/>
              </a:rPr>
              <a:t>RELAY DEATH</a:t>
            </a:r>
          </a:p>
        </p:txBody>
      </p:sp>
      <p:sp>
        <p:nvSpPr>
          <p:cNvPr id="14" name="TextBox 13"/>
          <p:cNvSpPr txBox="1"/>
          <p:nvPr/>
        </p:nvSpPr>
        <p:spPr>
          <a:xfrm>
            <a:off x="7543800" y="2468880"/>
            <a:ext cx="1783080" cy="365760"/>
          </a:xfrm>
          <a:prstGeom prst="rect">
            <a:avLst/>
          </a:prstGeom>
          <a:noFill/>
        </p:spPr>
        <p:txBody>
          <a:bodyPr wrap="square" lIns="45720" rIns="45720" tIns="27432" bIns="27432" anchor="t">
            <a:spAutoFit/>
          </a:bodyPr>
          <a:lstStyle/>
          <a:p>
            <a:pPr algn="l"/>
            <a:r>
              <a:rPr sz="1100" b="0" i="0">
                <a:solidFill>
                  <a:srgbClr val="B9C7D6"/>
                </a:solidFill>
                <a:latin typeface="Calibri"/>
              </a:rPr>
              <a:t>N2 day 5.88, N3 day 5.94</a:t>
            </a:r>
          </a:p>
        </p:txBody>
      </p:sp>
      <p:sp>
        <p:nvSpPr>
          <p:cNvPr id="15" name="Rectangle 14"/>
          <p:cNvSpPr/>
          <p:nvPr/>
        </p:nvSpPr>
        <p:spPr>
          <a:xfrm>
            <a:off x="9601200" y="1417320"/>
            <a:ext cx="2057400" cy="146304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38360" y="1490472"/>
            <a:ext cx="1783080" cy="731520"/>
          </a:xfrm>
          <a:prstGeom prst="rect">
            <a:avLst/>
          </a:prstGeom>
          <a:noFill/>
        </p:spPr>
        <p:txBody>
          <a:bodyPr wrap="square" lIns="45720" rIns="45720" tIns="27432" bIns="27432" anchor="t">
            <a:spAutoFit/>
          </a:bodyPr>
          <a:lstStyle/>
          <a:p>
            <a:pPr algn="l"/>
            <a:r>
              <a:rPr sz="3400" b="1" i="0">
                <a:solidFill>
                  <a:srgbClr val="F2A900"/>
                </a:solidFill>
                <a:latin typeface="Calibri"/>
              </a:rPr>
              <a:t>~14 h</a:t>
            </a:r>
          </a:p>
        </p:txBody>
      </p:sp>
      <p:sp>
        <p:nvSpPr>
          <p:cNvPr id="17" name="TextBox 16"/>
          <p:cNvSpPr txBox="1"/>
          <p:nvPr/>
        </p:nvSpPr>
        <p:spPr>
          <a:xfrm>
            <a:off x="9738360" y="2221992"/>
            <a:ext cx="1783080" cy="274320"/>
          </a:xfrm>
          <a:prstGeom prst="rect">
            <a:avLst/>
          </a:prstGeom>
          <a:noFill/>
        </p:spPr>
        <p:txBody>
          <a:bodyPr wrap="square" lIns="45720" rIns="45720" tIns="27432" bIns="27432" anchor="t">
            <a:spAutoFit/>
          </a:bodyPr>
          <a:lstStyle/>
          <a:p>
            <a:pPr algn="l"/>
            <a:r>
              <a:rPr sz="1100" b="1" i="0">
                <a:solidFill>
                  <a:srgbClr val="FFFFFF"/>
                </a:solidFill>
                <a:latin typeface="Calibri"/>
              </a:rPr>
              <a:t>EARLY WARNING</a:t>
            </a:r>
          </a:p>
        </p:txBody>
      </p:sp>
      <p:sp>
        <p:nvSpPr>
          <p:cNvPr id="18" name="TextBox 17"/>
          <p:cNvSpPr txBox="1"/>
          <p:nvPr/>
        </p:nvSpPr>
        <p:spPr>
          <a:xfrm>
            <a:off x="9738360" y="2468880"/>
            <a:ext cx="1783080" cy="365760"/>
          </a:xfrm>
          <a:prstGeom prst="rect">
            <a:avLst/>
          </a:prstGeom>
          <a:noFill/>
        </p:spPr>
        <p:txBody>
          <a:bodyPr wrap="square" lIns="45720" rIns="45720" tIns="27432" bIns="27432" anchor="t">
            <a:spAutoFit/>
          </a:bodyPr>
          <a:lstStyle/>
          <a:p>
            <a:pPr algn="l"/>
            <a:r>
              <a:rPr sz="1100" b="0" i="0">
                <a:solidFill>
                  <a:srgbClr val="B9C7D6"/>
                </a:solidFill>
                <a:latin typeface="Calibri"/>
              </a:rPr>
              <a:t>Low-battery alert at 10%</a:t>
            </a:r>
          </a:p>
        </p:txBody>
      </p:sp>
      <p:sp>
        <p:nvSpPr>
          <p:cNvPr id="19" name="Rectangle 18"/>
          <p:cNvSpPr/>
          <p:nvPr/>
        </p:nvSpPr>
        <p:spPr>
          <a:xfrm>
            <a:off x="7406640" y="3063240"/>
            <a:ext cx="2057400" cy="146304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43800" y="3136392"/>
            <a:ext cx="1783080" cy="731520"/>
          </a:xfrm>
          <a:prstGeom prst="rect">
            <a:avLst/>
          </a:prstGeom>
          <a:noFill/>
        </p:spPr>
        <p:txBody>
          <a:bodyPr wrap="square" lIns="45720" rIns="45720" tIns="27432" bIns="27432" anchor="t">
            <a:spAutoFit/>
          </a:bodyPr>
          <a:lstStyle/>
          <a:p>
            <a:pPr algn="l"/>
            <a:r>
              <a:rPr sz="3400" b="1" i="0">
                <a:solidFill>
                  <a:srgbClr val="F2A900"/>
                </a:solidFill>
                <a:latin typeface="Calibri"/>
              </a:rPr>
              <a:t>4 min</a:t>
            </a:r>
          </a:p>
        </p:txBody>
      </p:sp>
      <p:sp>
        <p:nvSpPr>
          <p:cNvPr id="21" name="TextBox 20"/>
          <p:cNvSpPr txBox="1"/>
          <p:nvPr/>
        </p:nvSpPr>
        <p:spPr>
          <a:xfrm>
            <a:off x="7543800" y="3867912"/>
            <a:ext cx="1783080" cy="274320"/>
          </a:xfrm>
          <a:prstGeom prst="rect">
            <a:avLst/>
          </a:prstGeom>
          <a:noFill/>
        </p:spPr>
        <p:txBody>
          <a:bodyPr wrap="square" lIns="45720" rIns="45720" tIns="27432" bIns="27432" anchor="t">
            <a:spAutoFit/>
          </a:bodyPr>
          <a:lstStyle/>
          <a:p>
            <a:pPr algn="l"/>
            <a:r>
              <a:rPr sz="1100" b="1" i="0">
                <a:solidFill>
                  <a:srgbClr val="FFFFFF"/>
                </a:solidFill>
                <a:latin typeface="Calibri"/>
              </a:rPr>
              <a:t>WATCHDOG ALARM</a:t>
            </a:r>
          </a:p>
        </p:txBody>
      </p:sp>
      <p:sp>
        <p:nvSpPr>
          <p:cNvPr id="22" name="TextBox 21"/>
          <p:cNvSpPr txBox="1"/>
          <p:nvPr/>
        </p:nvSpPr>
        <p:spPr>
          <a:xfrm>
            <a:off x="7543800" y="4114800"/>
            <a:ext cx="1783080" cy="365760"/>
          </a:xfrm>
          <a:prstGeom prst="rect">
            <a:avLst/>
          </a:prstGeom>
          <a:noFill/>
        </p:spPr>
        <p:txBody>
          <a:bodyPr wrap="square" lIns="45720" rIns="45720" tIns="27432" bIns="27432" anchor="t">
            <a:spAutoFit/>
          </a:bodyPr>
          <a:lstStyle/>
          <a:p>
            <a:pPr algn="l"/>
            <a:r>
              <a:rPr sz="1100" b="0" i="0">
                <a:solidFill>
                  <a:srgbClr val="B9C7D6"/>
                </a:solidFill>
                <a:latin typeface="Calibri"/>
              </a:rPr>
              <a:t>5 missing readings in a row</a:t>
            </a:r>
          </a:p>
        </p:txBody>
      </p:sp>
      <p:sp>
        <p:nvSpPr>
          <p:cNvPr id="23" name="Rectangle 22"/>
          <p:cNvSpPr/>
          <p:nvPr/>
        </p:nvSpPr>
        <p:spPr>
          <a:xfrm>
            <a:off x="9601200" y="3063240"/>
            <a:ext cx="2057400" cy="146304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3136392"/>
            <a:ext cx="1783080" cy="731520"/>
          </a:xfrm>
          <a:prstGeom prst="rect">
            <a:avLst/>
          </a:prstGeom>
          <a:noFill/>
        </p:spPr>
        <p:txBody>
          <a:bodyPr wrap="square" lIns="45720" rIns="45720" tIns="27432" bIns="27432" anchor="t">
            <a:spAutoFit/>
          </a:bodyPr>
          <a:lstStyle/>
          <a:p>
            <a:pPr algn="l"/>
            <a:r>
              <a:rPr sz="3400" b="1" i="0">
                <a:solidFill>
                  <a:srgbClr val="F2A900"/>
                </a:solidFill>
                <a:latin typeface="Calibri"/>
              </a:rPr>
              <a:t>45 / 90</a:t>
            </a:r>
          </a:p>
        </p:txBody>
      </p:sp>
      <p:sp>
        <p:nvSpPr>
          <p:cNvPr id="25" name="TextBox 24"/>
          <p:cNvSpPr txBox="1"/>
          <p:nvPr/>
        </p:nvSpPr>
        <p:spPr>
          <a:xfrm>
            <a:off x="9738360" y="3867912"/>
            <a:ext cx="1783080" cy="274320"/>
          </a:xfrm>
          <a:prstGeom prst="rect">
            <a:avLst/>
          </a:prstGeom>
          <a:noFill/>
        </p:spPr>
        <p:txBody>
          <a:bodyPr wrap="square" lIns="45720" rIns="45720" tIns="27432" bIns="27432" anchor="t">
            <a:spAutoFit/>
          </a:bodyPr>
          <a:lstStyle/>
          <a:p>
            <a:pPr algn="l"/>
            <a:r>
              <a:rPr sz="1100" b="1" i="0">
                <a:solidFill>
                  <a:srgbClr val="FFFFFF"/>
                </a:solidFill>
                <a:latin typeface="Calibri"/>
              </a:rPr>
              <a:t>LATENCY (MS)</a:t>
            </a:r>
          </a:p>
        </p:txBody>
      </p:sp>
      <p:sp>
        <p:nvSpPr>
          <p:cNvPr id="26" name="TextBox 25"/>
          <p:cNvSpPr txBox="1"/>
          <p:nvPr/>
        </p:nvSpPr>
        <p:spPr>
          <a:xfrm>
            <a:off x="9738360" y="4114800"/>
            <a:ext cx="1783080" cy="365760"/>
          </a:xfrm>
          <a:prstGeom prst="rect">
            <a:avLst/>
          </a:prstGeom>
          <a:noFill/>
        </p:spPr>
        <p:txBody>
          <a:bodyPr wrap="square" lIns="45720" rIns="45720" tIns="27432" bIns="27432" anchor="t">
            <a:spAutoFit/>
          </a:bodyPr>
          <a:lstStyle/>
          <a:p>
            <a:pPr algn="l"/>
            <a:r>
              <a:rPr sz="1100" b="0" i="0">
                <a:solidFill>
                  <a:srgbClr val="B9C7D6"/>
                </a:solidFill>
                <a:latin typeface="Calibri"/>
              </a:rPr>
              <a:t>1-hop / 2-hop mean</a:t>
            </a:r>
          </a:p>
        </p:txBody>
      </p:sp>
      <p:sp>
        <p:nvSpPr>
          <p:cNvPr id="27" name="Rectangle 26"/>
          <p:cNvSpPr/>
          <p:nvPr/>
        </p:nvSpPr>
        <p:spPr>
          <a:xfrm>
            <a:off x="7406640" y="4709160"/>
            <a:ext cx="4251960" cy="155448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43800" y="4773168"/>
            <a:ext cx="4023360" cy="1463040"/>
          </a:xfrm>
          <a:prstGeom prst="rect">
            <a:avLst/>
          </a:prstGeom>
          <a:noFill/>
        </p:spPr>
        <p:txBody>
          <a:bodyPr wrap="square" lIns="45720">
            <a:spAutoFit/>
          </a:bodyPr>
          <a:lstStyle/>
          <a:p>
            <a:pPr>
              <a:spcAft>
                <a:spcPts val="300"/>
              </a:spcAft>
            </a:pPr>
            <a:r>
              <a:rPr sz="1300">
                <a:solidFill>
                  <a:srgbClr val="0FA3A3"/>
                </a:solidFill>
                <a:latin typeface="Calibri"/>
              </a:rPr>
              <a:t>▪  </a:t>
            </a:r>
            <a:r>
              <a:rPr sz="1300" b="0">
                <a:solidFill>
                  <a:srgbClr val="1B2733"/>
                </a:solidFill>
                <a:latin typeface="Calibri"/>
              </a:rPr>
              <a:t>Delivery ≈ 0.98 while all nodes alive</a:t>
            </a:r>
          </a:p>
          <a:p>
            <a:pPr>
              <a:spcAft>
                <a:spcPts val="300"/>
              </a:spcAft>
            </a:pPr>
            <a:r>
              <a:rPr sz="1300">
                <a:solidFill>
                  <a:srgbClr val="0FA3A3"/>
                </a:solidFill>
                <a:latin typeface="Calibri"/>
              </a:rPr>
              <a:t>▪  </a:t>
            </a:r>
            <a:r>
              <a:rPr sz="1300" b="0">
                <a:solidFill>
                  <a:srgbClr val="1B2733"/>
                </a:solidFill>
                <a:latin typeface="Calibri"/>
              </a:rPr>
              <a:t>N4 and N5 drop to 0 when relays die</a:t>
            </a:r>
          </a:p>
          <a:p>
            <a:pPr>
              <a:spcAft>
                <a:spcPts val="300"/>
              </a:spcAft>
            </a:pPr>
            <a:r>
              <a:rPr sz="1300">
                <a:solidFill>
                  <a:srgbClr val="0FA3A3"/>
                </a:solidFill>
                <a:latin typeface="Calibri"/>
              </a:rPr>
              <a:t>▪  </a:t>
            </a:r>
            <a:r>
              <a:rPr sz="1300" b="0">
                <a:solidFill>
                  <a:srgbClr val="1B2733"/>
                </a:solidFill>
                <a:latin typeface="Calibri"/>
              </a:rPr>
              <a:t>Node 1 (direct) unaffected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VISUALISATION (M4, M9)</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Live dashboard</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13 / 17</a:t>
            </a:r>
          </a:p>
        </p:txBody>
      </p:sp>
      <p:sp>
        <p:nvSpPr>
          <p:cNvPr id="8" name="Rectangle 7"/>
          <p:cNvSpPr/>
          <p:nvPr/>
        </p:nvSpPr>
        <p:spPr>
          <a:xfrm>
            <a:off x="521207" y="1448645"/>
            <a:ext cx="5586983" cy="2086189"/>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_faults.png"/>
          <p:cNvPicPr>
            <a:picLocks noChangeAspect="1"/>
          </p:cNvPicPr>
          <p:nvPr/>
        </p:nvPicPr>
        <p:blipFill>
          <a:blip r:embed="rId3"/>
          <a:stretch>
            <a:fillRect/>
          </a:stretch>
        </p:blipFill>
        <p:spPr>
          <a:xfrm>
            <a:off x="548640" y="1476077"/>
            <a:ext cx="5532120" cy="2031325"/>
          </a:xfrm>
          <a:prstGeom prst="rect">
            <a:avLst/>
          </a:prstGeom>
        </p:spPr>
      </p:pic>
      <p:sp>
        <p:nvSpPr>
          <p:cNvPr id="10" name="TextBox 9"/>
          <p:cNvSpPr txBox="1"/>
          <p:nvPr/>
        </p:nvSpPr>
        <p:spPr>
          <a:xfrm>
            <a:off x="548640" y="3630168"/>
            <a:ext cx="5532120" cy="256032"/>
          </a:xfrm>
          <a:prstGeom prst="rect">
            <a:avLst/>
          </a:prstGeom>
          <a:noFill/>
        </p:spPr>
        <p:txBody>
          <a:bodyPr wrap="square" lIns="45720" rIns="45720" tIns="27432" bIns="27432" anchor="t">
            <a:spAutoFit/>
          </a:bodyPr>
          <a:lstStyle/>
          <a:p>
            <a:pPr algn="ctr"/>
            <a:r>
              <a:rPr sz="1100" b="0" i="1">
                <a:solidFill>
                  <a:srgbClr val="5B6B7B"/>
                </a:solidFill>
                <a:latin typeface="Calibri"/>
              </a:rPr>
              <a:t>Fault detection: flagged (red) and missed (orange) readings</a:t>
            </a:r>
          </a:p>
        </p:txBody>
      </p:sp>
      <p:sp>
        <p:nvSpPr>
          <p:cNvPr id="11" name="Rectangle 10"/>
          <p:cNvSpPr/>
          <p:nvPr/>
        </p:nvSpPr>
        <p:spPr>
          <a:xfrm>
            <a:off x="6501735" y="1344168"/>
            <a:ext cx="4781608" cy="2295144"/>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ash_battery.png"/>
          <p:cNvPicPr>
            <a:picLocks noChangeAspect="1"/>
          </p:cNvPicPr>
          <p:nvPr/>
        </p:nvPicPr>
        <p:blipFill>
          <a:blip r:embed="rId4"/>
          <a:stretch>
            <a:fillRect/>
          </a:stretch>
        </p:blipFill>
        <p:spPr>
          <a:xfrm>
            <a:off x="6529167" y="1371600"/>
            <a:ext cx="4726744" cy="2240280"/>
          </a:xfrm>
          <a:prstGeom prst="rect">
            <a:avLst/>
          </a:prstGeom>
        </p:spPr>
      </p:pic>
      <p:sp>
        <p:nvSpPr>
          <p:cNvPr id="13" name="TextBox 12"/>
          <p:cNvSpPr txBox="1"/>
          <p:nvPr/>
        </p:nvSpPr>
        <p:spPr>
          <a:xfrm>
            <a:off x="6126480" y="3630168"/>
            <a:ext cx="5532120" cy="256032"/>
          </a:xfrm>
          <a:prstGeom prst="rect">
            <a:avLst/>
          </a:prstGeom>
          <a:noFill/>
        </p:spPr>
        <p:txBody>
          <a:bodyPr wrap="square" lIns="45720" rIns="45720" tIns="27432" bIns="27432" anchor="t">
            <a:spAutoFit/>
          </a:bodyPr>
          <a:lstStyle/>
          <a:p>
            <a:pPr algn="ctr"/>
            <a:r>
              <a:rPr sz="1100" b="0" i="1">
                <a:solidFill>
                  <a:srgbClr val="5B6B7B"/>
                </a:solidFill>
                <a:latin typeface="Calibri"/>
              </a:rPr>
              <a:t>Battery and network health</a:t>
            </a:r>
          </a:p>
        </p:txBody>
      </p:sp>
      <p:sp>
        <p:nvSpPr>
          <p:cNvPr id="14" name="Rectangle 13"/>
          <p:cNvSpPr/>
          <p:nvPr/>
        </p:nvSpPr>
        <p:spPr>
          <a:xfrm>
            <a:off x="1165056" y="3995928"/>
            <a:ext cx="4299287" cy="2066544"/>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dash_latency.png"/>
          <p:cNvPicPr>
            <a:picLocks noChangeAspect="1"/>
          </p:cNvPicPr>
          <p:nvPr/>
        </p:nvPicPr>
        <p:blipFill>
          <a:blip r:embed="rId5"/>
          <a:stretch>
            <a:fillRect/>
          </a:stretch>
        </p:blipFill>
        <p:spPr>
          <a:xfrm>
            <a:off x="1192488" y="4023360"/>
            <a:ext cx="4244423" cy="2011680"/>
          </a:xfrm>
          <a:prstGeom prst="rect">
            <a:avLst/>
          </a:prstGeom>
        </p:spPr>
      </p:pic>
      <p:sp>
        <p:nvSpPr>
          <p:cNvPr id="16" name="TextBox 15"/>
          <p:cNvSpPr txBox="1"/>
          <p:nvPr/>
        </p:nvSpPr>
        <p:spPr>
          <a:xfrm>
            <a:off x="548640" y="6053328"/>
            <a:ext cx="5532120" cy="256032"/>
          </a:xfrm>
          <a:prstGeom prst="rect">
            <a:avLst/>
          </a:prstGeom>
          <a:noFill/>
        </p:spPr>
        <p:txBody>
          <a:bodyPr wrap="square" lIns="45720" rIns="45720" tIns="27432" bIns="27432" anchor="t">
            <a:spAutoFit/>
          </a:bodyPr>
          <a:lstStyle/>
          <a:p>
            <a:pPr algn="ctr"/>
            <a:r>
              <a:rPr sz="1100" b="0" i="1">
                <a:solidFill>
                  <a:srgbClr val="5B6B7B"/>
                </a:solidFill>
                <a:latin typeface="Calibri"/>
              </a:rPr>
              <a:t>Latency distribution, 1-hop vs 2-hop</a:t>
            </a:r>
          </a:p>
        </p:txBody>
      </p:sp>
      <p:sp>
        <p:nvSpPr>
          <p:cNvPr id="17" name="Rectangle 16"/>
          <p:cNvSpPr/>
          <p:nvPr/>
        </p:nvSpPr>
        <p:spPr>
          <a:xfrm>
            <a:off x="6126480" y="4023360"/>
            <a:ext cx="5532120" cy="2286000"/>
          </a:xfrm>
          <a:prstGeom prst="rect">
            <a:avLst/>
          </a:prstGeom>
          <a:solidFill>
            <a:srgbClr val="EEF2F6"/>
          </a:solidFill>
          <a:ln w="15875">
            <a:solidFill>
              <a:srgbClr val="5B6B7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0" y="4754880"/>
            <a:ext cx="5532120" cy="365760"/>
          </a:xfrm>
          <a:prstGeom prst="rect">
            <a:avLst/>
          </a:prstGeom>
          <a:noFill/>
        </p:spPr>
        <p:txBody>
          <a:bodyPr wrap="square" lIns="45720" rIns="45720" tIns="27432" bIns="27432" anchor="t">
            <a:spAutoFit/>
          </a:bodyPr>
          <a:lstStyle/>
          <a:p>
            <a:pPr algn="ctr"/>
            <a:r>
              <a:rPr sz="2600" b="0" i="0">
                <a:solidFill>
                  <a:srgbClr val="5B6B7B"/>
                </a:solidFill>
                <a:latin typeface="Calibri"/>
              </a:rPr>
              <a:t>▢</a:t>
            </a:r>
          </a:p>
        </p:txBody>
      </p:sp>
      <p:sp>
        <p:nvSpPr>
          <p:cNvPr id="19" name="TextBox 18"/>
          <p:cNvSpPr txBox="1"/>
          <p:nvPr/>
        </p:nvSpPr>
        <p:spPr>
          <a:xfrm>
            <a:off x="6217920" y="5166360"/>
            <a:ext cx="5349240" cy="320040"/>
          </a:xfrm>
          <a:prstGeom prst="rect">
            <a:avLst/>
          </a:prstGeom>
          <a:noFill/>
        </p:spPr>
        <p:txBody>
          <a:bodyPr wrap="square" lIns="45720" rIns="45720" tIns="27432" bIns="27432" anchor="t">
            <a:spAutoFit/>
          </a:bodyPr>
          <a:lstStyle/>
          <a:p>
            <a:pPr algn="ctr"/>
            <a:r>
              <a:rPr sz="1300" b="1" i="0">
                <a:solidFill>
                  <a:srgbClr val="0B1F33"/>
                </a:solidFill>
                <a:latin typeface="Calibri"/>
              </a:rPr>
              <a:t>Add: Classical vs Combined on one node</a:t>
            </a:r>
          </a:p>
        </p:txBody>
      </p:sp>
      <p:sp>
        <p:nvSpPr>
          <p:cNvPr id="20" name="TextBox 19"/>
          <p:cNvSpPr txBox="1"/>
          <p:nvPr/>
        </p:nvSpPr>
        <p:spPr>
          <a:xfrm>
            <a:off x="6217920" y="5468112"/>
            <a:ext cx="5349240" cy="274320"/>
          </a:xfrm>
          <a:prstGeom prst="rect">
            <a:avLst/>
          </a:prstGeom>
          <a:noFill/>
        </p:spPr>
        <p:txBody>
          <a:bodyPr wrap="square" lIns="45720" rIns="45720" tIns="27432" bIns="27432" anchor="t">
            <a:spAutoFit/>
          </a:bodyPr>
          <a:lstStyle/>
          <a:p>
            <a:pPr algn="ctr"/>
            <a:r>
              <a:rPr sz="1100" b="0" i="1">
                <a:solidFill>
                  <a:srgbClr val="5B6B7B"/>
                </a:solidFill>
                <a:latin typeface="Calibri"/>
              </a:rPr>
              <a:t>Screenshot of tab 1 (v3), drift stretch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TRANSPORT &amp; HARDWARE PATH</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MQTT pipeline and ESP32 firmware in Wokwi</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14 / 17</a:t>
            </a:r>
          </a:p>
        </p:txBody>
      </p:sp>
      <p:sp>
        <p:nvSpPr>
          <p:cNvPr id="8" name="Rectangle 7"/>
          <p:cNvSpPr/>
          <p:nvPr/>
        </p:nvSpPr>
        <p:spPr>
          <a:xfrm>
            <a:off x="632764" y="1344168"/>
            <a:ext cx="3215030" cy="2523744"/>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okwi_circuit.png"/>
          <p:cNvPicPr>
            <a:picLocks noChangeAspect="1"/>
          </p:cNvPicPr>
          <p:nvPr/>
        </p:nvPicPr>
        <p:blipFill>
          <a:blip r:embed="rId3"/>
          <a:stretch>
            <a:fillRect/>
          </a:stretch>
        </p:blipFill>
        <p:spPr>
          <a:xfrm>
            <a:off x="660196" y="1371600"/>
            <a:ext cx="3160166" cy="2468880"/>
          </a:xfrm>
          <a:prstGeom prst="rect">
            <a:avLst/>
          </a:prstGeom>
        </p:spPr>
      </p:pic>
      <p:sp>
        <p:nvSpPr>
          <p:cNvPr id="10" name="TextBox 9"/>
          <p:cNvSpPr txBox="1"/>
          <p:nvPr/>
        </p:nvSpPr>
        <p:spPr>
          <a:xfrm>
            <a:off x="548640" y="3858768"/>
            <a:ext cx="3383280" cy="256032"/>
          </a:xfrm>
          <a:prstGeom prst="rect">
            <a:avLst/>
          </a:prstGeom>
          <a:noFill/>
        </p:spPr>
        <p:txBody>
          <a:bodyPr wrap="square" lIns="45720" rIns="45720" tIns="27432" bIns="27432" anchor="t">
            <a:spAutoFit/>
          </a:bodyPr>
          <a:lstStyle/>
          <a:p>
            <a:pPr algn="ctr"/>
            <a:r>
              <a:rPr sz="1100" b="0" i="1">
                <a:solidFill>
                  <a:srgbClr val="5B6B7B"/>
                </a:solidFill>
                <a:latin typeface="Calibri"/>
              </a:rPr>
              <a:t>ESP32 + DHT22 + PIR + LDR (Wokwi)</a:t>
            </a:r>
          </a:p>
        </p:txBody>
      </p:sp>
      <p:sp>
        <p:nvSpPr>
          <p:cNvPr id="11" name="Rectangle 10"/>
          <p:cNvSpPr/>
          <p:nvPr/>
        </p:nvSpPr>
        <p:spPr>
          <a:xfrm>
            <a:off x="4087368" y="1473469"/>
            <a:ext cx="4718303" cy="226514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wokwi_mqtt.png"/>
          <p:cNvPicPr>
            <a:picLocks noChangeAspect="1"/>
          </p:cNvPicPr>
          <p:nvPr/>
        </p:nvPicPr>
        <p:blipFill>
          <a:blip r:embed="rId4"/>
          <a:stretch>
            <a:fillRect/>
          </a:stretch>
        </p:blipFill>
        <p:spPr>
          <a:xfrm>
            <a:off x="4114800" y="1500901"/>
            <a:ext cx="4663440" cy="2210276"/>
          </a:xfrm>
          <a:prstGeom prst="rect">
            <a:avLst/>
          </a:prstGeom>
        </p:spPr>
      </p:pic>
      <p:sp>
        <p:nvSpPr>
          <p:cNvPr id="13" name="TextBox 12"/>
          <p:cNvSpPr txBox="1"/>
          <p:nvPr/>
        </p:nvSpPr>
        <p:spPr>
          <a:xfrm>
            <a:off x="4114800" y="3858768"/>
            <a:ext cx="4663440" cy="256032"/>
          </a:xfrm>
          <a:prstGeom prst="rect">
            <a:avLst/>
          </a:prstGeom>
          <a:noFill/>
        </p:spPr>
        <p:txBody>
          <a:bodyPr wrap="square" lIns="45720" rIns="45720" tIns="27432" bIns="27432" anchor="t">
            <a:spAutoFit/>
          </a:bodyPr>
          <a:lstStyle/>
          <a:p>
            <a:pPr algn="ctr"/>
            <a:r>
              <a:rPr sz="1100" b="0" i="1">
                <a:solidFill>
                  <a:srgbClr val="5B6B7B"/>
                </a:solidFill>
                <a:latin typeface="Calibri"/>
              </a:rPr>
              <a:t>Firmware log: WiFi and MQTT connected, JSON every 2 s</a:t>
            </a:r>
          </a:p>
        </p:txBody>
      </p:sp>
      <p:sp>
        <p:nvSpPr>
          <p:cNvPr id="14" name="Rectangle 13"/>
          <p:cNvSpPr/>
          <p:nvPr/>
        </p:nvSpPr>
        <p:spPr>
          <a:xfrm>
            <a:off x="9006840" y="1417320"/>
            <a:ext cx="2651760" cy="260604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490472"/>
            <a:ext cx="2377440" cy="731520"/>
          </a:xfrm>
          <a:prstGeom prst="rect">
            <a:avLst/>
          </a:prstGeom>
          <a:noFill/>
        </p:spPr>
        <p:txBody>
          <a:bodyPr wrap="square" lIns="45720" rIns="45720" tIns="27432" bIns="27432" anchor="t">
            <a:spAutoFit/>
          </a:bodyPr>
          <a:lstStyle/>
          <a:p>
            <a:pPr algn="l"/>
            <a:r>
              <a:rPr sz="3400" b="1" i="0">
                <a:solidFill>
                  <a:srgbClr val="F2A900"/>
                </a:solidFill>
                <a:latin typeface="Calibri"/>
              </a:rPr>
              <a:t>15,000</a:t>
            </a:r>
          </a:p>
        </p:txBody>
      </p:sp>
      <p:sp>
        <p:nvSpPr>
          <p:cNvPr id="16" name="TextBox 15"/>
          <p:cNvSpPr txBox="1"/>
          <p:nvPr/>
        </p:nvSpPr>
        <p:spPr>
          <a:xfrm>
            <a:off x="9144000" y="2221992"/>
            <a:ext cx="2377440" cy="274320"/>
          </a:xfrm>
          <a:prstGeom prst="rect">
            <a:avLst/>
          </a:prstGeom>
          <a:noFill/>
        </p:spPr>
        <p:txBody>
          <a:bodyPr wrap="square" lIns="45720" rIns="45720" tIns="27432" bIns="27432" anchor="t">
            <a:spAutoFit/>
          </a:bodyPr>
          <a:lstStyle/>
          <a:p>
            <a:pPr algn="l"/>
            <a:r>
              <a:rPr sz="1100" b="1" i="0">
                <a:solidFill>
                  <a:srgbClr val="FFFFFF"/>
                </a:solidFill>
                <a:latin typeface="Calibri"/>
              </a:rPr>
              <a:t>MQTT MESSAGES</a:t>
            </a:r>
          </a:p>
        </p:txBody>
      </p:sp>
      <p:sp>
        <p:nvSpPr>
          <p:cNvPr id="17" name="TextBox 16"/>
          <p:cNvSpPr txBox="1"/>
          <p:nvPr/>
        </p:nvSpPr>
        <p:spPr>
          <a:xfrm>
            <a:off x="9144000" y="2468880"/>
            <a:ext cx="2377440" cy="1508760"/>
          </a:xfrm>
          <a:prstGeom prst="rect">
            <a:avLst/>
          </a:prstGeom>
          <a:noFill/>
        </p:spPr>
        <p:txBody>
          <a:bodyPr wrap="square" lIns="45720" rIns="45720" tIns="27432" bIns="27432" anchor="t">
            <a:spAutoFit/>
          </a:bodyPr>
          <a:lstStyle/>
          <a:p>
            <a:pPr algn="l"/>
            <a:r>
              <a:rPr sz="1100" b="0" i="0">
                <a:solidFill>
                  <a:srgbClr val="B9C7D6"/>
                </a:solidFill>
                <a:latin typeface="Calibri"/>
              </a:rPr>
              <a:t>Simulated pipeline: 15,000 of 15,000 delivered, zero loss</a:t>
            </a:r>
          </a:p>
        </p:txBody>
      </p:sp>
      <p:sp>
        <p:nvSpPr>
          <p:cNvPr id="18" name="Rectangle 17"/>
          <p:cNvSpPr/>
          <p:nvPr/>
        </p:nvSpPr>
        <p:spPr>
          <a:xfrm>
            <a:off x="521207" y="4321346"/>
            <a:ext cx="7552944" cy="1598586"/>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erm_mqtt.png"/>
          <p:cNvPicPr>
            <a:picLocks noChangeAspect="1"/>
          </p:cNvPicPr>
          <p:nvPr/>
        </p:nvPicPr>
        <p:blipFill>
          <a:blip r:embed="rId5"/>
          <a:stretch>
            <a:fillRect/>
          </a:stretch>
        </p:blipFill>
        <p:spPr>
          <a:xfrm>
            <a:off x="548640" y="4348778"/>
            <a:ext cx="7498079" cy="1543722"/>
          </a:xfrm>
          <a:prstGeom prst="rect">
            <a:avLst/>
          </a:prstGeom>
        </p:spPr>
      </p:pic>
      <p:sp>
        <p:nvSpPr>
          <p:cNvPr id="20" name="TextBox 19"/>
          <p:cNvSpPr txBox="1"/>
          <p:nvPr/>
        </p:nvSpPr>
        <p:spPr>
          <a:xfrm>
            <a:off x="548640" y="6007608"/>
            <a:ext cx="7498079" cy="256032"/>
          </a:xfrm>
          <a:prstGeom prst="rect">
            <a:avLst/>
          </a:prstGeom>
          <a:noFill/>
        </p:spPr>
        <p:txBody>
          <a:bodyPr wrap="square" lIns="45720" rIns="45720" tIns="27432" bIns="27432" anchor="t">
            <a:spAutoFit/>
          </a:bodyPr>
          <a:lstStyle/>
          <a:p>
            <a:pPr algn="ctr"/>
            <a:r>
              <a:rPr sz="1100" b="0" i="1">
                <a:solidFill>
                  <a:srgbClr val="5B6B7B"/>
                </a:solidFill>
                <a:latin typeface="Calibri"/>
              </a:rPr>
              <a:t>Subscriber terminal: injected fault, temperature 24.0 → 35.0</a:t>
            </a:r>
          </a:p>
        </p:txBody>
      </p:sp>
      <p:sp>
        <p:nvSpPr>
          <p:cNvPr id="21" name="Rectangle 20"/>
          <p:cNvSpPr/>
          <p:nvPr/>
        </p:nvSpPr>
        <p:spPr>
          <a:xfrm>
            <a:off x="8275320" y="4297680"/>
            <a:ext cx="3383280" cy="192024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4370832"/>
            <a:ext cx="3108960" cy="1783080"/>
          </a:xfrm>
          <a:prstGeom prst="rect">
            <a:avLst/>
          </a:prstGeom>
          <a:noFill/>
        </p:spPr>
        <p:txBody>
          <a:bodyPr wrap="square" lIns="45720" rIns="45720" tIns="27432" bIns="27432" anchor="ctr">
            <a:spAutoFit/>
          </a:bodyPr>
          <a:lstStyle/>
          <a:p>
            <a:pPr algn="l"/>
            <a:r>
              <a:rPr sz="1400" b="0" i="0">
                <a:solidFill>
                  <a:srgbClr val="FFFFFF"/>
                </a:solidFill>
                <a:latin typeface="Calibri"/>
              </a:rPr>
              <a:t>Fault injected at the Wokwi node, </a:t>
            </a:r>
            <a:r>
              <a:rPr sz="1400" b="1" i="0">
                <a:solidFill>
                  <a:srgbClr val="F2A900"/>
                </a:solidFill>
                <a:latin typeface="Calibri"/>
              </a:rPr>
              <a:t>delivered over MQTT</a:t>
            </a:r>
            <a:r>
              <a:rPr sz="1400" b="0" i="0">
                <a:solidFill>
                  <a:srgbClr val="FFFFFF"/>
                </a:solidFill>
                <a:latin typeface="Calibri"/>
              </a:rPr>
              <a:t> and received by an independent Python subscriber.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STRESS TESTS (M10)</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Robustness checks</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15 / 17</a:t>
            </a:r>
          </a:p>
        </p:txBody>
      </p:sp>
      <p:graphicFrame>
        <p:nvGraphicFramePr>
          <p:cNvPr id="8" name="Chart 7"/>
          <p:cNvGraphicFramePr>
            <a:graphicFrameLocks noGrp="1"/>
          </p:cNvGraphicFramePr>
          <p:nvPr/>
        </p:nvGraphicFramePr>
        <p:xfrm>
          <a:off x="548640" y="1371600"/>
          <a:ext cx="5486400" cy="3840480"/>
        </p:xfrm>
        <a:graphic>
          <a:graphicData uri="http://schemas.openxmlformats.org/drawingml/2006/chart">
            <c:chart xmlns:c="http://schemas.openxmlformats.org/drawingml/2006/chart" r:id="rId3"/>
          </a:graphicData>
        </a:graphic>
      </p:graphicFrame>
      <p:graphicFrame>
        <p:nvGraphicFramePr>
          <p:cNvPr id="9" name="Chart 8"/>
          <p:cNvGraphicFramePr>
            <a:graphicFrameLocks noGrp="1"/>
          </p:cNvGraphicFramePr>
          <p:nvPr/>
        </p:nvGraphicFramePr>
        <p:xfrm>
          <a:off x="6172200" y="1371600"/>
          <a:ext cx="5486400" cy="3840480"/>
        </p:xfrm>
        <a:graphic>
          <a:graphicData uri="http://schemas.openxmlformats.org/drawingml/2006/chart">
            <c:chart xmlns:c="http://schemas.openxmlformats.org/drawingml/2006/chart" r:id="rId4"/>
          </a:graphicData>
        </a:graphic>
      </p:graphicFrame>
      <p:sp>
        <p:nvSpPr>
          <p:cNvPr id="10" name="Rectangle 9"/>
          <p:cNvSpPr/>
          <p:nvPr/>
        </p:nvSpPr>
        <p:spPr>
          <a:xfrm>
            <a:off x="548640" y="5349240"/>
            <a:ext cx="5486400" cy="91440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349240"/>
            <a:ext cx="64008" cy="91440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440679"/>
            <a:ext cx="5212080" cy="365760"/>
          </a:xfrm>
          <a:prstGeom prst="rect">
            <a:avLst/>
          </a:prstGeom>
          <a:noFill/>
        </p:spPr>
        <p:txBody>
          <a:bodyPr wrap="square" lIns="45720" rIns="45720" tIns="27432" bIns="27432" anchor="t">
            <a:spAutoFit/>
          </a:bodyPr>
          <a:lstStyle/>
          <a:p>
            <a:pPr algn="l"/>
            <a:r>
              <a:rPr sz="1400" b="1" i="0">
                <a:solidFill>
                  <a:srgbClr val="0B1F33"/>
                </a:solidFill>
                <a:latin typeface="Calibri"/>
              </a:rPr>
              <a:t>Noise</a:t>
            </a:r>
          </a:p>
        </p:txBody>
      </p:sp>
      <p:sp>
        <p:nvSpPr>
          <p:cNvPr id="13" name="TextBox 12"/>
          <p:cNvSpPr txBox="1"/>
          <p:nvPr/>
        </p:nvSpPr>
        <p:spPr>
          <a:xfrm>
            <a:off x="731520" y="5824727"/>
            <a:ext cx="5166360" cy="365760"/>
          </a:xfrm>
          <a:prstGeom prst="rect">
            <a:avLst/>
          </a:prstGeom>
          <a:noFill/>
        </p:spPr>
        <p:txBody>
          <a:bodyPr wrap="square" lIns="45720" rIns="45720" tIns="27432" bIns="27432" anchor="t">
            <a:spAutoFit/>
          </a:bodyPr>
          <a:lstStyle/>
          <a:p>
            <a:pPr algn="l"/>
            <a:r>
              <a:rPr sz="1300" b="0" i="0">
                <a:solidFill>
                  <a:srgbClr val="1B2733"/>
                </a:solidFill>
                <a:latin typeface="Calibri"/>
              </a:rPr>
              <a:t>F1 0.78 → 0.47 at 5× normal noise. False alarms stay near 2%.</a:t>
            </a:r>
          </a:p>
        </p:txBody>
      </p:sp>
      <p:sp>
        <p:nvSpPr>
          <p:cNvPr id="14" name="Rectangle 13"/>
          <p:cNvSpPr/>
          <p:nvPr/>
        </p:nvSpPr>
        <p:spPr>
          <a:xfrm>
            <a:off x="6172200" y="5349240"/>
            <a:ext cx="5486400" cy="91440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5349240"/>
            <a:ext cx="64008" cy="914400"/>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5440679"/>
            <a:ext cx="5212080" cy="365760"/>
          </a:xfrm>
          <a:prstGeom prst="rect">
            <a:avLst/>
          </a:prstGeom>
          <a:noFill/>
        </p:spPr>
        <p:txBody>
          <a:bodyPr wrap="square" lIns="45720" rIns="45720" tIns="27432" bIns="27432" anchor="t">
            <a:spAutoFit/>
          </a:bodyPr>
          <a:lstStyle/>
          <a:p>
            <a:pPr algn="l"/>
            <a:r>
              <a:rPr sz="1400" b="1" i="0">
                <a:solidFill>
                  <a:srgbClr val="0B1F33"/>
                </a:solidFill>
                <a:latin typeface="Calibri"/>
              </a:rPr>
              <a:t>Cutoff</a:t>
            </a:r>
          </a:p>
        </p:txBody>
      </p:sp>
      <p:sp>
        <p:nvSpPr>
          <p:cNvPr id="17" name="TextBox 16"/>
          <p:cNvSpPr txBox="1"/>
          <p:nvPr/>
        </p:nvSpPr>
        <p:spPr>
          <a:xfrm>
            <a:off x="6355080" y="5824727"/>
            <a:ext cx="5166360" cy="365760"/>
          </a:xfrm>
          <a:prstGeom prst="rect">
            <a:avLst/>
          </a:prstGeom>
          <a:noFill/>
        </p:spPr>
        <p:txBody>
          <a:bodyPr wrap="square" lIns="45720" rIns="45720" tIns="27432" bIns="27432" anchor="t">
            <a:spAutoFit/>
          </a:bodyPr>
          <a:lstStyle/>
          <a:p>
            <a:pPr algn="l"/>
            <a:r>
              <a:rPr sz="1300" b="0" i="0">
                <a:solidFill>
                  <a:srgbClr val="1B2733"/>
                </a:solidFill>
                <a:latin typeface="Calibri"/>
              </a:rPr>
              <a:t>1% gives best F1. 2% trades FPR 4.6% for recall 0.85.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TOOLS</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Tools and technologies</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16 / 17</a:t>
            </a:r>
          </a:p>
        </p:txBody>
      </p:sp>
      <p:sp>
        <p:nvSpPr>
          <p:cNvPr id="8" name="Rectangle 7"/>
          <p:cNvSpPr/>
          <p:nvPr/>
        </p:nvSpPr>
        <p:spPr>
          <a:xfrm>
            <a:off x="548640" y="1417320"/>
            <a:ext cx="5440680" cy="224028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40680" cy="45720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63040"/>
            <a:ext cx="5029200" cy="365760"/>
          </a:xfrm>
          <a:prstGeom prst="rect">
            <a:avLst/>
          </a:prstGeom>
          <a:noFill/>
        </p:spPr>
        <p:txBody>
          <a:bodyPr wrap="square" lIns="45720" rIns="45720" tIns="27432" bIns="27432" anchor="t">
            <a:spAutoFit/>
          </a:bodyPr>
          <a:lstStyle/>
          <a:p>
            <a:pPr algn="l"/>
            <a:r>
              <a:rPr sz="1700" b="1" i="0">
                <a:solidFill>
                  <a:srgbClr val="FFFFFF"/>
                </a:solidFill>
                <a:latin typeface="Calibri"/>
              </a:rPr>
              <a:t>Hardware path</a:t>
            </a:r>
          </a:p>
        </p:txBody>
      </p:sp>
      <p:sp>
        <p:nvSpPr>
          <p:cNvPr id="11" name="TextBox 10"/>
          <p:cNvSpPr txBox="1"/>
          <p:nvPr/>
        </p:nvSpPr>
        <p:spPr>
          <a:xfrm>
            <a:off x="731520" y="2057400"/>
            <a:ext cx="5120640" cy="1645920"/>
          </a:xfrm>
          <a:prstGeom prst="rect">
            <a:avLst/>
          </a:prstGeom>
          <a:noFill/>
        </p:spPr>
        <p:txBody>
          <a:bodyPr wrap="square" lIns="45720">
            <a:spAutoFit/>
          </a:bodyPr>
          <a:lstStyle/>
          <a:p>
            <a:pPr>
              <a:spcAft>
                <a:spcPts val="800"/>
              </a:spcAft>
            </a:pPr>
            <a:r>
              <a:rPr sz="1700">
                <a:solidFill>
                  <a:srgbClr val="12304F"/>
                </a:solidFill>
                <a:latin typeface="Calibri"/>
              </a:rPr>
              <a:t>▪  </a:t>
            </a:r>
            <a:r>
              <a:rPr sz="1700" b="0">
                <a:solidFill>
                  <a:srgbClr val="1B2733"/>
                </a:solidFill>
                <a:latin typeface="Calibri"/>
              </a:rPr>
              <a:t>ESP32 + DHT22, PIR, LDR</a:t>
            </a:r>
          </a:p>
          <a:p>
            <a:pPr>
              <a:spcAft>
                <a:spcPts val="800"/>
              </a:spcAft>
            </a:pPr>
            <a:r>
              <a:rPr sz="1700">
                <a:solidFill>
                  <a:srgbClr val="12304F"/>
                </a:solidFill>
                <a:latin typeface="Calibri"/>
              </a:rPr>
              <a:t>▪  </a:t>
            </a:r>
            <a:r>
              <a:rPr sz="1700" b="0">
                <a:solidFill>
                  <a:srgbClr val="1B2733"/>
                </a:solidFill>
                <a:latin typeface="Calibri"/>
              </a:rPr>
              <a:t>Firmware verified in Wokwi</a:t>
            </a:r>
          </a:p>
          <a:p>
            <a:pPr>
              <a:spcAft>
                <a:spcPts val="800"/>
              </a:spcAft>
            </a:pPr>
            <a:r>
              <a:rPr sz="1700">
                <a:solidFill>
                  <a:srgbClr val="12304F"/>
                </a:solidFill>
                <a:latin typeface="Calibri"/>
              </a:rPr>
              <a:t>▪  </a:t>
            </a:r>
            <a:r>
              <a:rPr sz="1700" b="0">
                <a:solidFill>
                  <a:srgbClr val="1B2733"/>
                </a:solidFill>
                <a:latin typeface="Calibri"/>
              </a:rPr>
              <a:t>Physical build: Phase 2</a:t>
            </a:r>
          </a:p>
        </p:txBody>
      </p:sp>
      <p:sp>
        <p:nvSpPr>
          <p:cNvPr id="12" name="Rectangle 11"/>
          <p:cNvSpPr/>
          <p:nvPr/>
        </p:nvSpPr>
        <p:spPr>
          <a:xfrm>
            <a:off x="6172200" y="1417320"/>
            <a:ext cx="5440680" cy="224028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417320"/>
            <a:ext cx="5440680" cy="45720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5029200" cy="365760"/>
          </a:xfrm>
          <a:prstGeom prst="rect">
            <a:avLst/>
          </a:prstGeom>
          <a:noFill/>
        </p:spPr>
        <p:txBody>
          <a:bodyPr wrap="square" lIns="45720" rIns="45720" tIns="27432" bIns="27432" anchor="t">
            <a:spAutoFit/>
          </a:bodyPr>
          <a:lstStyle/>
          <a:p>
            <a:pPr algn="l"/>
            <a:r>
              <a:rPr sz="1700" b="1" i="0">
                <a:solidFill>
                  <a:srgbClr val="FFFFFF"/>
                </a:solidFill>
                <a:latin typeface="Calibri"/>
              </a:rPr>
              <a:t>Connectivity</a:t>
            </a:r>
          </a:p>
        </p:txBody>
      </p:sp>
      <p:sp>
        <p:nvSpPr>
          <p:cNvPr id="15" name="TextBox 14"/>
          <p:cNvSpPr txBox="1"/>
          <p:nvPr/>
        </p:nvSpPr>
        <p:spPr>
          <a:xfrm>
            <a:off x="6355080" y="2057400"/>
            <a:ext cx="5120640" cy="1645920"/>
          </a:xfrm>
          <a:prstGeom prst="rect">
            <a:avLst/>
          </a:prstGeom>
          <a:noFill/>
        </p:spPr>
        <p:txBody>
          <a:bodyPr wrap="square" lIns="45720">
            <a:spAutoFit/>
          </a:bodyPr>
          <a:lstStyle/>
          <a:p>
            <a:pPr>
              <a:spcAft>
                <a:spcPts val="800"/>
              </a:spcAft>
            </a:pPr>
            <a:r>
              <a:rPr sz="1700">
                <a:solidFill>
                  <a:srgbClr val="0FA3A3"/>
                </a:solidFill>
                <a:latin typeface="Calibri"/>
              </a:rPr>
              <a:t>▪  </a:t>
            </a:r>
            <a:r>
              <a:rPr sz="1700" b="0">
                <a:solidFill>
                  <a:srgbClr val="1B2733"/>
                </a:solidFill>
                <a:latin typeface="Calibri"/>
              </a:rPr>
              <a:t>MQTT, Mosquitto broker</a:t>
            </a:r>
          </a:p>
          <a:p>
            <a:pPr>
              <a:spcAft>
                <a:spcPts val="800"/>
              </a:spcAft>
            </a:pPr>
            <a:r>
              <a:rPr sz="1700">
                <a:solidFill>
                  <a:srgbClr val="0FA3A3"/>
                </a:solidFill>
                <a:latin typeface="Calibri"/>
              </a:rPr>
              <a:t>▪  </a:t>
            </a:r>
            <a:r>
              <a:rPr sz="1700" b="0">
                <a:solidFill>
                  <a:srgbClr val="1B2733"/>
                </a:solidFill>
                <a:latin typeface="Calibri"/>
              </a:rPr>
              <a:t>paho-mqtt publisher + collector</a:t>
            </a:r>
          </a:p>
          <a:p>
            <a:pPr>
              <a:spcAft>
                <a:spcPts val="800"/>
              </a:spcAft>
            </a:pPr>
            <a:r>
              <a:rPr sz="1700">
                <a:solidFill>
                  <a:srgbClr val="0FA3A3"/>
                </a:solidFill>
                <a:latin typeface="Calibri"/>
              </a:rPr>
              <a:t>▪  </a:t>
            </a:r>
            <a:r>
              <a:rPr sz="1700" b="0">
                <a:solidFill>
                  <a:srgbClr val="1B2733"/>
                </a:solidFill>
                <a:latin typeface="Calibri"/>
              </a:rPr>
              <a:t>Topics: wsn/node/data</a:t>
            </a:r>
          </a:p>
        </p:txBody>
      </p:sp>
      <p:sp>
        <p:nvSpPr>
          <p:cNvPr id="16" name="Rectangle 15"/>
          <p:cNvSpPr/>
          <p:nvPr/>
        </p:nvSpPr>
        <p:spPr>
          <a:xfrm>
            <a:off x="548640" y="3840480"/>
            <a:ext cx="5440680" cy="224028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840480"/>
            <a:ext cx="5440680" cy="457200"/>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886200"/>
            <a:ext cx="5029200" cy="365760"/>
          </a:xfrm>
          <a:prstGeom prst="rect">
            <a:avLst/>
          </a:prstGeom>
          <a:noFill/>
        </p:spPr>
        <p:txBody>
          <a:bodyPr wrap="square" lIns="45720" rIns="45720" tIns="27432" bIns="27432" anchor="t">
            <a:spAutoFit/>
          </a:bodyPr>
          <a:lstStyle/>
          <a:p>
            <a:pPr algn="l"/>
            <a:r>
              <a:rPr sz="1700" b="1" i="0">
                <a:solidFill>
                  <a:srgbClr val="FFFFFF"/>
                </a:solidFill>
                <a:latin typeface="Calibri"/>
              </a:rPr>
              <a:t>Data &amp; ML</a:t>
            </a:r>
          </a:p>
        </p:txBody>
      </p:sp>
      <p:sp>
        <p:nvSpPr>
          <p:cNvPr id="19" name="TextBox 18"/>
          <p:cNvSpPr txBox="1"/>
          <p:nvPr/>
        </p:nvSpPr>
        <p:spPr>
          <a:xfrm>
            <a:off x="731520" y="4480560"/>
            <a:ext cx="5120640" cy="1645920"/>
          </a:xfrm>
          <a:prstGeom prst="rect">
            <a:avLst/>
          </a:prstGeom>
          <a:noFill/>
        </p:spPr>
        <p:txBody>
          <a:bodyPr wrap="square" lIns="45720">
            <a:spAutoFit/>
          </a:bodyPr>
          <a:lstStyle/>
          <a:p>
            <a:pPr>
              <a:spcAft>
                <a:spcPts val="800"/>
              </a:spcAft>
            </a:pPr>
            <a:r>
              <a:rPr sz="1700">
                <a:solidFill>
                  <a:srgbClr val="F2A900"/>
                </a:solidFill>
                <a:latin typeface="Calibri"/>
              </a:rPr>
              <a:t>▪  </a:t>
            </a:r>
            <a:r>
              <a:rPr sz="1700" b="0">
                <a:solidFill>
                  <a:srgbClr val="1B2733"/>
                </a:solidFill>
                <a:latin typeface="Calibri"/>
              </a:rPr>
              <a:t>Python, pandas, NumPy</a:t>
            </a:r>
          </a:p>
          <a:p>
            <a:pPr>
              <a:spcAft>
                <a:spcPts val="800"/>
              </a:spcAft>
            </a:pPr>
            <a:r>
              <a:rPr sz="1700">
                <a:solidFill>
                  <a:srgbClr val="F2A900"/>
                </a:solidFill>
                <a:latin typeface="Calibri"/>
              </a:rPr>
              <a:t>▪  </a:t>
            </a:r>
            <a:r>
              <a:rPr sz="1700" b="0">
                <a:solidFill>
                  <a:srgbClr val="1B2733"/>
                </a:solidFill>
                <a:latin typeface="Calibri"/>
              </a:rPr>
              <a:t>scikit-learn: Isolation Forest, Random Forest</a:t>
            </a:r>
          </a:p>
          <a:p>
            <a:pPr>
              <a:spcAft>
                <a:spcPts val="800"/>
              </a:spcAft>
            </a:pPr>
            <a:r>
              <a:rPr sz="1700">
                <a:solidFill>
                  <a:srgbClr val="F2A900"/>
                </a:solidFill>
                <a:latin typeface="Calibri"/>
              </a:rPr>
              <a:t>▪  </a:t>
            </a:r>
            <a:r>
              <a:rPr sz="1700" b="0">
                <a:solidFill>
                  <a:srgbClr val="1B2733"/>
                </a:solidFill>
                <a:latin typeface="Calibri"/>
              </a:rPr>
              <a:t>matplotlib for analysis</a:t>
            </a:r>
          </a:p>
        </p:txBody>
      </p:sp>
      <p:sp>
        <p:nvSpPr>
          <p:cNvPr id="20" name="Rectangle 19"/>
          <p:cNvSpPr/>
          <p:nvPr/>
        </p:nvSpPr>
        <p:spPr>
          <a:xfrm>
            <a:off x="6172200" y="3840480"/>
            <a:ext cx="5440680" cy="224028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3840480"/>
            <a:ext cx="5440680" cy="457200"/>
          </a:xfrm>
          <a:prstGeom prst="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3886200"/>
            <a:ext cx="5029200" cy="365760"/>
          </a:xfrm>
          <a:prstGeom prst="rect">
            <a:avLst/>
          </a:prstGeom>
          <a:noFill/>
        </p:spPr>
        <p:txBody>
          <a:bodyPr wrap="square" lIns="45720" rIns="45720" tIns="27432" bIns="27432" anchor="t">
            <a:spAutoFit/>
          </a:bodyPr>
          <a:lstStyle/>
          <a:p>
            <a:pPr algn="l"/>
            <a:r>
              <a:rPr sz="1700" b="1" i="0">
                <a:solidFill>
                  <a:srgbClr val="FFFFFF"/>
                </a:solidFill>
                <a:latin typeface="Calibri"/>
              </a:rPr>
              <a:t>Dashboard</a:t>
            </a:r>
          </a:p>
        </p:txBody>
      </p:sp>
      <p:sp>
        <p:nvSpPr>
          <p:cNvPr id="23" name="TextBox 22"/>
          <p:cNvSpPr txBox="1"/>
          <p:nvPr/>
        </p:nvSpPr>
        <p:spPr>
          <a:xfrm>
            <a:off x="6355080" y="4480560"/>
            <a:ext cx="5120640" cy="1645920"/>
          </a:xfrm>
          <a:prstGeom prst="rect">
            <a:avLst/>
          </a:prstGeom>
          <a:noFill/>
        </p:spPr>
        <p:txBody>
          <a:bodyPr wrap="square" lIns="45720">
            <a:spAutoFit/>
          </a:bodyPr>
          <a:lstStyle/>
          <a:p>
            <a:pPr>
              <a:spcAft>
                <a:spcPts val="800"/>
              </a:spcAft>
            </a:pPr>
            <a:r>
              <a:rPr sz="1700">
                <a:solidFill>
                  <a:srgbClr val="2E9E6B"/>
                </a:solidFill>
                <a:latin typeface="Calibri"/>
              </a:rPr>
              <a:t>▪  </a:t>
            </a:r>
            <a:r>
              <a:rPr sz="1700" b="0">
                <a:solidFill>
                  <a:srgbClr val="1B2733"/>
                </a:solidFill>
                <a:latin typeface="Calibri"/>
              </a:rPr>
              <a:t>Streamlit + Plotly</a:t>
            </a:r>
          </a:p>
          <a:p>
            <a:pPr>
              <a:spcAft>
                <a:spcPts val="800"/>
              </a:spcAft>
            </a:pPr>
            <a:r>
              <a:rPr sz="1700">
                <a:solidFill>
                  <a:srgbClr val="2E9E6B"/>
                </a:solidFill>
                <a:latin typeface="Calibri"/>
              </a:rPr>
              <a:t>▪  </a:t>
            </a:r>
            <a:r>
              <a:rPr sz="1700" b="0">
                <a:solidFill>
                  <a:srgbClr val="1B2733"/>
                </a:solidFill>
                <a:latin typeface="Calibri"/>
              </a:rPr>
              <a:t>Fault, battery, latency tabs</a:t>
            </a:r>
          </a:p>
          <a:p>
            <a:pPr>
              <a:spcAft>
                <a:spcPts val="800"/>
              </a:spcAft>
            </a:pPr>
            <a:r>
              <a:rPr sz="1700">
                <a:solidFill>
                  <a:srgbClr val="2E9E6B"/>
                </a:solidFill>
                <a:latin typeface="Calibri"/>
              </a:rPr>
              <a:t>▪  </a:t>
            </a:r>
            <a:r>
              <a:rPr sz="1700" b="0">
                <a:solidFill>
                  <a:srgbClr val="1B2733"/>
                </a:solidFill>
                <a:latin typeface="Calibri"/>
              </a:rPr>
              <a:t>Detector toggle for demo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2011680" cy="45720"/>
          </a:xfrm>
          <a:prstGeom prst="rect">
            <a:avLst/>
          </a:prstGeom>
          <a:solidFill>
            <a:srgbClr val="0FA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8229600" cy="274320"/>
          </a:xfrm>
          <a:prstGeom prst="rect">
            <a:avLst/>
          </a:prstGeom>
          <a:noFill/>
        </p:spPr>
        <p:txBody>
          <a:bodyPr wrap="square" lIns="45720" rIns="45720" tIns="27432" bIns="27432" anchor="t">
            <a:spAutoFit/>
          </a:bodyPr>
          <a:lstStyle/>
          <a:p>
            <a:pPr algn="l"/>
            <a:r>
              <a:rPr sz="1100" b="1" i="0">
                <a:solidFill>
                  <a:srgbClr val="0FA3A3"/>
                </a:solidFill>
                <a:latin typeface="Calibri"/>
              </a:rPr>
              <a:t>CONCLUSION</a:t>
            </a:r>
          </a:p>
        </p:txBody>
      </p:sp>
      <p:sp>
        <p:nvSpPr>
          <p:cNvPr id="5" name="TextBox 4"/>
          <p:cNvSpPr txBox="1"/>
          <p:nvPr/>
        </p:nvSpPr>
        <p:spPr>
          <a:xfrm>
            <a:off x="548640" y="566928"/>
            <a:ext cx="10972800" cy="640080"/>
          </a:xfrm>
          <a:prstGeom prst="rect">
            <a:avLst/>
          </a:prstGeom>
          <a:noFill/>
        </p:spPr>
        <p:txBody>
          <a:bodyPr wrap="square" lIns="45720" rIns="45720" tIns="27432" bIns="27432" anchor="t">
            <a:spAutoFit/>
          </a:bodyPr>
          <a:lstStyle/>
          <a:p>
            <a:pPr algn="l"/>
            <a:r>
              <a:rPr sz="3000" b="1" i="0">
                <a:solidFill>
                  <a:srgbClr val="0B1F33"/>
                </a:solidFill>
                <a:latin typeface="Calibri"/>
              </a:rPr>
              <a:t>Conclusion, limitations and next steps</a:t>
            </a:r>
          </a:p>
        </p:txBody>
      </p:sp>
      <p:sp>
        <p:nvSpPr>
          <p:cNvPr id="6" name="TextBox 5"/>
          <p:cNvSpPr txBox="1"/>
          <p:nvPr/>
        </p:nvSpPr>
        <p:spPr>
          <a:xfrm>
            <a:off x="548640" y="6473952"/>
            <a:ext cx="8229600" cy="274320"/>
          </a:xfrm>
          <a:prstGeom prst="rect">
            <a:avLst/>
          </a:prstGeom>
          <a:noFill/>
        </p:spPr>
        <p:txBody>
          <a:bodyPr wrap="square" lIns="45720" rIns="45720" tIns="27432" bIns="27432" anchor="t">
            <a:spAutoFit/>
          </a:bodyPr>
          <a:lstStyle/>
          <a:p>
            <a:pPr algn="l"/>
            <a:r>
              <a:rPr sz="1000" b="0" i="0">
                <a:solidFill>
                  <a:srgbClr val="5B6B7B"/>
                </a:solidFill>
                <a:latin typeface="Calibri"/>
              </a:rPr>
              <a:t>Adhoc &amp; Wireless Sensor Networks · Thematic Assessment</a:t>
            </a:r>
          </a:p>
        </p:txBody>
      </p:sp>
      <p:sp>
        <p:nvSpPr>
          <p:cNvPr id="7" name="TextBox 6"/>
          <p:cNvSpPr txBox="1"/>
          <p:nvPr/>
        </p:nvSpPr>
        <p:spPr>
          <a:xfrm>
            <a:off x="10241280" y="6473952"/>
            <a:ext cx="1417320" cy="274320"/>
          </a:xfrm>
          <a:prstGeom prst="rect">
            <a:avLst/>
          </a:prstGeom>
          <a:noFill/>
        </p:spPr>
        <p:txBody>
          <a:bodyPr wrap="square" lIns="45720" rIns="45720" tIns="27432" bIns="27432" anchor="t">
            <a:spAutoFit/>
          </a:bodyPr>
          <a:lstStyle/>
          <a:p>
            <a:pPr algn="r"/>
            <a:r>
              <a:rPr sz="1000" b="0" i="0">
                <a:solidFill>
                  <a:srgbClr val="5B6B7B"/>
                </a:solidFill>
                <a:latin typeface="Calibri"/>
              </a:rPr>
              <a:t>17 / 17</a:t>
            </a:r>
          </a:p>
        </p:txBody>
      </p:sp>
      <p:sp>
        <p:nvSpPr>
          <p:cNvPr id="8" name="Rectangle 7"/>
          <p:cNvSpPr/>
          <p:nvPr/>
        </p:nvSpPr>
        <p:spPr>
          <a:xfrm>
            <a:off x="548640" y="1417320"/>
            <a:ext cx="5486400" cy="2926080"/>
          </a:xfrm>
          <a:prstGeom prst="rect">
            <a:avLst/>
          </a:prstGeom>
          <a:solidFill>
            <a:srgbClr val="1230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5120640" cy="320040"/>
          </a:xfrm>
          <a:prstGeom prst="rect">
            <a:avLst/>
          </a:prstGeom>
          <a:noFill/>
        </p:spPr>
        <p:txBody>
          <a:bodyPr wrap="square" lIns="45720" rIns="45720" tIns="27432" bIns="27432" anchor="t">
            <a:spAutoFit/>
          </a:bodyPr>
          <a:lstStyle/>
          <a:p>
            <a:pPr algn="l"/>
            <a:r>
              <a:rPr sz="1100" b="1" i="0">
                <a:solidFill>
                  <a:srgbClr val="F2A900"/>
                </a:solidFill>
                <a:latin typeface="Calibri"/>
              </a:rPr>
              <a:t>WHAT WE SHOWED</a:t>
            </a:r>
          </a:p>
        </p:txBody>
      </p:sp>
      <p:sp>
        <p:nvSpPr>
          <p:cNvPr id="10" name="TextBox 9"/>
          <p:cNvSpPr txBox="1"/>
          <p:nvPr/>
        </p:nvSpPr>
        <p:spPr>
          <a:xfrm>
            <a:off x="777240" y="1874519"/>
            <a:ext cx="5120640" cy="2468880"/>
          </a:xfrm>
          <a:prstGeom prst="rect">
            <a:avLst/>
          </a:prstGeom>
          <a:noFill/>
        </p:spPr>
        <p:txBody>
          <a:bodyPr wrap="square" lIns="45720">
            <a:spAutoFit/>
          </a:bodyPr>
          <a:lstStyle/>
          <a:p>
            <a:pPr>
              <a:spcAft>
                <a:spcPts val="1000"/>
              </a:spcAft>
            </a:pPr>
            <a:r>
              <a:rPr sz="1700">
                <a:solidFill>
                  <a:srgbClr val="F2A900"/>
                </a:solidFill>
                <a:latin typeface="Calibri"/>
              </a:rPr>
              <a:t>▪  </a:t>
            </a:r>
            <a:r>
              <a:rPr sz="1700" b="0">
                <a:solidFill>
                  <a:srgbClr val="FFFFFF"/>
                </a:solidFill>
                <a:latin typeface="Calibri"/>
              </a:rPr>
              <a:t>Threshold + watchdog: sensor-fault F1 0.079</a:t>
            </a:r>
          </a:p>
          <a:p>
            <a:pPr>
              <a:spcAft>
                <a:spcPts val="1000"/>
              </a:spcAft>
            </a:pPr>
            <a:r>
              <a:rPr sz="1700">
                <a:solidFill>
                  <a:srgbClr val="F2A900"/>
                </a:solidFill>
                <a:latin typeface="Calibri"/>
              </a:rPr>
              <a:t>▪  </a:t>
            </a:r>
            <a:r>
              <a:rPr sz="1700" b="0">
                <a:solidFill>
                  <a:srgbClr val="FFFFFF"/>
                </a:solidFill>
                <a:latin typeface="Calibri"/>
              </a:rPr>
              <a:t>Adding Isolation Forest: F1 0.786, no labels</a:t>
            </a:r>
          </a:p>
          <a:p>
            <a:pPr>
              <a:spcAft>
                <a:spcPts val="1000"/>
              </a:spcAft>
            </a:pPr>
            <a:r>
              <a:rPr sz="1700">
                <a:solidFill>
                  <a:srgbClr val="F2A900"/>
                </a:solidFill>
                <a:latin typeface="Calibri"/>
              </a:rPr>
              <a:t>▪  </a:t>
            </a:r>
            <a:r>
              <a:rPr sz="1700" b="0">
                <a:solidFill>
                  <a:srgbClr val="FFFFFF"/>
                </a:solidFill>
                <a:latin typeface="Calibri"/>
              </a:rPr>
              <a:t>Drift caught in 6 / 6 episodes (30 min median)</a:t>
            </a:r>
          </a:p>
          <a:p>
            <a:pPr>
              <a:spcAft>
                <a:spcPts val="1000"/>
              </a:spcAft>
            </a:pPr>
            <a:r>
              <a:rPr sz="1700">
                <a:solidFill>
                  <a:srgbClr val="F2A900"/>
                </a:solidFill>
                <a:latin typeface="Calibri"/>
              </a:rPr>
              <a:t>▪  </a:t>
            </a:r>
            <a:r>
              <a:rPr sz="1700" b="0">
                <a:solidFill>
                  <a:srgbClr val="FFFFFF"/>
                </a:solidFill>
                <a:latin typeface="Calibri"/>
              </a:rPr>
              <a:t>Relay death cuts off children; watchdog alarms in 4 min</a:t>
            </a:r>
          </a:p>
        </p:txBody>
      </p:sp>
      <p:sp>
        <p:nvSpPr>
          <p:cNvPr id="11" name="Rectangle 10"/>
          <p:cNvSpPr/>
          <p:nvPr/>
        </p:nvSpPr>
        <p:spPr>
          <a:xfrm>
            <a:off x="6263640" y="1417320"/>
            <a:ext cx="5394960" cy="2926080"/>
          </a:xfrm>
          <a:prstGeom prst="rect">
            <a:avLst/>
          </a:prstGeom>
          <a:solidFill>
            <a:srgbClr val="FFFFFF"/>
          </a:solidFill>
          <a:ln w="19050">
            <a:solidFill>
              <a:srgbClr val="D6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508760"/>
            <a:ext cx="5029200" cy="320040"/>
          </a:xfrm>
          <a:prstGeom prst="rect">
            <a:avLst/>
          </a:prstGeom>
          <a:noFill/>
        </p:spPr>
        <p:txBody>
          <a:bodyPr wrap="square" lIns="45720" rIns="45720" tIns="27432" bIns="27432" anchor="t">
            <a:spAutoFit/>
          </a:bodyPr>
          <a:lstStyle/>
          <a:p>
            <a:pPr algn="l"/>
            <a:r>
              <a:rPr sz="1100" b="1" i="0">
                <a:solidFill>
                  <a:srgbClr val="D64545"/>
                </a:solidFill>
                <a:latin typeface="Calibri"/>
              </a:rPr>
              <a:t>LIMITATIONS (STATED UPFRONT)</a:t>
            </a:r>
          </a:p>
        </p:txBody>
      </p:sp>
      <p:sp>
        <p:nvSpPr>
          <p:cNvPr id="13" name="TextBox 12"/>
          <p:cNvSpPr txBox="1"/>
          <p:nvPr/>
        </p:nvSpPr>
        <p:spPr>
          <a:xfrm>
            <a:off x="6492240" y="1874519"/>
            <a:ext cx="5029200" cy="2468880"/>
          </a:xfrm>
          <a:prstGeom prst="rect">
            <a:avLst/>
          </a:prstGeom>
          <a:noFill/>
        </p:spPr>
        <p:txBody>
          <a:bodyPr wrap="square" lIns="45720">
            <a:spAutoFit/>
          </a:bodyPr>
          <a:lstStyle/>
          <a:p>
            <a:pPr>
              <a:spcAft>
                <a:spcPts val="1000"/>
              </a:spcAft>
            </a:pPr>
            <a:r>
              <a:rPr sz="1700">
                <a:solidFill>
                  <a:srgbClr val="D64545"/>
                </a:solidFill>
                <a:latin typeface="Calibri"/>
              </a:rPr>
              <a:t>▪  </a:t>
            </a:r>
            <a:r>
              <a:rPr sz="1700" b="0">
                <a:solidFill>
                  <a:srgbClr val="1B2733"/>
                </a:solidFill>
                <a:latin typeface="Calibri"/>
              </a:rPr>
              <a:t>All ML results use simulated data</a:t>
            </a:r>
          </a:p>
          <a:p>
            <a:pPr>
              <a:spcAft>
                <a:spcPts val="1000"/>
              </a:spcAft>
            </a:pPr>
            <a:r>
              <a:rPr sz="1700">
                <a:solidFill>
                  <a:srgbClr val="D64545"/>
                </a:solidFill>
                <a:latin typeface="Calibri"/>
              </a:rPr>
              <a:t>▪  </a:t>
            </a:r>
            <a:r>
              <a:rPr sz="1700" b="0">
                <a:solidFill>
                  <a:srgbClr val="1B2733"/>
                </a:solidFill>
                <a:latin typeface="Calibri"/>
              </a:rPr>
              <a:t>Small episode counts (6 drift, 3 stuck)</a:t>
            </a:r>
          </a:p>
          <a:p>
            <a:pPr>
              <a:spcAft>
                <a:spcPts val="1000"/>
              </a:spcAft>
            </a:pPr>
            <a:r>
              <a:rPr sz="1700">
                <a:solidFill>
                  <a:srgbClr val="D64545"/>
                </a:solidFill>
                <a:latin typeface="Calibri"/>
              </a:rPr>
              <a:t>▪  </a:t>
            </a:r>
            <a:r>
              <a:rPr sz="1700" b="0">
                <a:solidFill>
                  <a:srgbClr val="1B2733"/>
                </a:solidFill>
                <a:latin typeface="Calibri"/>
              </a:rPr>
              <a:t>Battery model is parameterised, not measured</a:t>
            </a:r>
          </a:p>
          <a:p>
            <a:pPr>
              <a:spcAft>
                <a:spcPts val="1000"/>
              </a:spcAft>
            </a:pPr>
            <a:r>
              <a:rPr sz="1700">
                <a:solidFill>
                  <a:srgbClr val="D64545"/>
                </a:solidFill>
                <a:latin typeface="Calibri"/>
              </a:rPr>
              <a:t>▪  </a:t>
            </a:r>
            <a:r>
              <a:rPr sz="1700" b="0">
                <a:solidFill>
                  <a:srgbClr val="1B2733"/>
                </a:solidFill>
                <a:latin typeface="Calibri"/>
              </a:rPr>
              <a:t>Not retrained at higher noise</a:t>
            </a:r>
          </a:p>
        </p:txBody>
      </p:sp>
      <p:sp>
        <p:nvSpPr>
          <p:cNvPr id="14" name="TextBox 13"/>
          <p:cNvSpPr txBox="1"/>
          <p:nvPr/>
        </p:nvSpPr>
        <p:spPr>
          <a:xfrm>
            <a:off x="548640" y="4526280"/>
            <a:ext cx="5486400" cy="320040"/>
          </a:xfrm>
          <a:prstGeom prst="rect">
            <a:avLst/>
          </a:prstGeom>
          <a:noFill/>
        </p:spPr>
        <p:txBody>
          <a:bodyPr wrap="square" lIns="45720" rIns="45720" tIns="27432" bIns="27432" anchor="t">
            <a:spAutoFit/>
          </a:bodyPr>
          <a:lstStyle/>
          <a:p>
            <a:pPr algn="l"/>
            <a:r>
              <a:rPr sz="1100" b="1" i="0">
                <a:solidFill>
                  <a:srgbClr val="0FA3A3"/>
                </a:solidFill>
                <a:latin typeface="Calibri"/>
              </a:rPr>
              <a:t>PHASE 2 TIMELINE</a:t>
            </a:r>
          </a:p>
        </p:txBody>
      </p:sp>
      <p:sp>
        <p:nvSpPr>
          <p:cNvPr id="15" name="Rectangle 14"/>
          <p:cNvSpPr/>
          <p:nvPr/>
        </p:nvSpPr>
        <p:spPr>
          <a:xfrm>
            <a:off x="548640" y="4846320"/>
            <a:ext cx="1645920" cy="329184"/>
          </a:xfrm>
          <a:prstGeom prst="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846320"/>
            <a:ext cx="1645920" cy="329184"/>
          </a:xfrm>
          <a:prstGeom prst="rect">
            <a:avLst/>
          </a:prstGeom>
          <a:noFill/>
        </p:spPr>
        <p:txBody>
          <a:bodyPr wrap="square" lIns="45720" rIns="45720" tIns="27432" bIns="27432" anchor="ctr">
            <a:spAutoFit/>
          </a:bodyPr>
          <a:lstStyle/>
          <a:p>
            <a:pPr algn="ctr"/>
            <a:r>
              <a:rPr sz="1200" b="1" i="0">
                <a:solidFill>
                  <a:srgbClr val="FFFFFF"/>
                </a:solidFill>
                <a:latin typeface="Calibri"/>
              </a:rPr>
              <a:t>Done</a:t>
            </a:r>
          </a:p>
        </p:txBody>
      </p:sp>
      <p:sp>
        <p:nvSpPr>
          <p:cNvPr id="17" name="Rectangle 16"/>
          <p:cNvSpPr/>
          <p:nvPr/>
        </p:nvSpPr>
        <p:spPr>
          <a:xfrm>
            <a:off x="548640" y="5175504"/>
            <a:ext cx="1645920" cy="64008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75504"/>
            <a:ext cx="1645920" cy="640080"/>
          </a:xfrm>
          <a:prstGeom prst="rect">
            <a:avLst/>
          </a:prstGeom>
          <a:noFill/>
        </p:spPr>
        <p:txBody>
          <a:bodyPr wrap="square" lIns="45720" rIns="45720" tIns="27432" bIns="27432" anchor="ctr">
            <a:spAutoFit/>
          </a:bodyPr>
          <a:lstStyle/>
          <a:p>
            <a:pPr algn="ctr"/>
            <a:r>
              <a:rPr sz="1200" b="0" i="0">
                <a:solidFill>
                  <a:srgbClr val="0B1F33"/>
                </a:solidFill>
                <a:latin typeface="Calibri"/>
              </a:rPr>
              <a:t>Simulator, faults, ML</a:t>
            </a:r>
          </a:p>
        </p:txBody>
      </p:sp>
      <p:sp>
        <p:nvSpPr>
          <p:cNvPr id="19" name="Rectangle 18"/>
          <p:cNvSpPr/>
          <p:nvPr/>
        </p:nvSpPr>
        <p:spPr>
          <a:xfrm>
            <a:off x="2313432" y="4846320"/>
            <a:ext cx="1645920" cy="329184"/>
          </a:xfrm>
          <a:prstGeom prst="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13432" y="4846320"/>
            <a:ext cx="1645920" cy="329184"/>
          </a:xfrm>
          <a:prstGeom prst="rect">
            <a:avLst/>
          </a:prstGeom>
          <a:noFill/>
        </p:spPr>
        <p:txBody>
          <a:bodyPr wrap="square" lIns="45720" rIns="45720" tIns="27432" bIns="27432" anchor="ctr">
            <a:spAutoFit/>
          </a:bodyPr>
          <a:lstStyle/>
          <a:p>
            <a:pPr algn="ctr"/>
            <a:r>
              <a:rPr sz="1200" b="1" i="0">
                <a:solidFill>
                  <a:srgbClr val="FFFFFF"/>
                </a:solidFill>
                <a:latin typeface="Calibri"/>
              </a:rPr>
              <a:t>Done</a:t>
            </a:r>
          </a:p>
        </p:txBody>
      </p:sp>
      <p:sp>
        <p:nvSpPr>
          <p:cNvPr id="21" name="Rectangle 20"/>
          <p:cNvSpPr/>
          <p:nvPr/>
        </p:nvSpPr>
        <p:spPr>
          <a:xfrm>
            <a:off x="2313432" y="5175504"/>
            <a:ext cx="1645920" cy="64008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13432" y="5175504"/>
            <a:ext cx="1645920" cy="640080"/>
          </a:xfrm>
          <a:prstGeom prst="rect">
            <a:avLst/>
          </a:prstGeom>
          <a:noFill/>
        </p:spPr>
        <p:txBody>
          <a:bodyPr wrap="square" lIns="45720" rIns="45720" tIns="27432" bIns="27432" anchor="ctr">
            <a:spAutoFit/>
          </a:bodyPr>
          <a:lstStyle/>
          <a:p>
            <a:pPr algn="ctr"/>
            <a:r>
              <a:rPr sz="1200" b="0" i="0">
                <a:solidFill>
                  <a:srgbClr val="0B1F33"/>
                </a:solidFill>
                <a:latin typeface="Calibri"/>
              </a:rPr>
              <a:t>MQTT + network layer</a:t>
            </a:r>
          </a:p>
        </p:txBody>
      </p:sp>
      <p:sp>
        <p:nvSpPr>
          <p:cNvPr id="23" name="Rectangle 22"/>
          <p:cNvSpPr/>
          <p:nvPr/>
        </p:nvSpPr>
        <p:spPr>
          <a:xfrm>
            <a:off x="4078224" y="4846320"/>
            <a:ext cx="1645920" cy="329184"/>
          </a:xfrm>
          <a:prstGeom prst="rect">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78224" y="4846320"/>
            <a:ext cx="1645920" cy="329184"/>
          </a:xfrm>
          <a:prstGeom prst="rect">
            <a:avLst/>
          </a:prstGeom>
          <a:noFill/>
        </p:spPr>
        <p:txBody>
          <a:bodyPr wrap="square" lIns="45720" rIns="45720" tIns="27432" bIns="27432" anchor="ctr">
            <a:spAutoFit/>
          </a:bodyPr>
          <a:lstStyle/>
          <a:p>
            <a:pPr algn="ctr"/>
            <a:r>
              <a:rPr sz="1200" b="1" i="0">
                <a:solidFill>
                  <a:srgbClr val="FFFFFF"/>
                </a:solidFill>
                <a:latin typeface="Calibri"/>
              </a:rPr>
              <a:t>Done</a:t>
            </a:r>
          </a:p>
        </p:txBody>
      </p:sp>
      <p:sp>
        <p:nvSpPr>
          <p:cNvPr id="25" name="Rectangle 24"/>
          <p:cNvSpPr/>
          <p:nvPr/>
        </p:nvSpPr>
        <p:spPr>
          <a:xfrm>
            <a:off x="4078224" y="5175504"/>
            <a:ext cx="1645920" cy="64008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78224" y="5175504"/>
            <a:ext cx="1645920" cy="640080"/>
          </a:xfrm>
          <a:prstGeom prst="rect">
            <a:avLst/>
          </a:prstGeom>
          <a:noFill/>
        </p:spPr>
        <p:txBody>
          <a:bodyPr wrap="square" lIns="45720" rIns="45720" tIns="27432" bIns="27432" anchor="ctr">
            <a:spAutoFit/>
          </a:bodyPr>
          <a:lstStyle/>
          <a:p>
            <a:pPr algn="ctr"/>
            <a:r>
              <a:rPr sz="1200" b="0" i="0">
                <a:solidFill>
                  <a:srgbClr val="0B1F33"/>
                </a:solidFill>
                <a:latin typeface="Calibri"/>
              </a:rPr>
              <a:t>Dashboard + Wokwi</a:t>
            </a:r>
          </a:p>
        </p:txBody>
      </p:sp>
      <p:sp>
        <p:nvSpPr>
          <p:cNvPr id="27" name="Rectangle 26"/>
          <p:cNvSpPr/>
          <p:nvPr/>
        </p:nvSpPr>
        <p:spPr>
          <a:xfrm>
            <a:off x="5843016" y="4846320"/>
            <a:ext cx="1645920" cy="329184"/>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43016" y="4846320"/>
            <a:ext cx="1645920" cy="329184"/>
          </a:xfrm>
          <a:prstGeom prst="rect">
            <a:avLst/>
          </a:prstGeom>
          <a:noFill/>
        </p:spPr>
        <p:txBody>
          <a:bodyPr wrap="square" lIns="45720" rIns="45720" tIns="27432" bIns="27432" anchor="ctr">
            <a:spAutoFit/>
          </a:bodyPr>
          <a:lstStyle/>
          <a:p>
            <a:pPr algn="ctr"/>
            <a:r>
              <a:rPr sz="1200" b="1" i="0">
                <a:solidFill>
                  <a:srgbClr val="FFFFFF"/>
                </a:solidFill>
                <a:latin typeface="Calibri"/>
              </a:rPr>
              <a:t>Next</a:t>
            </a:r>
          </a:p>
        </p:txBody>
      </p:sp>
      <p:sp>
        <p:nvSpPr>
          <p:cNvPr id="29" name="Rectangle 28"/>
          <p:cNvSpPr/>
          <p:nvPr/>
        </p:nvSpPr>
        <p:spPr>
          <a:xfrm>
            <a:off x="5843016" y="5175504"/>
            <a:ext cx="1645920" cy="64008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43016" y="5175504"/>
            <a:ext cx="1645920" cy="640080"/>
          </a:xfrm>
          <a:prstGeom prst="rect">
            <a:avLst/>
          </a:prstGeom>
          <a:noFill/>
        </p:spPr>
        <p:txBody>
          <a:bodyPr wrap="square" lIns="45720" rIns="45720" tIns="27432" bIns="27432" anchor="ctr">
            <a:spAutoFit/>
          </a:bodyPr>
          <a:lstStyle/>
          <a:p>
            <a:pPr algn="ctr"/>
            <a:r>
              <a:rPr sz="1200" b="0" i="0">
                <a:solidFill>
                  <a:srgbClr val="0B1F33"/>
                </a:solidFill>
                <a:latin typeface="Calibri"/>
              </a:rPr>
              <a:t>Order ESP32 + sensors</a:t>
            </a:r>
          </a:p>
        </p:txBody>
      </p:sp>
      <p:sp>
        <p:nvSpPr>
          <p:cNvPr id="31" name="Rectangle 30"/>
          <p:cNvSpPr/>
          <p:nvPr/>
        </p:nvSpPr>
        <p:spPr>
          <a:xfrm>
            <a:off x="7607808" y="4846320"/>
            <a:ext cx="1645920" cy="329184"/>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07808" y="4846320"/>
            <a:ext cx="1645920" cy="329184"/>
          </a:xfrm>
          <a:prstGeom prst="rect">
            <a:avLst/>
          </a:prstGeom>
          <a:noFill/>
        </p:spPr>
        <p:txBody>
          <a:bodyPr wrap="square" lIns="45720" rIns="45720" tIns="27432" bIns="27432" anchor="ctr">
            <a:spAutoFit/>
          </a:bodyPr>
          <a:lstStyle/>
          <a:p>
            <a:pPr algn="ctr"/>
            <a:r>
              <a:rPr sz="1200" b="1" i="0">
                <a:solidFill>
                  <a:srgbClr val="FFFFFF"/>
                </a:solidFill>
                <a:latin typeface="Calibri"/>
              </a:rPr>
              <a:t>Next</a:t>
            </a:r>
          </a:p>
        </p:txBody>
      </p:sp>
      <p:sp>
        <p:nvSpPr>
          <p:cNvPr id="33" name="Rectangle 32"/>
          <p:cNvSpPr/>
          <p:nvPr/>
        </p:nvSpPr>
        <p:spPr>
          <a:xfrm>
            <a:off x="7607808" y="5175504"/>
            <a:ext cx="1645920" cy="640080"/>
          </a:xfrm>
          <a:prstGeom prst="rect">
            <a:avLst/>
          </a:prstGeom>
          <a:solidFill>
            <a:srgbClr val="FFFFFF"/>
          </a:solidFill>
          <a:ln w="12700">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07808" y="5175504"/>
            <a:ext cx="1645920" cy="640080"/>
          </a:xfrm>
          <a:prstGeom prst="rect">
            <a:avLst/>
          </a:prstGeom>
          <a:noFill/>
        </p:spPr>
        <p:txBody>
          <a:bodyPr wrap="square" lIns="45720" rIns="45720" tIns="27432" bIns="27432" anchor="ctr">
            <a:spAutoFit/>
          </a:bodyPr>
          <a:lstStyle/>
          <a:p>
            <a:pPr algn="ctr"/>
            <a:r>
              <a:rPr sz="1200" b="0" i="0">
                <a:solidFill>
                  <a:srgbClr val="0B1F33"/>
                </a:solidFill>
                <a:latin typeface="Calibri"/>
              </a:rPr>
              <a:t>Deploy and validate</a:t>
            </a:r>
          </a:p>
        </p:txBody>
      </p:sp>
      <p:sp>
        <p:nvSpPr>
          <p:cNvPr id="35" name="Rectangle 34"/>
          <p:cNvSpPr/>
          <p:nvPr/>
        </p:nvSpPr>
        <p:spPr>
          <a:xfrm>
            <a:off x="9464040" y="4526280"/>
            <a:ext cx="2194560" cy="1737360"/>
          </a:xfrm>
          <a:prstGeom prst="rect">
            <a:avLst/>
          </a:prstGeom>
          <a:solidFill>
            <a:srgbClr val="EEF2F6"/>
          </a:solidFill>
          <a:ln w="15875">
            <a:solidFill>
              <a:srgbClr val="5B6B7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64040" y="4983480"/>
            <a:ext cx="2194560" cy="365760"/>
          </a:xfrm>
          <a:prstGeom prst="rect">
            <a:avLst/>
          </a:prstGeom>
          <a:noFill/>
        </p:spPr>
        <p:txBody>
          <a:bodyPr wrap="square" lIns="45720" rIns="45720" tIns="27432" bIns="27432" anchor="t">
            <a:spAutoFit/>
          </a:bodyPr>
          <a:lstStyle/>
          <a:p>
            <a:pPr algn="ctr"/>
            <a:r>
              <a:rPr sz="2600" b="0" i="0">
                <a:solidFill>
                  <a:srgbClr val="5B6B7B"/>
                </a:solidFill>
                <a:latin typeface="Calibri"/>
              </a:rPr>
              <a:t>▢</a:t>
            </a:r>
          </a:p>
        </p:txBody>
      </p:sp>
      <p:sp>
        <p:nvSpPr>
          <p:cNvPr id="37" name="TextBox 36"/>
          <p:cNvSpPr txBox="1"/>
          <p:nvPr/>
        </p:nvSpPr>
        <p:spPr>
          <a:xfrm>
            <a:off x="9555480" y="5394960"/>
            <a:ext cx="2011679" cy="320040"/>
          </a:xfrm>
          <a:prstGeom prst="rect">
            <a:avLst/>
          </a:prstGeom>
          <a:noFill/>
        </p:spPr>
        <p:txBody>
          <a:bodyPr wrap="square" lIns="45720" rIns="45720" tIns="27432" bIns="27432" anchor="t">
            <a:spAutoFit/>
          </a:bodyPr>
          <a:lstStyle/>
          <a:p>
            <a:pPr algn="ctr"/>
            <a:r>
              <a:rPr sz="1300" b="1" i="0">
                <a:solidFill>
                  <a:srgbClr val="0B1F33"/>
                </a:solidFill>
                <a:latin typeface="Calibri"/>
              </a:rPr>
              <a:t>Add: photo of hardware</a:t>
            </a:r>
          </a:p>
        </p:txBody>
      </p:sp>
      <p:sp>
        <p:nvSpPr>
          <p:cNvPr id="38" name="TextBox 37"/>
          <p:cNvSpPr txBox="1"/>
          <p:nvPr/>
        </p:nvSpPr>
        <p:spPr>
          <a:xfrm>
            <a:off x="9555480" y="5696712"/>
            <a:ext cx="2011679" cy="274320"/>
          </a:xfrm>
          <a:prstGeom prst="rect">
            <a:avLst/>
          </a:prstGeom>
          <a:noFill/>
        </p:spPr>
        <p:txBody>
          <a:bodyPr wrap="square" lIns="45720" rIns="45720" tIns="27432" bIns="27432" anchor="t">
            <a:spAutoFit/>
          </a:bodyPr>
          <a:lstStyle/>
          <a:p>
            <a:pPr algn="ctr"/>
            <a:r>
              <a:rPr sz="1100" b="0" i="1">
                <a:solidFill>
                  <a:srgbClr val="5B6B7B"/>
                </a:solidFill>
                <a:latin typeface="Calibri"/>
              </a:rPr>
              <a:t>Optional, when available</a:t>
            </a:r>
          </a:p>
        </p:txBody>
      </p:sp>
      <p:sp>
        <p:nvSpPr>
          <p:cNvPr id="39" name="TextBox 38"/>
          <p:cNvSpPr txBox="1"/>
          <p:nvPr/>
        </p:nvSpPr>
        <p:spPr>
          <a:xfrm>
            <a:off x="548640" y="5943600"/>
            <a:ext cx="8686800" cy="365760"/>
          </a:xfrm>
          <a:prstGeom prst="rect">
            <a:avLst/>
          </a:prstGeom>
          <a:noFill/>
        </p:spPr>
        <p:txBody>
          <a:bodyPr wrap="square" lIns="45720" rIns="45720" tIns="27432" bIns="27432" anchor="t">
            <a:spAutoFit/>
          </a:bodyPr>
          <a:lstStyle/>
          <a:p>
            <a:pPr algn="l"/>
            <a:r>
              <a:rPr sz="1300" b="1" i="0">
                <a:solidFill>
                  <a:srgbClr val="5B6B7B"/>
                </a:solidFill>
                <a:latin typeface="Calibri"/>
              </a:rPr>
              <a:t>Angel Suri · Pratishtha · Himanshu Singh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